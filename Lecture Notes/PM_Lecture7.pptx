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9" r:id="rId1"/>
  </p:sldMasterIdLst>
  <p:notesMasterIdLst>
    <p:notesMasterId r:id="rId51"/>
  </p:notesMasterIdLst>
  <p:handoutMasterIdLst>
    <p:handoutMasterId r:id="rId52"/>
  </p:handoutMasterIdLst>
  <p:sldIdLst>
    <p:sldId id="1556" r:id="rId2"/>
    <p:sldId id="1600" r:id="rId3"/>
    <p:sldId id="575" r:id="rId4"/>
    <p:sldId id="576" r:id="rId5"/>
    <p:sldId id="1472" r:id="rId6"/>
    <p:sldId id="577" r:id="rId7"/>
    <p:sldId id="579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1460" r:id="rId16"/>
    <p:sldId id="1461" r:id="rId17"/>
    <p:sldId id="589" r:id="rId18"/>
    <p:sldId id="1462" r:id="rId19"/>
    <p:sldId id="591" r:id="rId20"/>
    <p:sldId id="1474" r:id="rId21"/>
    <p:sldId id="592" r:id="rId22"/>
    <p:sldId id="1463" r:id="rId23"/>
    <p:sldId id="1464" r:id="rId24"/>
    <p:sldId id="1465" r:id="rId25"/>
    <p:sldId id="1473" r:id="rId26"/>
    <p:sldId id="597" r:id="rId27"/>
    <p:sldId id="598" r:id="rId28"/>
    <p:sldId id="1466" r:id="rId29"/>
    <p:sldId id="599" r:id="rId30"/>
    <p:sldId id="1467" r:id="rId31"/>
    <p:sldId id="600" r:id="rId32"/>
    <p:sldId id="601" r:id="rId33"/>
    <p:sldId id="602" r:id="rId34"/>
    <p:sldId id="603" r:id="rId35"/>
    <p:sldId id="604" r:id="rId36"/>
    <p:sldId id="605" r:id="rId37"/>
    <p:sldId id="1471" r:id="rId38"/>
    <p:sldId id="607" r:id="rId39"/>
    <p:sldId id="1468" r:id="rId40"/>
    <p:sldId id="1469" r:id="rId41"/>
    <p:sldId id="611" r:id="rId42"/>
    <p:sldId id="612" r:id="rId43"/>
    <p:sldId id="613" r:id="rId44"/>
    <p:sldId id="1475" r:id="rId45"/>
    <p:sldId id="614" r:id="rId46"/>
    <p:sldId id="615" r:id="rId47"/>
    <p:sldId id="616" r:id="rId48"/>
    <p:sldId id="617" r:id="rId49"/>
    <p:sldId id="1599" r:id="rId5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9A0201"/>
    <a:srgbClr val="C9DDFB"/>
    <a:srgbClr val="D6DCE5"/>
    <a:srgbClr val="DBEFF2"/>
    <a:srgbClr val="BED7EE"/>
    <a:srgbClr val="EFEDE1"/>
    <a:srgbClr val="C9DCFA"/>
    <a:srgbClr val="B10000"/>
    <a:srgbClr val="000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/>
    <p:restoredTop sz="95374" autoAdjust="0"/>
  </p:normalViewPr>
  <p:slideViewPr>
    <p:cSldViewPr snapToGrid="0" snapToObjects="1">
      <p:cViewPr varScale="1">
        <p:scale>
          <a:sx n="122" d="100"/>
          <a:sy n="122" d="100"/>
        </p:scale>
        <p:origin x="211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4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40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F55E73-1F85-FF4B-84BB-0F26D23E3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617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3B4573-DC42-814A-AA19-DDDB4F35D741}" type="datetime1">
              <a:rPr lang="en-US" smtClean="0"/>
              <a:t>4/7/24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502AA77-C507-8DFB-4048-9AEF6B218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138A0-E337-BE4F-93FC-743A1316561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8080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39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F811BF-F184-41D6-83DC-EA782E7D608F}" type="slidenum">
              <a:rPr lang="en-CA" altLang="zh-TW" smtClean="0"/>
              <a:pPr/>
              <a:t>3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819596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4F8706-1F9C-4544-8908-79A2CA0297F5}" type="slidenum">
              <a:rPr lang="en-CA" altLang="zh-TW" smtClean="0"/>
              <a:pPr/>
              <a:t>4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18965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89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06CE8AE-C014-4D54-BCA4-45F6B5B2BC31}" type="slidenum">
              <a:rPr lang="en-CA" altLang="zh-TW" smtClean="0"/>
              <a:pPr/>
              <a:t>6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89937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F50EC8-D14E-4270-A029-BBC33ED8B5F5}" type="slidenum">
              <a:rPr lang="en-CA" altLang="zh-TW" smtClean="0"/>
              <a:pPr/>
              <a:t>7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280999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2E20EB-203A-4A05-B09F-C38785B49B70}" type="slidenum">
              <a:rPr lang="en-CA" altLang="zh-TW" smtClean="0"/>
              <a:pPr/>
              <a:t>8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21438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BC58F79-8780-433A-8653-6C7886648732}" type="slidenum">
              <a:rPr lang="en-CA" altLang="zh-TW" smtClean="0"/>
              <a:pPr/>
              <a:t>9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782820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8B8F614-BA7B-4EC6-BA99-75970492BD26}" type="slidenum">
              <a:rPr lang="en-CA" altLang="zh-TW" smtClean="0"/>
              <a:pPr/>
              <a:t>10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38211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D49F53D-B1DC-4A4D-80F5-7462EDE7F1B4}" type="slidenum">
              <a:rPr lang="en-CA" altLang="zh-TW" smtClean="0"/>
              <a:pPr/>
              <a:t>11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4182054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FEB261B-EF23-4379-A73F-4AADE7C4277F}" type="slidenum">
              <a:rPr lang="en-CA" altLang="zh-TW" smtClean="0"/>
              <a:pPr/>
              <a:t>12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012898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97D61E4-A529-431A-9993-F059E3F210CC}" type="slidenum">
              <a:rPr lang="en-CA" altLang="zh-TW" smtClean="0"/>
              <a:pPr/>
              <a:t>13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644524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843411-12E8-4ED1-95BF-99932CC9CDAA}" type="slidenum">
              <a:rPr lang="en-CA" altLang="zh-TW" smtClean="0"/>
              <a:pPr/>
              <a:t>14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024387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843411-12E8-4ED1-95BF-99932CC9CDAA}" type="slidenum">
              <a:rPr lang="en-CA" altLang="zh-TW" smtClean="0"/>
              <a:pPr/>
              <a:t>15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188687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843411-12E8-4ED1-95BF-99932CC9CDAA}" type="slidenum">
              <a:rPr lang="en-CA" altLang="zh-TW" smtClean="0"/>
              <a:pPr/>
              <a:t>16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108759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146A8D-6D7D-4B67-904F-990432863A79}" type="slidenum">
              <a:rPr lang="en-CA" altLang="zh-TW" smtClean="0"/>
              <a:pPr/>
              <a:t>17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662143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146A8D-6D7D-4B67-904F-990432863A79}" type="slidenum">
              <a:rPr lang="en-CA" altLang="zh-TW" smtClean="0"/>
              <a:pPr/>
              <a:t>18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4071303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A5FF40-6856-43B0-AFFB-805C1EBF322D}" type="slidenum">
              <a:rPr lang="en-CA" altLang="zh-TW" smtClean="0"/>
              <a:pPr/>
              <a:t>19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3055641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A5FF40-6856-43B0-AFFB-805C1EBF322D}" type="slidenum">
              <a:rPr lang="en-CA" altLang="zh-TW" smtClean="0"/>
              <a:pPr/>
              <a:t>20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5823625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A669CA-6E37-4A58-BF9D-DD5A41DECC2D}" type="slidenum">
              <a:rPr lang="en-CA" altLang="zh-TW" smtClean="0"/>
              <a:pPr/>
              <a:t>21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708162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A669CA-6E37-4A58-BF9D-DD5A41DECC2D}" type="slidenum">
              <a:rPr lang="en-CA" altLang="zh-TW" smtClean="0"/>
              <a:pPr/>
              <a:t>22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713255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A669CA-6E37-4A58-BF9D-DD5A41DECC2D}" type="slidenum">
              <a:rPr lang="en-CA" altLang="zh-TW" smtClean="0"/>
              <a:pPr/>
              <a:t>23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405476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A669CA-6E37-4A58-BF9D-DD5A41DECC2D}" type="slidenum">
              <a:rPr lang="en-CA" altLang="zh-TW" smtClean="0"/>
              <a:pPr/>
              <a:t>24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7892764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621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2D81FE9-27EA-40D2-B742-6169E2A6477E}" type="slidenum">
              <a:rPr lang="en-CA" altLang="zh-TW" smtClean="0"/>
              <a:pPr/>
              <a:t>26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873800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82C62AF-D30A-4C86-A4B0-73084F86DF72}" type="slidenum">
              <a:rPr lang="en-CA" altLang="zh-TW" smtClean="0"/>
              <a:pPr/>
              <a:t>27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4088237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82C62AF-D30A-4C86-A4B0-73084F86DF72}" type="slidenum">
              <a:rPr lang="en-CA" altLang="zh-TW" smtClean="0"/>
              <a:pPr/>
              <a:t>28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7706557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8584F0-1A22-4D9D-9464-A83879A3F1C0}" type="slidenum">
              <a:rPr lang="en-CA" altLang="zh-TW" smtClean="0"/>
              <a:pPr/>
              <a:t>29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7938671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8584F0-1A22-4D9D-9464-A83879A3F1C0}" type="slidenum">
              <a:rPr lang="en-CA" altLang="zh-TW" smtClean="0"/>
              <a:pPr/>
              <a:t>30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9013253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03733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5F9F1D8-D13F-4C63-BF35-D0BA13E32C98}" type="slidenum">
              <a:rPr lang="en-CA" altLang="zh-TW" smtClean="0"/>
              <a:pPr/>
              <a:t>32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9074734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63849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C7C8332-246B-4F07-ADD3-DA5F0F47D2A7}" type="slidenum">
              <a:rPr lang="en-CA" altLang="zh-TW" smtClean="0"/>
              <a:pPr/>
              <a:t>34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3356785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66370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50C418B-0929-425A-987C-538E744A430B}" type="slidenum">
              <a:rPr lang="en-CA" altLang="zh-TW" smtClean="0"/>
              <a:pPr/>
              <a:t>36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3364265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75233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6E0EEB-83FB-4FCA-853B-C61155EA3C09}" type="slidenum">
              <a:rPr lang="en-CA" altLang="zh-TW" smtClean="0"/>
              <a:pPr/>
              <a:t>38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18458541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6E0EEB-83FB-4FCA-853B-C61155EA3C09}" type="slidenum">
              <a:rPr lang="en-CA" altLang="zh-TW" smtClean="0"/>
              <a:pPr/>
              <a:t>39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391696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6E0EEB-83FB-4FCA-853B-C61155EA3C09}" type="slidenum">
              <a:rPr lang="en-CA" altLang="zh-TW" smtClean="0"/>
              <a:pPr/>
              <a:t>40</a:t>
            </a:fld>
            <a:endParaRPr lang="en-CA" altLang="zh-TW"/>
          </a:p>
        </p:txBody>
      </p:sp>
    </p:spTree>
    <p:extLst>
      <p:ext uri="{BB962C8B-B14F-4D97-AF65-F5344CB8AC3E}">
        <p14:creationId xmlns:p14="http://schemas.microsoft.com/office/powerpoint/2010/main" val="20094005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E03D545-490B-4902-A060-437C52DF1A26}" type="slidenum">
              <a:rPr lang="en-CA" altLang="zh-TW" smtClean="0">
                <a:latin typeface="Calibri" pitchFamily="34" charset="0"/>
              </a:rPr>
              <a:pPr eaLnBrk="1" hangingPunct="1"/>
              <a:t>41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950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5859BF-2CDE-4A29-B943-3FF992F60E6D}" type="slidenum">
              <a:rPr lang="en-CA" altLang="zh-TW" smtClean="0">
                <a:latin typeface="Calibri" pitchFamily="34" charset="0"/>
              </a:rPr>
              <a:pPr eaLnBrk="1" hangingPunct="1"/>
              <a:t>42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0925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D75672-1FD2-48A8-8961-D5B35468D1A3}" type="slidenum">
              <a:rPr lang="en-CA" altLang="zh-TW" smtClean="0">
                <a:latin typeface="Calibri" pitchFamily="34" charset="0"/>
              </a:rPr>
              <a:pPr eaLnBrk="1" hangingPunct="1"/>
              <a:t>43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6217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D75672-1FD2-48A8-8961-D5B35468D1A3}" type="slidenum">
              <a:rPr lang="en-CA" altLang="zh-TW" smtClean="0">
                <a:latin typeface="Calibri" pitchFamily="34" charset="0"/>
              </a:rPr>
              <a:pPr eaLnBrk="1" hangingPunct="1"/>
              <a:t>44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5867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0D33D19-5B9E-4DE9-AF03-AF4DBAAE5A5D}" type="slidenum">
              <a:rPr lang="en-CA" altLang="zh-TW" smtClean="0">
                <a:latin typeface="Calibri" pitchFamily="34" charset="0"/>
              </a:rPr>
              <a:pPr eaLnBrk="1" hangingPunct="1"/>
              <a:t>45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394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53EFB7-4233-4BB3-88F4-A456F1AD3372}" type="slidenum">
              <a:rPr lang="en-CA" altLang="zh-TW" smtClean="0">
                <a:latin typeface="Calibri" pitchFamily="34" charset="0"/>
              </a:rPr>
              <a:pPr eaLnBrk="1" hangingPunct="1"/>
              <a:t>46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727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2C8A794-9C15-42F3-ACD6-9E9C59549329}" type="slidenum">
              <a:rPr lang="en-CA" altLang="zh-TW" smtClean="0">
                <a:latin typeface="Calibri" pitchFamily="34" charset="0"/>
              </a:rPr>
              <a:pPr eaLnBrk="1" hangingPunct="1"/>
              <a:t>47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073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986" indent="-30961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441" indent="-2476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817" indent="-2476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9193" indent="-2476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F85554F-C72D-452B-BA6A-EDF00E882874}" type="slidenum">
              <a:rPr lang="en-CA" altLang="zh-TW" smtClean="0">
                <a:latin typeface="Calibri" pitchFamily="34" charset="0"/>
              </a:rPr>
              <a:pPr eaLnBrk="1" hangingPunct="1"/>
              <a:t>48</a:t>
            </a:fld>
            <a:endParaRPr lang="en-CA" altLang="zh-TW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376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2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2133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97828"/>
            <a:ext cx="6400800" cy="1240971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6E2D5B-B408-7A89-06C0-51960A39F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1" y="6150997"/>
            <a:ext cx="1676400" cy="6363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4CF284-BD79-E439-BEF7-156B5950C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31491" y="6150997"/>
            <a:ext cx="636308" cy="63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192191"/>
          </a:xfr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80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Gill Sans MT" charset="0"/>
                <a:ea typeface="Gill Sans MT" charset="0"/>
                <a:cs typeface="Gill Sans MT" charset="0"/>
              </a:defRPr>
            </a:lvl1pPr>
            <a:lvl2pPr>
              <a:defRPr sz="2400"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>
              <a:buFont typeface="Wingdings" pitchFamily="2" charset="2"/>
              <a:buChar char="§"/>
              <a:defRPr sz="2000"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>
                <a:latin typeface="Gill Sans MT" charset="0"/>
                <a:ea typeface="Gill Sans MT" charset="0"/>
                <a:cs typeface="Gill Sans MT" charset="0"/>
              </a:defRPr>
            </a:lvl4pPr>
            <a:lvl5pPr>
              <a:defRPr sz="1800"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</a:t>
            </a:r>
            <a:r>
              <a:rPr lang="en-US" altLang="ko-KR" dirty="0"/>
              <a:t>48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B762F1-D8D6-093B-0CF5-AE191AD43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34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5472958-A9FB-3BD2-D1E4-7E6AC90A16EA}"/>
              </a:ext>
            </a:extLst>
          </p:cNvPr>
          <p:cNvSpPr/>
          <p:nvPr userDrawn="1"/>
        </p:nvSpPr>
        <p:spPr>
          <a:xfrm>
            <a:off x="500743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287BCF0-970A-D618-D1A3-805015060886}"/>
              </a:ext>
            </a:extLst>
          </p:cNvPr>
          <p:cNvSpPr/>
          <p:nvPr userDrawn="1"/>
        </p:nvSpPr>
        <p:spPr>
          <a:xfrm>
            <a:off x="4974772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93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87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38AF0-7033-7594-3782-295E4B14DD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A346BD01-CC0A-7732-D409-413F13ED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5314" y="6488700"/>
            <a:ext cx="2057400" cy="365125"/>
          </a:xfrm>
        </p:spPr>
        <p:txBody>
          <a:bodyPr/>
          <a:lstStyle/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</a:t>
            </a:r>
            <a:r>
              <a:rPr lang="en-US" altLang="ko-KR" dirty="0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3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33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13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08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477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238491"/>
          </a:xfrm>
          <a:prstGeom prst="rect">
            <a:avLst/>
          </a:prstGeo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927" y="1387098"/>
            <a:ext cx="8704579" cy="4739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5314" y="648870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</a:t>
            </a:r>
            <a:r>
              <a:rPr lang="en-US" altLang="ko-KR" dirty="0"/>
              <a:t>48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C1FA9-D088-05FB-E2A6-D45FC1627490}"/>
              </a:ext>
            </a:extLst>
          </p:cNvPr>
          <p:cNvSpPr txBox="1"/>
          <p:nvPr userDrawn="1"/>
        </p:nvSpPr>
        <p:spPr>
          <a:xfrm>
            <a:off x="3272011" y="6550223"/>
            <a:ext cx="2908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400" dirty="0">
                <a:solidFill>
                  <a:schemeClr val="bg1">
                    <a:lumMod val="65000"/>
                  </a:schemeClr>
                </a:solidFill>
              </a:rPr>
              <a:t>Programming Methodology</a:t>
            </a:r>
            <a:endParaRPr kumimoji="1" lang="ko-Kore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46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lang="en-US" sz="3800" kern="1200">
          <a:solidFill>
            <a:schemeClr val="bg1"/>
          </a:solidFill>
          <a:latin typeface="Gill Sans MT" charset="0"/>
          <a:ea typeface="Gill Sans MT" charset="0"/>
          <a:cs typeface="Gill Sans MT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mindlab-snu.github.io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smoon@snu.ac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1085F-9BC2-80AE-01A6-7990CD4F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1918517"/>
          </a:xfrm>
        </p:spPr>
        <p:txBody>
          <a:bodyPr/>
          <a:lstStyle/>
          <a:p>
            <a:r>
              <a:rPr lang="en-US" altLang="ko-KR" dirty="0"/>
              <a:t>430.211 Programming Methodology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프로그래밍 방법론</a:t>
            </a:r>
            <a:r>
              <a:rPr lang="en-US" altLang="ko-KR" dirty="0"/>
              <a:t>)</a:t>
            </a:r>
            <a:endParaRPr kumimoji="1"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D90AE5-9547-4127-6505-3D8B59442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2595" y="3361507"/>
            <a:ext cx="7040880" cy="2673533"/>
          </a:xfrm>
        </p:spPr>
        <p:txBody>
          <a:bodyPr/>
          <a:lstStyle/>
          <a:p>
            <a:r>
              <a:rPr kumimoji="1" lang="en-US" altLang="ko-Kore-KR" b="1" dirty="0" err="1"/>
              <a:t>Taesup</a:t>
            </a:r>
            <a:r>
              <a:rPr kumimoji="1" lang="en-US" altLang="ko-Kore-KR" b="1" dirty="0"/>
              <a:t> Moon</a:t>
            </a:r>
            <a:br>
              <a:rPr kumimoji="1" lang="en-US" altLang="ko-Kore-KR" b="1" dirty="0"/>
            </a:br>
            <a:endParaRPr kumimoji="1" lang="en-US" altLang="ko-Kore-KR" b="1" dirty="0"/>
          </a:p>
          <a:p>
            <a:r>
              <a:rPr kumimoji="1" lang="en-US" altLang="ko-Kore-KR" sz="2000" dirty="0"/>
              <a:t>Department of Electrical and Computer Engineering</a:t>
            </a:r>
          </a:p>
          <a:p>
            <a:r>
              <a:rPr kumimoji="1" lang="en-US" altLang="ko-Kore-KR" sz="2000" dirty="0"/>
              <a:t>Seoul National University</a:t>
            </a:r>
          </a:p>
          <a:p>
            <a:endParaRPr kumimoji="1" lang="en-US" altLang="ko-Kore-KR" sz="1600" dirty="0"/>
          </a:p>
          <a:p>
            <a:endParaRPr kumimoji="1" lang="en-US" altLang="ko-Kore-KR" sz="2000" dirty="0"/>
          </a:p>
        </p:txBody>
      </p:sp>
    </p:spTree>
    <p:extLst>
      <p:ext uri="{BB962C8B-B14F-4D97-AF65-F5344CB8AC3E}">
        <p14:creationId xmlns:p14="http://schemas.microsoft.com/office/powerpoint/2010/main" val="269929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/>
              <a:t>Chapter 7: Constructors and Other tools</a:t>
            </a:r>
          </a:p>
          <a:p>
            <a:pPr lvl="1" fontAlgn="base"/>
            <a:r>
              <a:rPr lang="en-US" altLang="ko-KR" dirty="0"/>
              <a:t>Constructors</a:t>
            </a:r>
          </a:p>
          <a:p>
            <a:pPr lvl="1" fontAlgn="base"/>
            <a:r>
              <a:rPr lang="en-US" altLang="ko-KR" dirty="0"/>
              <a:t>More tools </a:t>
            </a:r>
          </a:p>
          <a:p>
            <a:pPr marL="914400" lvl="2" indent="0" fontAlgn="base">
              <a:buNone/>
            </a:pPr>
            <a:endParaRPr lang="en-US" altLang="ko-KR" dirty="0"/>
          </a:p>
          <a:p>
            <a:pPr marL="457200" lvl="1" indent="0" fontAlgn="base">
              <a:buNone/>
            </a:pPr>
            <a:endParaRPr lang="en" altLang="ko-KR" dirty="0"/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968194-790B-0F92-6A9C-66B8B4A3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41525"/>
          </a:xfrm>
        </p:spPr>
        <p:txBody>
          <a:bodyPr/>
          <a:lstStyle/>
          <a:p>
            <a:pPr eaLnBrk="1" hangingPunct="1"/>
            <a:r>
              <a:rPr lang="en-US" altLang="ko-KR" dirty="0" err="1"/>
              <a:t>Ch</a:t>
            </a:r>
            <a:r>
              <a:rPr lang="en-US" altLang="ko-KR" dirty="0"/>
              <a:t> 7. Constructors and Other Tools</a:t>
            </a:r>
            <a:br>
              <a:rPr lang="en-US" altLang="ko-KR" dirty="0"/>
            </a:br>
            <a:r>
              <a:rPr lang="en-US" altLang="zh-TW" sz="4000" dirty="0"/>
              <a:t>Learning Objectives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047" y="161444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Constructors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Calling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dirty="0"/>
              <a:t>More Tools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latin typeface="Gill Sans MT" panose="020B0502020104020203" pitchFamily="34" charset="0"/>
              </a:rPr>
              <a:t>The </a:t>
            </a:r>
            <a:r>
              <a:rPr lang="en-US" altLang="zh-TW" sz="2400" dirty="0">
                <a:latin typeface="Courier" pitchFamily="2" charset="0"/>
              </a:rPr>
              <a:t>const</a:t>
            </a:r>
            <a:r>
              <a:rPr lang="en-US" altLang="zh-TW" sz="2400" dirty="0"/>
              <a:t> parameter modifier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Inline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Static member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Vector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371D99C-7E16-DF3A-3A0C-F9228119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94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Constructors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Initialization of class objects</a:t>
            </a:r>
          </a:p>
          <a:p>
            <a:pPr lvl="1" eaLnBrk="1" hangingPunct="1"/>
            <a:r>
              <a:rPr lang="en-US" altLang="zh-TW" dirty="0"/>
              <a:t>Initialize </a:t>
            </a:r>
            <a:r>
              <a:rPr lang="en-US" altLang="zh-TW" b="1" i="1" dirty="0"/>
              <a:t>some</a:t>
            </a:r>
            <a:r>
              <a:rPr lang="en-US" altLang="zh-TW" dirty="0"/>
              <a:t> or </a:t>
            </a:r>
            <a:r>
              <a:rPr lang="en-US" altLang="zh-TW" b="1" i="1" dirty="0"/>
              <a:t>all</a:t>
            </a:r>
            <a:r>
              <a:rPr lang="en-US" altLang="zh-TW" dirty="0"/>
              <a:t> member variables</a:t>
            </a:r>
          </a:p>
          <a:p>
            <a:pPr lvl="1" eaLnBrk="1" hangingPunct="1"/>
            <a:r>
              <a:rPr lang="en-US" altLang="zh-TW" dirty="0"/>
              <a:t>Other actions possible as well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/>
              <a:t>A special kind of member function</a:t>
            </a:r>
          </a:p>
          <a:p>
            <a:pPr lvl="1" eaLnBrk="1" hangingPunct="1"/>
            <a:r>
              <a:rPr lang="en-US" altLang="zh-TW" b="1" i="1" dirty="0"/>
              <a:t>Automatically called</a:t>
            </a:r>
            <a:r>
              <a:rPr lang="en-US" altLang="zh-TW" dirty="0"/>
              <a:t> when object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zh-TW" dirty="0"/>
              <a:t>declared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/>
              <a:t>Very useful tool</a:t>
            </a:r>
          </a:p>
          <a:p>
            <a:pPr lvl="1" eaLnBrk="1" hangingPunct="1"/>
            <a:r>
              <a:rPr lang="en-US" altLang="zh-TW" dirty="0"/>
              <a:t>Key principle of OOP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68C84-0467-C3D2-671D-9F6D3899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2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>
                <a:solidFill>
                  <a:srgbClr val="FF0000"/>
                </a:solidFill>
              </a:rPr>
              <a:t>Chapter 7: Constructors and Other tools</a:t>
            </a:r>
          </a:p>
          <a:p>
            <a:pPr lvl="1" fontAlgn="base"/>
            <a:r>
              <a:rPr lang="en-US" altLang="ko-KR" dirty="0">
                <a:solidFill>
                  <a:srgbClr val="FF0000"/>
                </a:solidFill>
              </a:rPr>
              <a:t>Constructors</a:t>
            </a:r>
          </a:p>
          <a:p>
            <a:pPr lvl="1" fontAlgn="base"/>
            <a:r>
              <a:rPr lang="en-US" altLang="ko-KR" dirty="0"/>
              <a:t>More tools </a:t>
            </a:r>
          </a:p>
          <a:p>
            <a:pPr marL="914400" lvl="2" indent="0" fontAlgn="base">
              <a:buNone/>
            </a:pPr>
            <a:endParaRPr lang="en-US" altLang="ko-KR" dirty="0"/>
          </a:p>
          <a:p>
            <a:pPr marL="457200" lvl="1" indent="0" fontAlgn="base">
              <a:buNone/>
            </a:pPr>
            <a:endParaRPr lang="en" altLang="ko-KR" dirty="0"/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17BED6-0576-2B3C-B063-6C0E9E5F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8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Constructor Definitions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dirty="0"/>
              <a:t>Constructors are defined like any member functions</a:t>
            </a:r>
          </a:p>
          <a:p>
            <a:pPr lvl="1">
              <a:spcBef>
                <a:spcPts val="840"/>
              </a:spcBef>
            </a:pPr>
            <a:r>
              <a:rPr lang="en-US" altLang="zh-TW" dirty="0"/>
              <a:t>Except that they</a:t>
            </a:r>
          </a:p>
          <a:p>
            <a:pPr marL="1371600" lvl="2" indent="-457200" eaLnBrk="1" hangingPunct="1">
              <a:spcBef>
                <a:spcPts val="480"/>
              </a:spcBef>
              <a:buFont typeface="Times" pitchFamily="18" charset="0"/>
              <a:buAutoNum type="arabicPeriod"/>
            </a:pPr>
            <a:r>
              <a:rPr lang="en-US" altLang="zh-TW" sz="2400" dirty="0">
                <a:solidFill>
                  <a:srgbClr val="FF0000"/>
                </a:solidFill>
              </a:rPr>
              <a:t>Must have the same name as the class</a:t>
            </a:r>
          </a:p>
          <a:p>
            <a:pPr marL="1371600" lvl="2" indent="-457200" eaLnBrk="1" hangingPunct="1">
              <a:spcBef>
                <a:spcPts val="480"/>
              </a:spcBef>
              <a:buFont typeface="Times" pitchFamily="18" charset="0"/>
              <a:buAutoNum type="arabicPeriod"/>
            </a:pPr>
            <a:r>
              <a:rPr lang="en-US" altLang="zh-TW" sz="2400" dirty="0">
                <a:solidFill>
                  <a:srgbClr val="FF0000"/>
                </a:solidFill>
              </a:rPr>
              <a:t>Cannot return a value; not even void!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A8B64C2-9C54-FA40-A3AB-1E58EAF9A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374" y="3340559"/>
            <a:ext cx="5518673" cy="30815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71CF413-1C9C-5E43-8DE6-2B335645EB90}"/>
              </a:ext>
            </a:extLst>
          </p:cNvPr>
          <p:cNvSpPr/>
          <p:nvPr/>
        </p:nvSpPr>
        <p:spPr>
          <a:xfrm>
            <a:off x="2194560" y="3340559"/>
            <a:ext cx="935915" cy="241737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BF88A4-1499-2345-92B0-D2C20603DC58}"/>
              </a:ext>
            </a:extLst>
          </p:cNvPr>
          <p:cNvSpPr/>
          <p:nvPr/>
        </p:nvSpPr>
        <p:spPr>
          <a:xfrm>
            <a:off x="2043953" y="3890992"/>
            <a:ext cx="830131" cy="241737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D3691A-30A1-4F31-BD10-96DEDE83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6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90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Constructor Note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 dirty="0"/>
              <a:t>Constructor is placed in the</a:t>
            </a:r>
            <a:r>
              <a:rPr lang="en-US" altLang="zh-TW" sz="2800" dirty="0">
                <a:solidFill>
                  <a:srgbClr val="FF0000"/>
                </a:solidFill>
              </a:rPr>
              <a:t> public section</a:t>
            </a:r>
          </a:p>
          <a:p>
            <a:pPr lvl="1" eaLnBrk="1" hangingPunct="1"/>
            <a:r>
              <a:rPr lang="en-US" altLang="zh-TW" sz="2400" dirty="0"/>
              <a:t>It</a:t>
            </a:r>
            <a:r>
              <a:rPr lang="en-US" altLang="zh-TW" dirty="0"/>
              <a:t> is</a:t>
            </a:r>
            <a:r>
              <a:rPr lang="en-US" altLang="zh-TW" sz="2400" dirty="0"/>
              <a:t> called when objects are declared</a:t>
            </a:r>
          </a:p>
          <a:p>
            <a:pPr lvl="1" eaLnBrk="1" hangingPunct="1"/>
            <a:r>
              <a:rPr lang="en-US" altLang="zh-TW" dirty="0"/>
              <a:t>If it were in the private section, you cannot declare any objects!</a:t>
            </a:r>
            <a:endParaRPr lang="en-US" altLang="zh-TW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A30F88-5982-B9FB-D8E4-766ABA2D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7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6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Calling Constructors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Declare objects:</a:t>
            </a:r>
            <a:br>
              <a:rPr lang="en-US" altLang="zh-TW" sz="2800" dirty="0"/>
            </a:br>
            <a:r>
              <a:rPr lang="en-US" altLang="zh-TW" sz="2800" dirty="0"/>
              <a:t>	</a:t>
            </a:r>
            <a:br>
              <a:rPr lang="en-US" altLang="zh-TW" sz="2800" dirty="0">
                <a:solidFill>
                  <a:srgbClr val="FF0000"/>
                </a:solidFill>
              </a:rPr>
            </a:br>
            <a:r>
              <a:rPr lang="en-US" altLang="zh-TW" sz="2800" dirty="0"/>
              <a:t>		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dirty="0"/>
              <a:t>Objects are created 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Constructor is called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Values in parentheses are passed as arguments to constructor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Member variables month, day are initialized: </a:t>
            </a:r>
            <a:br>
              <a:rPr lang="en-US" altLang="zh-TW" sz="2400" dirty="0"/>
            </a:br>
            <a:br>
              <a:rPr lang="en-US" altLang="zh-TW" sz="2400" dirty="0"/>
            </a:br>
            <a:r>
              <a:rPr lang="en-US" altLang="zh-TW" sz="2400" dirty="0">
                <a:latin typeface="Courier" pitchFamily="2" charset="0"/>
              </a:rPr>
              <a:t>date1.month </a:t>
            </a:r>
            <a:r>
              <a:rPr lang="en-US" altLang="zh-TW" sz="2400" dirty="0">
                <a:latin typeface="Courier" pitchFamily="2" charset="0"/>
                <a:sym typeface="Wingdings" pitchFamily="2" charset="2"/>
              </a:rPr>
              <a:t></a:t>
            </a:r>
            <a:r>
              <a:rPr lang="en-US" altLang="zh-TW" sz="2400" dirty="0">
                <a:latin typeface="Courier" pitchFamily="2" charset="0"/>
              </a:rPr>
              <a:t> 7    date2.month </a:t>
            </a:r>
            <a:r>
              <a:rPr lang="en-US" altLang="zh-TW" sz="2400" dirty="0">
                <a:latin typeface="Courier" pitchFamily="2" charset="0"/>
                <a:sym typeface="Wingdings" pitchFamily="2" charset="2"/>
              </a:rPr>
              <a:t></a:t>
            </a:r>
            <a:r>
              <a:rPr lang="en-US" altLang="zh-TW" sz="2400" dirty="0">
                <a:latin typeface="Courier" pitchFamily="2" charset="0"/>
              </a:rPr>
              <a:t> 5</a:t>
            </a:r>
            <a:br>
              <a:rPr lang="en-US" altLang="zh-TW" sz="2400" dirty="0">
                <a:latin typeface="Courier" pitchFamily="2" charset="0"/>
              </a:rPr>
            </a:br>
            <a:r>
              <a:rPr lang="en-US" altLang="zh-TW" sz="2400" dirty="0">
                <a:latin typeface="Courier" pitchFamily="2" charset="0"/>
              </a:rPr>
              <a:t>date1.day   </a:t>
            </a:r>
            <a:r>
              <a:rPr lang="en-US" altLang="zh-TW" sz="2400" dirty="0">
                <a:latin typeface="Courier" pitchFamily="2" charset="0"/>
                <a:sym typeface="Wingdings" pitchFamily="2" charset="2"/>
              </a:rPr>
              <a:t> </a:t>
            </a:r>
            <a:r>
              <a:rPr lang="en-US" altLang="zh-TW" sz="2400" dirty="0">
                <a:latin typeface="Courier" pitchFamily="2" charset="0"/>
              </a:rPr>
              <a:t>4      date2.day </a:t>
            </a:r>
            <a:r>
              <a:rPr lang="en-US" altLang="zh-TW" sz="2400" dirty="0">
                <a:latin typeface="Courier" pitchFamily="2" charset="0"/>
                <a:sym typeface="Wingdings" pitchFamily="2" charset="2"/>
              </a:rPr>
              <a:t></a:t>
            </a:r>
            <a:r>
              <a:rPr lang="en-US" altLang="zh-TW" sz="2400" dirty="0">
                <a:latin typeface="Courier" pitchFamily="2" charset="0"/>
              </a:rPr>
              <a:t> 5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EFA225A-C439-E143-9541-CB558761C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63" y="1960854"/>
            <a:ext cx="5891905" cy="5816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BC40-D64F-68C2-793F-C02192A8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8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99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Conceptual Equivalency of Constructors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/>
              <a:t>Consider:</a:t>
            </a:r>
          </a:p>
          <a:p>
            <a:pPr marL="457200" lvl="1" indent="0" eaLnBrk="1" hangingPunct="1">
              <a:buNone/>
              <a:defRPr/>
            </a:pPr>
            <a:endParaRPr lang="en-US" altLang="zh-TW" dirty="0"/>
          </a:p>
          <a:p>
            <a:pPr marL="457200" lvl="1" indent="0" eaLnBrk="1" hangingPunct="1">
              <a:buNone/>
              <a:defRPr/>
            </a:pPr>
            <a:endParaRPr lang="en-US" altLang="zh-TW" dirty="0"/>
          </a:p>
          <a:p>
            <a:pPr marL="457200" lvl="1" indent="0" eaLnBrk="1" hangingPunct="1">
              <a:buNone/>
              <a:defRPr/>
            </a:pPr>
            <a:endParaRPr lang="en-US" altLang="zh-TW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dirty="0"/>
              <a:t>Conceptually equivalent, but… </a:t>
            </a:r>
          </a:p>
          <a:p>
            <a:pPr lvl="1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CANNOT </a:t>
            </a:r>
            <a:r>
              <a:rPr lang="en-US" altLang="zh-TW" dirty="0"/>
              <a:t>call constructors like other member functions!</a:t>
            </a:r>
          </a:p>
          <a:p>
            <a:pPr lvl="1" eaLnBrk="1" hangingPunct="1">
              <a:defRPr/>
            </a:pPr>
            <a:endParaRPr lang="en-US" altLang="zh-TW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734DDB-B80F-1447-B3BF-14F073D4A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27" y="2060028"/>
            <a:ext cx="7562626" cy="11223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6C2FB4-5933-0594-9537-6F7574D5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9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Constructor Definition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685" y="1315283"/>
            <a:ext cx="8951313" cy="498271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Constructor definition is like all other member functions:</a:t>
            </a:r>
            <a:br>
              <a:rPr lang="en-US" altLang="zh-TW" sz="2800" dirty="0"/>
            </a:b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marL="0" indent="0" eaLnBrk="1" hangingPunct="1">
              <a:lnSpc>
                <a:spcPct val="90000"/>
              </a:lnSpc>
              <a:spcBef>
                <a:spcPct val="40000"/>
              </a:spcBef>
              <a:buNone/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2800" dirty="0"/>
              <a:t>Note the same name around ::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Clearly identifies a constructor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2800" dirty="0"/>
              <a:t>Again, note </a:t>
            </a:r>
            <a:r>
              <a:rPr lang="en-US" altLang="zh-TW" sz="2800" dirty="0">
                <a:solidFill>
                  <a:srgbClr val="FF0000"/>
                </a:solidFill>
              </a:rPr>
              <a:t>no </a:t>
            </a:r>
            <a:r>
              <a:rPr lang="en-US" altLang="zh-TW" sz="2800" dirty="0"/>
              <a:t>return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Just as in class definition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DE8DBF-E0DF-CF44-8203-077ED3AF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6" y="2322517"/>
            <a:ext cx="7013986" cy="16022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5FF1012-D52A-FC4E-AA73-30EF78C51911}"/>
              </a:ext>
            </a:extLst>
          </p:cNvPr>
          <p:cNvSpPr/>
          <p:nvPr/>
        </p:nvSpPr>
        <p:spPr>
          <a:xfrm>
            <a:off x="1086520" y="2405695"/>
            <a:ext cx="1312434" cy="23666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EC7BFA-D07E-7449-B2E8-9983D16116D1}"/>
              </a:ext>
            </a:extLst>
          </p:cNvPr>
          <p:cNvSpPr/>
          <p:nvPr/>
        </p:nvSpPr>
        <p:spPr>
          <a:xfrm>
            <a:off x="2648170" y="2405695"/>
            <a:ext cx="1235341" cy="23666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9D484B-F26F-6E41-BE79-0FADAA6ABD5F}"/>
              </a:ext>
            </a:extLst>
          </p:cNvPr>
          <p:cNvSpPr/>
          <p:nvPr/>
        </p:nvSpPr>
        <p:spPr>
          <a:xfrm>
            <a:off x="550677" y="1824804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Class name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F06B44-CB74-F147-9EB2-C89580C5A6E5}"/>
              </a:ext>
            </a:extLst>
          </p:cNvPr>
          <p:cNvSpPr/>
          <p:nvPr/>
        </p:nvSpPr>
        <p:spPr>
          <a:xfrm>
            <a:off x="2480563" y="1824804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Constructor name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BA4A25F-561E-E741-8BF9-429C4A71833C}"/>
              </a:ext>
            </a:extLst>
          </p:cNvPr>
          <p:cNvCxnSpPr/>
          <p:nvPr/>
        </p:nvCxnSpPr>
        <p:spPr>
          <a:xfrm>
            <a:off x="1398494" y="2194136"/>
            <a:ext cx="0" cy="2115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C77D39C-4A1C-A048-9C58-E45B2E269388}"/>
              </a:ext>
            </a:extLst>
          </p:cNvPr>
          <p:cNvCxnSpPr/>
          <p:nvPr/>
        </p:nvCxnSpPr>
        <p:spPr>
          <a:xfrm>
            <a:off x="3013934" y="2193707"/>
            <a:ext cx="0" cy="2115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75A1DB0-F7F6-881B-CD26-2F6523B6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10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15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Alternative Definition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Previous definition equivalent to:</a:t>
            </a:r>
            <a:br>
              <a:rPr lang="en-US" altLang="zh-TW" sz="2800" dirty="0"/>
            </a:br>
            <a:br>
              <a:rPr lang="en-US" altLang="zh-TW" dirty="0"/>
            </a:br>
            <a:endParaRPr lang="en-US" altLang="zh-TW" dirty="0"/>
          </a:p>
          <a:p>
            <a:pPr marL="0" indent="0" eaLnBrk="1" hangingPunct="1">
              <a:spcBef>
                <a:spcPct val="50000"/>
              </a:spcBef>
              <a:buNone/>
            </a:pPr>
            <a:endParaRPr lang="en-US" altLang="zh-TW" sz="2800" dirty="0"/>
          </a:p>
          <a:p>
            <a:pPr lvl="1">
              <a:spcBef>
                <a:spcPct val="50000"/>
              </a:spcBef>
            </a:pPr>
            <a:r>
              <a:rPr lang="en-US" altLang="zh-TW" dirty="0"/>
              <a:t>Body may be left empty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E150208-E9A8-B74B-9732-75378392F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86" y="2046533"/>
            <a:ext cx="8563087" cy="10735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7CC7D7B-C30A-7F49-BCF8-2146F6158107}"/>
              </a:ext>
            </a:extLst>
          </p:cNvPr>
          <p:cNvSpPr/>
          <p:nvPr/>
        </p:nvSpPr>
        <p:spPr>
          <a:xfrm>
            <a:off x="4113686" y="2426309"/>
            <a:ext cx="4774820" cy="3168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7EA13A-A2D2-7440-A7CD-F456A3BD673A}"/>
              </a:ext>
            </a:extLst>
          </p:cNvPr>
          <p:cNvSpPr/>
          <p:nvPr/>
        </p:nvSpPr>
        <p:spPr>
          <a:xfrm>
            <a:off x="5110972" y="3165560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Initialization Section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E90F465-159E-AC4C-9D3C-4F21A1545404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222815" y="2743200"/>
            <a:ext cx="0" cy="422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D16F9-7BB9-C34C-4B4B-F72FAB84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11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5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Additional Purpose</a:t>
            </a:r>
            <a:r>
              <a:rPr lang="ko-KR" altLang="en-US" dirty="0"/>
              <a:t> </a:t>
            </a:r>
            <a:r>
              <a:rPr lang="en-US" altLang="ko-KR" dirty="0"/>
              <a:t>of </a:t>
            </a:r>
            <a:r>
              <a:rPr lang="en-US" altLang="zh-TW" dirty="0"/>
              <a:t>Constructors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Not just for initializing the data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/>
              <a:t>Body doesn’t have to be empty</a:t>
            </a:r>
          </a:p>
          <a:p>
            <a:pPr lvl="1" eaLnBrk="1" hangingPunct="1"/>
            <a:r>
              <a:rPr lang="en-US" altLang="zh-TW" dirty="0">
                <a:solidFill>
                  <a:srgbClr val="FF0000"/>
                </a:solidFill>
              </a:rPr>
              <a:t>You can validate the data! </a:t>
            </a:r>
            <a:r>
              <a:rPr lang="en-US" altLang="zh-TW" dirty="0">
                <a:sym typeface="Wingdings" pitchFamily="2" charset="2"/>
              </a:rPr>
              <a:t> </a:t>
            </a:r>
            <a:r>
              <a:rPr lang="en-US" altLang="zh-TW" dirty="0"/>
              <a:t>Ensure only appropriate data is assigned to class private member variables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DF05795-903A-4649-961F-451768D40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009" y="3394588"/>
            <a:ext cx="6293224" cy="2889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3B9FD-C67B-DFFC-D3A0-DBB67578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12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17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Overloaded Constructors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dirty="0">
                <a:solidFill>
                  <a:srgbClr val="FF0000"/>
                </a:solidFill>
              </a:rPr>
              <a:t>Can overload constructors </a:t>
            </a:r>
            <a:r>
              <a:rPr lang="en-US" altLang="zh-TW" dirty="0"/>
              <a:t>just like other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dirty="0"/>
              <a:t>Recall that a signature consists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Name of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Parameter list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dirty="0"/>
              <a:t>May provide constructors for all possible argument-lists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Particularly "how many"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521E1A-2EAE-00CE-872D-13784B4E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13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96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31640"/>
          </a:xfrm>
        </p:spPr>
        <p:txBody>
          <a:bodyPr/>
          <a:lstStyle/>
          <a:p>
            <a:pPr eaLnBrk="1" hangingPunct="1"/>
            <a:r>
              <a:rPr lang="en-US" altLang="zh-TW" sz="3000" dirty="0"/>
              <a:t>Class with Constructors Example: </a:t>
            </a:r>
            <a:br>
              <a:rPr lang="en-US" altLang="zh-TW" sz="3000" dirty="0"/>
            </a:br>
            <a:r>
              <a:rPr lang="en-US" altLang="zh-TW" sz="3000" b="1" dirty="0"/>
              <a:t>Display 7.1  </a:t>
            </a:r>
            <a:r>
              <a:rPr lang="en-US" altLang="zh-TW" sz="3000" dirty="0"/>
              <a:t>Class with Constructors (1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A829A3-FF26-8043-8802-CCFD50D4F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14" y="1526789"/>
            <a:ext cx="7627172" cy="47219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7F137C7-9ED6-F840-B4DF-790921467390}"/>
              </a:ext>
            </a:extLst>
          </p:cNvPr>
          <p:cNvSpPr/>
          <p:nvPr/>
        </p:nvSpPr>
        <p:spPr>
          <a:xfrm>
            <a:off x="1553366" y="3499383"/>
            <a:ext cx="5514408" cy="171807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241F26-A4F0-5E4C-8F44-F135D345F43F}"/>
              </a:ext>
            </a:extLst>
          </p:cNvPr>
          <p:cNvSpPr/>
          <p:nvPr/>
        </p:nvSpPr>
        <p:spPr>
          <a:xfrm>
            <a:off x="5186276" y="5272731"/>
            <a:ext cx="2762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Overloaded constructors!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57F8CB-0776-83D9-B235-7113E455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14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15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31640"/>
          </a:xfrm>
        </p:spPr>
        <p:txBody>
          <a:bodyPr/>
          <a:lstStyle/>
          <a:p>
            <a:pPr eaLnBrk="1" hangingPunct="1"/>
            <a:r>
              <a:rPr lang="en-US" altLang="zh-TW" sz="3000" dirty="0"/>
              <a:t>Class with Constructors Example: </a:t>
            </a:r>
            <a:br>
              <a:rPr lang="en-US" altLang="zh-TW" sz="3000" dirty="0"/>
            </a:br>
            <a:r>
              <a:rPr lang="en-US" altLang="zh-TW" sz="3000" b="1" dirty="0"/>
              <a:t>Display 7.1  </a:t>
            </a:r>
            <a:r>
              <a:rPr lang="en-US" altLang="zh-TW" sz="3000" dirty="0"/>
              <a:t>Class with Constructors (2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651F3A0-6F4F-2140-9207-7BDD91B13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265" y="1579601"/>
            <a:ext cx="6753470" cy="509166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75601D8-621A-A348-B9B6-4B5FBCE0FDDE}"/>
              </a:ext>
            </a:extLst>
          </p:cNvPr>
          <p:cNvSpPr/>
          <p:nvPr/>
        </p:nvSpPr>
        <p:spPr>
          <a:xfrm>
            <a:off x="4963540" y="3330821"/>
            <a:ext cx="641194" cy="251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91A973-5F7C-F584-9F5D-DA0AD565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15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846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31640"/>
          </a:xfrm>
        </p:spPr>
        <p:txBody>
          <a:bodyPr/>
          <a:lstStyle/>
          <a:p>
            <a:pPr eaLnBrk="1" hangingPunct="1"/>
            <a:r>
              <a:rPr lang="en-US" altLang="zh-TW" sz="3000" dirty="0"/>
              <a:t>Class with Constructors Example: </a:t>
            </a:r>
            <a:br>
              <a:rPr lang="en-US" altLang="zh-TW" sz="3000" dirty="0"/>
            </a:br>
            <a:r>
              <a:rPr lang="en-US" altLang="zh-TW" sz="3000" b="1" dirty="0"/>
              <a:t>Display 7.1  </a:t>
            </a:r>
            <a:r>
              <a:rPr lang="en-US" altLang="zh-TW" sz="3000" dirty="0"/>
              <a:t>Class with Constructors (3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3C6C9E-7DFE-8B45-A9DA-DCE85B32F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356" y="1579194"/>
            <a:ext cx="5792386" cy="527463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D10AB-A9D0-8C7C-167D-479BBEB4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16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084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Explicit Constructor Calls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Can also call constructor </a:t>
            </a:r>
            <a:r>
              <a:rPr lang="en-US" altLang="zh-TW" dirty="0"/>
              <a:t>again</a:t>
            </a:r>
            <a:endParaRPr lang="en-US" altLang="zh-TW" sz="2800" dirty="0"/>
          </a:p>
          <a:p>
            <a:pPr lvl="1" eaLnBrk="1" hangingPunct="1"/>
            <a:r>
              <a:rPr lang="en-US" altLang="zh-TW" sz="2400" dirty="0"/>
              <a:t>After object declared</a:t>
            </a:r>
            <a:endParaRPr lang="en-US" altLang="zh-TW" sz="2000" dirty="0"/>
          </a:p>
          <a:p>
            <a:pPr lvl="1" eaLnBrk="1" hangingPunct="1"/>
            <a:r>
              <a:rPr lang="en-US" altLang="zh-TW" sz="2400" dirty="0"/>
              <a:t>Can call via object’s name; standard member function call</a:t>
            </a:r>
          </a:p>
          <a:p>
            <a:pPr lvl="2"/>
            <a:endParaRPr lang="en-US" altLang="zh-TW" dirty="0"/>
          </a:p>
          <a:p>
            <a:pPr marL="914400" lvl="2" indent="0">
              <a:buNone/>
            </a:pPr>
            <a:endParaRPr lang="en-US" altLang="zh-TW" sz="2400" dirty="0"/>
          </a:p>
          <a:p>
            <a:pPr lvl="2">
              <a:buFont typeface="Wingdings" pitchFamily="2" charset="2"/>
              <a:buChar char="à"/>
            </a:pPr>
            <a:r>
              <a:rPr lang="en-US" altLang="ko-KR" sz="2400" dirty="0">
                <a:sym typeface="Wingdings" pitchFamily="2" charset="2"/>
              </a:rPr>
              <a:t> Create &amp; initialize an anonymous object and assign it</a:t>
            </a:r>
          </a:p>
          <a:p>
            <a:pPr lvl="2">
              <a:buFont typeface="Wingdings" pitchFamily="2" charset="2"/>
              <a:buChar char="à"/>
            </a:pPr>
            <a:r>
              <a:rPr lang="en-US" altLang="zh-TW" dirty="0">
                <a:latin typeface="Courier" pitchFamily="2" charset="0"/>
                <a:sym typeface="Wingdings" pitchFamily="2" charset="2"/>
              </a:rPr>
              <a:t> Holiday=</a:t>
            </a:r>
            <a:r>
              <a:rPr lang="en-US" altLang="zh-TW" dirty="0" err="1">
                <a:latin typeface="Courier" pitchFamily="2" charset="0"/>
                <a:sym typeface="Wingdings" pitchFamily="2" charset="2"/>
              </a:rPr>
              <a:t>DayOfYear</a:t>
            </a:r>
            <a:r>
              <a:rPr lang="en-US" altLang="zh-TW" dirty="0">
                <a:latin typeface="Courier" pitchFamily="2" charset="0"/>
                <a:sym typeface="Wingdings" pitchFamily="2" charset="2"/>
              </a:rPr>
              <a:t>();</a:t>
            </a:r>
            <a:r>
              <a:rPr lang="en-US" altLang="zh-TW" dirty="0">
                <a:latin typeface="Gill Sans MT" panose="020B0502020104020203" pitchFamily="34" charset="0"/>
                <a:sym typeface="Wingdings" pitchFamily="2" charset="2"/>
              </a:rPr>
              <a:t> (</a:t>
            </a:r>
            <a:r>
              <a:rPr lang="en-US" altLang="zh-TW" b="1" dirty="0">
                <a:latin typeface="Gill Sans MT" panose="020B0502020104020203" pitchFamily="34" charset="0"/>
                <a:sym typeface="Wingdings" pitchFamily="2" charset="2"/>
              </a:rPr>
              <a:t>Needs the parentheses!</a:t>
            </a:r>
            <a:r>
              <a:rPr lang="en-US" altLang="zh-TW" dirty="0">
                <a:latin typeface="Gill Sans MT" panose="020B0502020104020203" pitchFamily="34" charset="0"/>
                <a:sym typeface="Wingdings" pitchFamily="2" charset="2"/>
              </a:rPr>
              <a:t>)</a:t>
            </a:r>
            <a:endParaRPr lang="en-US" altLang="zh-TW" dirty="0">
              <a:latin typeface="Gill Sans MT" panose="020B0502020104020203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TW" dirty="0"/>
              <a:t>Convenient method of setting member variables</a:t>
            </a:r>
            <a:endParaRPr lang="en-US" altLang="zh-TW" sz="2800" dirty="0"/>
          </a:p>
          <a:p>
            <a:pPr eaLnBrk="1" hangingPunct="1">
              <a:spcBef>
                <a:spcPct val="50000"/>
              </a:spcBef>
            </a:pPr>
            <a:r>
              <a:rPr lang="en-US" altLang="zh-TW" sz="2800" dirty="0"/>
              <a:t>Method quite different from standard member function call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dirty="0"/>
              <a:t>e.g., no return type etc.)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5756872-531F-6840-BEE7-2457DC7AB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702" y="2908972"/>
            <a:ext cx="4249645" cy="6199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643F36-A154-EE20-4465-31704758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17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58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Default Constructors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Constructor </a:t>
            </a:r>
            <a:r>
              <a:rPr lang="en-US" altLang="zh-TW" dirty="0"/>
              <a:t>with no arguments</a:t>
            </a:r>
          </a:p>
          <a:p>
            <a:pPr lvl="1"/>
            <a:r>
              <a:rPr lang="en-US" altLang="zh-TW" dirty="0"/>
              <a:t>Make it a practice to always include the default constructor</a:t>
            </a:r>
          </a:p>
          <a:p>
            <a:pPr lvl="1" eaLnBrk="1" hangingPunct="1"/>
            <a:r>
              <a:rPr lang="en-US" altLang="ko-KR" dirty="0"/>
              <a:t>If no constructors defined, a default constructor doing nothing will be automatically created</a:t>
            </a:r>
          </a:p>
          <a:p>
            <a:pPr lvl="1" eaLnBrk="1" hangingPunct="1"/>
            <a:r>
              <a:rPr lang="en-US" altLang="ko-KR" dirty="0"/>
              <a:t>Otherwise (i.e., if other constructors exist), if you want to declare like </a:t>
            </a:r>
            <a:r>
              <a:rPr lang="en-US" altLang="ko-KR" sz="1800" dirty="0" err="1">
                <a:latin typeface="Courier" pitchFamily="2" charset="0"/>
              </a:rPr>
              <a:t>SampleClass</a:t>
            </a:r>
            <a:r>
              <a:rPr lang="en-US" altLang="ko-KR" sz="1800" dirty="0">
                <a:latin typeface="Courier" pitchFamily="2" charset="0"/>
              </a:rPr>
              <a:t> </a:t>
            </a:r>
            <a:r>
              <a:rPr lang="en-US" altLang="ko-KR" sz="1800" dirty="0" err="1">
                <a:latin typeface="Courier" pitchFamily="2" charset="0"/>
              </a:rPr>
              <a:t>myVar</a:t>
            </a:r>
            <a:r>
              <a:rPr lang="en-US" altLang="ko-KR" sz="1800" dirty="0">
                <a:latin typeface="Courier" pitchFamily="2" charset="0"/>
              </a:rPr>
              <a:t>; </a:t>
            </a:r>
            <a:r>
              <a:rPr lang="en-US" altLang="ko-KR" dirty="0">
                <a:latin typeface="Gill Sans MT" panose="020B0502020104020203" pitchFamily="34" charset="0"/>
              </a:rPr>
              <a:t>you need to define a default constructor</a:t>
            </a:r>
            <a:endParaRPr lang="en-US" altLang="ko-KR" sz="1800" dirty="0">
              <a:latin typeface="Gill Sans MT" panose="020B0502020104020203" pitchFamily="34" charset="0"/>
            </a:endParaRPr>
          </a:p>
          <a:p>
            <a:pPr marL="457200" lvl="1" indent="0" eaLnBrk="1" hangingPunct="1">
              <a:buNone/>
            </a:pPr>
            <a:r>
              <a:rPr lang="en-US" altLang="ko-KR" sz="1800" dirty="0">
                <a:latin typeface="Courier" pitchFamily="2" charset="0"/>
              </a:rPr>
              <a:t> </a:t>
            </a:r>
            <a:endParaRPr lang="en-US" altLang="ko-KR" dirty="0">
              <a:latin typeface="Courier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9C1E0F-3FD8-5941-9920-0CB3B20DF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08" y="4411900"/>
            <a:ext cx="4765638" cy="19091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E19A7C1-2397-654D-B9A3-6F291878A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327" y="5712189"/>
            <a:ext cx="2671632" cy="5114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FFD8C9-61EB-9F18-6A90-5911CB7D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18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33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See Display 7.2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endParaRPr lang="en-US" altLang="zh-TW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D6C129-181E-1285-BAAE-BB8F6FEA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19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64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Class Type Member Variables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sz="2800" dirty="0"/>
              <a:t>Class member variables can be any type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>
                <a:solidFill>
                  <a:srgbClr val="FF0000"/>
                </a:solidFill>
              </a:rPr>
              <a:t>Including objects of other classes!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Type of class relationship</a:t>
            </a:r>
          </a:p>
          <a:p>
            <a:pPr eaLnBrk="1" hangingPunct="1">
              <a:spcBef>
                <a:spcPts val="600"/>
              </a:spcBef>
            </a:pPr>
            <a:endParaRPr lang="en-US" altLang="zh-TW" sz="2800" dirty="0"/>
          </a:p>
          <a:p>
            <a:pPr eaLnBrk="1" hangingPunct="1">
              <a:spcBef>
                <a:spcPts val="600"/>
              </a:spcBef>
            </a:pPr>
            <a:r>
              <a:rPr lang="en-US" altLang="zh-TW" sz="2800" dirty="0"/>
              <a:t>Need special notation for constructors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So they can call "back" to member object’s constructor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0CB30F1-21FB-0274-26BD-4941612A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20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64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78946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Class Member Variable Example: </a:t>
            </a:r>
            <a:br>
              <a:rPr lang="en-US" altLang="zh-TW" sz="2800" dirty="0"/>
            </a:br>
            <a:r>
              <a:rPr lang="en-US" altLang="zh-TW" sz="2800" b="1" dirty="0"/>
              <a:t>Display 7.3  </a:t>
            </a:r>
            <a:r>
              <a:rPr lang="en-US" altLang="zh-TW" sz="2800" dirty="0"/>
              <a:t>A Class Member Variable (1 of 4)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B3F076-1B40-E44A-8CE5-C768B07A2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94" y="1248520"/>
            <a:ext cx="8465211" cy="489409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B92709-5219-15D7-8722-1DD2E22B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21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03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78946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Class Member Variable Example: </a:t>
            </a:r>
            <a:br>
              <a:rPr lang="en-US" altLang="zh-TW" sz="2800" dirty="0"/>
            </a:br>
            <a:r>
              <a:rPr lang="en-US" altLang="zh-TW" sz="2800" b="1" dirty="0"/>
              <a:t>Display 7.3  </a:t>
            </a:r>
            <a:r>
              <a:rPr lang="en-US" altLang="zh-TW" sz="2800" dirty="0"/>
              <a:t>A Class Member Variable (2 of 4)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80ACAF-5E9C-0543-985C-66F13BBE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1" y="1072467"/>
            <a:ext cx="7627172" cy="491620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7E9DFC1-E0F6-634C-BBD8-2DF70E30A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85" y="5905081"/>
            <a:ext cx="7949901" cy="26816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30D0EB7-430C-2347-9DC9-6CBD430101FF}"/>
              </a:ext>
            </a:extLst>
          </p:cNvPr>
          <p:cNvSpPr/>
          <p:nvPr/>
        </p:nvSpPr>
        <p:spPr>
          <a:xfrm>
            <a:off x="3070194" y="5688234"/>
            <a:ext cx="1738474" cy="26816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6201F1-58BD-B94D-8197-5498313994A9}"/>
              </a:ext>
            </a:extLst>
          </p:cNvPr>
          <p:cNvSpPr/>
          <p:nvPr/>
        </p:nvSpPr>
        <p:spPr>
          <a:xfrm>
            <a:off x="3147291" y="4872446"/>
            <a:ext cx="1209556" cy="26816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E64C8E-621E-609A-863A-1BE76D0B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22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348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78946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Class Member Variable Example: </a:t>
            </a:r>
            <a:br>
              <a:rPr lang="en-US" altLang="zh-TW" sz="2800" dirty="0"/>
            </a:br>
            <a:r>
              <a:rPr lang="en-US" altLang="zh-TW" sz="2800" b="1" dirty="0"/>
              <a:t>Display 7.3  </a:t>
            </a:r>
            <a:r>
              <a:rPr lang="en-US" altLang="zh-TW" sz="2800" dirty="0"/>
              <a:t>A Class Member Variable (3 of 4)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8A6031-0C1E-4549-BB73-46C0A4694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7" y="1102818"/>
            <a:ext cx="6981713" cy="55715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159412-FD22-B218-4592-DBB4E419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23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12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78946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Class Member Variable Example: </a:t>
            </a:r>
            <a:br>
              <a:rPr lang="en-US" altLang="zh-TW" sz="2800" dirty="0"/>
            </a:br>
            <a:r>
              <a:rPr lang="en-US" altLang="zh-TW" sz="2800" b="1" dirty="0"/>
              <a:t>Display 7.3  </a:t>
            </a:r>
            <a:r>
              <a:rPr lang="en-US" altLang="zh-TW" sz="2800" dirty="0"/>
              <a:t>A Class Member Variable (4 of 4)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28F529-258B-A949-A716-457CF1ADE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5" y="1185849"/>
            <a:ext cx="6852621" cy="292534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9FEFEB3-A4A4-114B-874B-5F47964F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31" y="3992856"/>
            <a:ext cx="6852621" cy="2690781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8645AB-01D2-1A9F-C327-46CCF5B1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24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418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>
                <a:solidFill>
                  <a:srgbClr val="FF0000"/>
                </a:solidFill>
              </a:rPr>
              <a:t>Chapter 7: Constructors and Other tools</a:t>
            </a:r>
          </a:p>
          <a:p>
            <a:pPr lvl="1" fontAlgn="base"/>
            <a:r>
              <a:rPr lang="en-US" altLang="ko-KR" dirty="0"/>
              <a:t>Constructors</a:t>
            </a:r>
          </a:p>
          <a:p>
            <a:pPr lvl="1" fontAlgn="base"/>
            <a:r>
              <a:rPr lang="en-US" altLang="ko-KR" dirty="0">
                <a:solidFill>
                  <a:srgbClr val="FF0000"/>
                </a:solidFill>
              </a:rPr>
              <a:t>More tools </a:t>
            </a:r>
          </a:p>
          <a:p>
            <a:pPr lvl="2" fontAlgn="base"/>
            <a:r>
              <a:rPr lang="en-US" altLang="ko-KR" dirty="0">
                <a:solidFill>
                  <a:srgbClr val="FF0000"/>
                </a:solidFill>
              </a:rPr>
              <a:t>Const</a:t>
            </a:r>
          </a:p>
          <a:p>
            <a:pPr lvl="2" fontAlgn="base"/>
            <a:r>
              <a:rPr lang="en-US" altLang="ko-KR" dirty="0">
                <a:solidFill>
                  <a:srgbClr val="FF0000"/>
                </a:solidFill>
              </a:rPr>
              <a:t>Inline function</a:t>
            </a:r>
          </a:p>
          <a:p>
            <a:pPr lvl="2" fontAlgn="base"/>
            <a:r>
              <a:rPr lang="en-US" altLang="ko-KR" dirty="0">
                <a:solidFill>
                  <a:srgbClr val="FF0000"/>
                </a:solidFill>
              </a:rPr>
              <a:t>Static members</a:t>
            </a:r>
          </a:p>
          <a:p>
            <a:pPr lvl="2" fontAlgn="base"/>
            <a:r>
              <a:rPr lang="en-US" altLang="ko-KR" dirty="0">
                <a:solidFill>
                  <a:srgbClr val="FF0000"/>
                </a:solidFill>
              </a:rPr>
              <a:t>Vector</a:t>
            </a:r>
          </a:p>
          <a:p>
            <a:pPr lvl="2" fontAlgn="base"/>
            <a:endParaRPr lang="en-US" altLang="ko-KR" dirty="0">
              <a:solidFill>
                <a:srgbClr val="FF0000"/>
              </a:solidFill>
            </a:endParaRPr>
          </a:p>
          <a:p>
            <a:pPr marL="914400" lvl="2" indent="0" fontAlgn="base">
              <a:buNone/>
            </a:pPr>
            <a:endParaRPr lang="en-US" altLang="ko-KR" dirty="0"/>
          </a:p>
          <a:p>
            <a:pPr marL="457200" lvl="1" indent="0" fontAlgn="base">
              <a:buNone/>
            </a:pPr>
            <a:endParaRPr lang="en" altLang="ko-KR" dirty="0"/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192566-9D5D-E1EF-23C7-4634652A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25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33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Parameter Passing Methods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Efficiency of parameter passing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Call-by-value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Requires a copy to be made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>
                <a:sym typeface="Wingdings" pitchFamily="2" charset="2"/>
              </a:rPr>
              <a:t>Negligible overhead for </a:t>
            </a:r>
            <a:r>
              <a:rPr lang="en-US" altLang="zh-TW" dirty="0">
                <a:latin typeface="Courier" pitchFamily="2" charset="0"/>
                <a:sym typeface="Wingdings" pitchFamily="2" charset="2"/>
              </a:rPr>
              <a:t>int</a:t>
            </a:r>
            <a:r>
              <a:rPr lang="en-US" altLang="zh-TW" dirty="0">
                <a:sym typeface="Wingdings" pitchFamily="2" charset="2"/>
              </a:rPr>
              <a:t> or </a:t>
            </a:r>
            <a:r>
              <a:rPr lang="en-US" altLang="zh-TW" dirty="0">
                <a:latin typeface="Courier" pitchFamily="2" charset="0"/>
                <a:sym typeface="Wingdings" pitchFamily="2" charset="2"/>
              </a:rPr>
              <a:t>double</a:t>
            </a:r>
            <a:r>
              <a:rPr lang="en-US" altLang="zh-TW" dirty="0">
                <a:sym typeface="Wingdings" pitchFamily="2" charset="2"/>
              </a:rPr>
              <a:t>, but can be significant for passing class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Call-by-reference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No need to copy the argument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Clear advantage for class types (that have many member variables)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dirty="0"/>
              <a:t>It makes sense to use call-by-reference for a class</a:t>
            </a:r>
          </a:p>
          <a:p>
            <a:pPr lvl="1">
              <a:lnSpc>
                <a:spcPct val="90000"/>
              </a:lnSpc>
              <a:spcBef>
                <a:spcPts val="840"/>
              </a:spcBef>
            </a:pPr>
            <a:r>
              <a:rPr lang="en-US" altLang="zh-TW" dirty="0"/>
              <a:t>Even when the function does not change the parameter!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2BD51BA-8297-AA14-41D6-F051766D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26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421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sz="3600" dirty="0">
                <a:latin typeface="Courier" pitchFamily="2" charset="0"/>
              </a:rPr>
              <a:t>const</a:t>
            </a:r>
            <a:r>
              <a:rPr lang="en-US" altLang="zh-TW" dirty="0"/>
              <a:t> Parameter Modifier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Compare the following two examples</a:t>
            </a:r>
          </a:p>
          <a:p>
            <a:pPr lvl="1"/>
            <a:r>
              <a:rPr lang="en-US" altLang="zh-TW" dirty="0"/>
              <a:t>When the function does not change the parameters, the second one is a clear winner</a:t>
            </a:r>
          </a:p>
          <a:p>
            <a:pPr lvl="1" eaLnBrk="1" hangingPunct="1"/>
            <a:endParaRPr lang="en-US" altLang="zh-TW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2DFC8B7-259C-B24F-AFB1-5F39F0EF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" y="2708557"/>
            <a:ext cx="6973300" cy="15250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B924F87-0EFE-5244-96AF-AFA83C163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" y="4331056"/>
            <a:ext cx="6973300" cy="17951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D861D94-1EB4-D942-9363-BB2F6B08FC8F}"/>
              </a:ext>
            </a:extLst>
          </p:cNvPr>
          <p:cNvSpPr/>
          <p:nvPr/>
        </p:nvSpPr>
        <p:spPr>
          <a:xfrm>
            <a:off x="2296391" y="4428510"/>
            <a:ext cx="624609" cy="2323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64FB8E-DA5D-3A4C-A7A2-7C629D0F1085}"/>
              </a:ext>
            </a:extLst>
          </p:cNvPr>
          <p:cNvSpPr/>
          <p:nvPr/>
        </p:nvSpPr>
        <p:spPr>
          <a:xfrm>
            <a:off x="3201173" y="4660900"/>
            <a:ext cx="624609" cy="2323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56334A-16C1-E646-8BC1-773FB1CFD3C8}"/>
              </a:ext>
            </a:extLst>
          </p:cNvPr>
          <p:cNvSpPr/>
          <p:nvPr/>
        </p:nvSpPr>
        <p:spPr>
          <a:xfrm>
            <a:off x="4105955" y="4428510"/>
            <a:ext cx="148545" cy="2323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83AF9B-713E-574E-8335-E2CF6E440097}"/>
              </a:ext>
            </a:extLst>
          </p:cNvPr>
          <p:cNvSpPr/>
          <p:nvPr/>
        </p:nvSpPr>
        <p:spPr>
          <a:xfrm>
            <a:off x="5010738" y="4660900"/>
            <a:ext cx="148546" cy="2323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E9ECFE-71B4-6922-EF2C-C0A24843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27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68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sz="3600" dirty="0">
                <a:latin typeface="Courier" pitchFamily="2" charset="0"/>
              </a:rPr>
              <a:t>const</a:t>
            </a:r>
            <a:r>
              <a:rPr lang="en-US" altLang="zh-TW" dirty="0"/>
              <a:t> Parameter Modifier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 dirty="0"/>
              <a:t>Can protect the argument for call-by-reference</a:t>
            </a:r>
          </a:p>
          <a:p>
            <a:pPr lvl="1" eaLnBrk="1" hangingPunct="1"/>
            <a:r>
              <a:rPr lang="en-US" altLang="zh-TW" sz="2400" dirty="0"/>
              <a:t>Use constant parameter</a:t>
            </a:r>
          </a:p>
          <a:p>
            <a:pPr lvl="2" eaLnBrk="1" hangingPunct="1"/>
            <a:r>
              <a:rPr lang="en-US" altLang="zh-TW" dirty="0"/>
              <a:t>Also called constant call-by-reference parameter</a:t>
            </a:r>
          </a:p>
          <a:p>
            <a:pPr lvl="1" eaLnBrk="1" hangingPunct="1"/>
            <a:r>
              <a:rPr lang="en-US" altLang="zh-TW" sz="2400" dirty="0"/>
              <a:t>Place keyword </a:t>
            </a:r>
            <a:r>
              <a:rPr lang="en-US" altLang="zh-TW" sz="2400" dirty="0" err="1">
                <a:solidFill>
                  <a:srgbClr val="FF0000"/>
                </a:solidFill>
                <a:latin typeface="Courier" pitchFamily="2" charset="0"/>
              </a:rPr>
              <a:t>const</a:t>
            </a:r>
            <a:r>
              <a:rPr lang="en-US" altLang="zh-TW" sz="2400" dirty="0"/>
              <a:t> before type</a:t>
            </a:r>
          </a:p>
          <a:p>
            <a:pPr lvl="1" eaLnBrk="1" hangingPunct="1"/>
            <a:r>
              <a:rPr lang="en-US" altLang="zh-TW" sz="2400" dirty="0"/>
              <a:t>Makes parameter "read-only"</a:t>
            </a:r>
          </a:p>
          <a:p>
            <a:pPr lvl="1" eaLnBrk="1" hangingPunct="1"/>
            <a:r>
              <a:rPr lang="en-US" altLang="zh-TW" sz="2400" dirty="0"/>
              <a:t>Attempt to modify parameter results in a compiler error </a:t>
            </a:r>
            <a:r>
              <a:rPr lang="en-US" altLang="zh-TW" sz="2400" dirty="0">
                <a:sym typeface="Wingdings" pitchFamily="2" charset="2"/>
              </a:rPr>
              <a:t> automatic error checking</a:t>
            </a:r>
            <a:endParaRPr lang="en-US" altLang="zh-TW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239B83-F7C9-276D-ED61-1F9A6F46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28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545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urier" pitchFamily="2" charset="0"/>
              </a:rPr>
              <a:t>const </a:t>
            </a:r>
            <a:r>
              <a:rPr lang="en-US" altLang="zh-TW" dirty="0">
                <a:latin typeface="Gill Sans MT" panose="020B0502020104020203" pitchFamily="34" charset="0"/>
              </a:rPr>
              <a:t>Modifier for Functions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27" y="1399798"/>
            <a:ext cx="8704579" cy="473906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dirty="0"/>
              <a:t>Consider the example</a:t>
            </a:r>
          </a:p>
          <a:p>
            <a:pPr lvl="1">
              <a:spcBef>
                <a:spcPts val="480"/>
              </a:spcBef>
            </a:pPr>
            <a:r>
              <a:rPr lang="en-US" altLang="zh-TW" dirty="0"/>
              <a:t>The member function </a:t>
            </a:r>
            <a:r>
              <a:rPr lang="en-US" altLang="zh-TW" dirty="0">
                <a:latin typeface="Courier" pitchFamily="2" charset="0"/>
              </a:rPr>
              <a:t>input()</a:t>
            </a:r>
            <a:br>
              <a:rPr lang="en-US" altLang="zh-TW" dirty="0">
                <a:latin typeface="Courier" pitchFamily="2" charset="0"/>
              </a:rPr>
            </a:br>
            <a:r>
              <a:rPr lang="en-US" altLang="zh-TW" dirty="0"/>
              <a:t>can change the member variable as well</a:t>
            </a:r>
          </a:p>
          <a:p>
            <a:pPr lvl="1">
              <a:spcBef>
                <a:spcPts val="480"/>
              </a:spcBef>
            </a:pPr>
            <a:r>
              <a:rPr lang="en-US" altLang="zh-TW" dirty="0"/>
              <a:t>What if you do not want to change the member variable by calling a member function?</a:t>
            </a:r>
          </a:p>
          <a:p>
            <a:pPr>
              <a:spcBef>
                <a:spcPts val="480"/>
              </a:spcBef>
            </a:pPr>
            <a:r>
              <a:rPr lang="en-US" altLang="zh-TW" dirty="0"/>
              <a:t>Marking a function with a </a:t>
            </a:r>
            <a:r>
              <a:rPr lang="en-US" altLang="zh-TW" dirty="0">
                <a:latin typeface="Courier" pitchFamily="2" charset="0"/>
              </a:rPr>
              <a:t>const</a:t>
            </a:r>
            <a:r>
              <a:rPr lang="en-US" altLang="zh-TW" dirty="0"/>
              <a:t> modifier</a:t>
            </a:r>
          </a:p>
          <a:p>
            <a:pPr lvl="1">
              <a:spcBef>
                <a:spcPts val="480"/>
              </a:spcBef>
            </a:pPr>
            <a:r>
              <a:rPr lang="en-US" altLang="zh-TW" dirty="0"/>
              <a:t>Error if the function code inadvertently changes the value </a:t>
            </a:r>
          </a:p>
          <a:p>
            <a:pPr lvl="1" eaLnBrk="1" hangingPunct="1"/>
            <a:endParaRPr lang="en-US" altLang="zh-TW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242678-FC22-A74E-A8B5-A8C4FD553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479" y="1387098"/>
            <a:ext cx="2814321" cy="8865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036C9BB-A2D5-0547-92C3-6AE93FC2C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64" y="4418044"/>
            <a:ext cx="3136900" cy="15887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0F2C775-331B-3844-A34A-756007C48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800" y="4773281"/>
            <a:ext cx="4038600" cy="8782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AC4757-CD38-6240-9C10-AFB59213C409}"/>
              </a:ext>
            </a:extLst>
          </p:cNvPr>
          <p:cNvSpPr txBox="1"/>
          <p:nvPr/>
        </p:nvSpPr>
        <p:spPr>
          <a:xfrm>
            <a:off x="1605279" y="6052297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[Declaration]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CDC3A-80C0-A34D-AC3C-8EE1654DAF9A}"/>
              </a:ext>
            </a:extLst>
          </p:cNvPr>
          <p:cNvSpPr txBox="1"/>
          <p:nvPr/>
        </p:nvSpPr>
        <p:spPr>
          <a:xfrm>
            <a:off x="5872479" y="6052297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[Definition]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AF83F1-7BC4-15B8-C9CA-4B7C3710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29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428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[Pitfall] Inconsistent use of </a:t>
            </a:r>
            <a:r>
              <a:rPr lang="en-US" altLang="zh-TW" dirty="0">
                <a:latin typeface="Courier" pitchFamily="2" charset="0"/>
              </a:rPr>
              <a:t>const</a:t>
            </a:r>
            <a:endParaRPr lang="en-US" altLang="zh-TW" dirty="0">
              <a:latin typeface="Gill Sans MT" panose="020B0502020104020203" pitchFamily="34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dirty="0">
                <a:latin typeface="Courier" pitchFamily="2" charset="0"/>
              </a:rPr>
              <a:t>const </a:t>
            </a:r>
            <a:r>
              <a:rPr lang="en-US" altLang="zh-TW" dirty="0">
                <a:latin typeface="Gill Sans MT" panose="020B0502020104020203" pitchFamily="34" charset="0"/>
              </a:rPr>
              <a:t>is an all-or-nothing proposition</a:t>
            </a:r>
          </a:p>
          <a:p>
            <a:pPr lvl="1" eaLnBrk="1" hangingPunct="1"/>
            <a:r>
              <a:rPr lang="en-US" altLang="zh-TW" dirty="0"/>
              <a:t>If a </a:t>
            </a:r>
            <a:r>
              <a:rPr lang="en-US" altLang="zh-TW" dirty="0">
                <a:latin typeface="Courier" pitchFamily="2" charset="0"/>
              </a:rPr>
              <a:t>const</a:t>
            </a:r>
            <a:r>
              <a:rPr lang="en-US" altLang="zh-TW" dirty="0"/>
              <a:t> is used for a class type, then every member function that does</a:t>
            </a:r>
            <a:r>
              <a:rPr lang="ko-KR" altLang="en-US" dirty="0"/>
              <a:t> </a:t>
            </a:r>
            <a:r>
              <a:rPr lang="en-US" altLang="ko-KR" dirty="0"/>
              <a:t>not change the member variables should also have the </a:t>
            </a:r>
            <a:r>
              <a:rPr lang="en-US" altLang="ko-KR" dirty="0">
                <a:latin typeface="Courier" pitchFamily="2" charset="0"/>
              </a:rPr>
              <a:t>const</a:t>
            </a:r>
            <a:r>
              <a:rPr lang="en-US" altLang="ko-KR" dirty="0"/>
              <a:t> modifier</a:t>
            </a:r>
          </a:p>
          <a:p>
            <a:pPr lvl="1" eaLnBrk="1" hangingPunct="1"/>
            <a:r>
              <a:rPr lang="en-US" altLang="zh-TW" dirty="0"/>
              <a:t>Reason: function calls within function calls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5B11F3-99D9-5146-92F7-30EB1DF44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3756630"/>
            <a:ext cx="6083300" cy="175299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38EC4D-1C3C-034B-9118-5AB4073AF877}"/>
              </a:ext>
            </a:extLst>
          </p:cNvPr>
          <p:cNvSpPr/>
          <p:nvPr/>
        </p:nvSpPr>
        <p:spPr>
          <a:xfrm>
            <a:off x="2206594" y="3846734"/>
            <a:ext cx="676306" cy="24266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21534A-EB30-8447-ABD0-D57673511614}"/>
              </a:ext>
            </a:extLst>
          </p:cNvPr>
          <p:cNvSpPr/>
          <p:nvPr/>
        </p:nvSpPr>
        <p:spPr>
          <a:xfrm>
            <a:off x="2544746" y="4913534"/>
            <a:ext cx="1392253" cy="24266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DCC240-2A99-6E4A-A117-B7B472A5AFEF}"/>
              </a:ext>
            </a:extLst>
          </p:cNvPr>
          <p:cNvSpPr txBox="1"/>
          <p:nvPr/>
        </p:nvSpPr>
        <p:spPr>
          <a:xfrm>
            <a:off x="2882900" y="5243506"/>
            <a:ext cx="5413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If </a:t>
            </a:r>
            <a:r>
              <a:rPr kumimoji="1" lang="en-US" altLang="ko-KR" dirty="0">
                <a:solidFill>
                  <a:srgbClr val="FF0000"/>
                </a:solidFill>
                <a:latin typeface="Courier" pitchFamily="2" charset="0"/>
              </a:rPr>
              <a:t>output()</a:t>
            </a:r>
            <a:r>
              <a:rPr kumimoji="1" lang="en-US" altLang="ko-KR" dirty="0">
                <a:solidFill>
                  <a:srgbClr val="FF0000"/>
                </a:solidFill>
              </a:rPr>
              <a:t> does not have the </a:t>
            </a:r>
            <a:r>
              <a:rPr kumimoji="1" lang="en-US" altLang="ko-KR" dirty="0">
                <a:solidFill>
                  <a:srgbClr val="FF0000"/>
                </a:solidFill>
                <a:latin typeface="Courier" pitchFamily="2" charset="0"/>
              </a:rPr>
              <a:t>const</a:t>
            </a:r>
            <a:r>
              <a:rPr kumimoji="1" lang="en-US" altLang="ko-KR" dirty="0">
                <a:solidFill>
                  <a:srgbClr val="FF0000"/>
                </a:solidFill>
              </a:rPr>
              <a:t> modifier, the compiler will give an error message!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88D3E38-8CCE-346F-1D17-9D9CAC5F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30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660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sz="4000" dirty="0"/>
              <a:t>Three Uses of </a:t>
            </a:r>
            <a:r>
              <a:rPr lang="en-US" altLang="zh-TW" sz="4000" dirty="0" err="1"/>
              <a:t>const</a:t>
            </a:r>
            <a:endParaRPr lang="en-US" altLang="zh-TW" sz="4000" dirty="0"/>
          </a:p>
        </p:txBody>
      </p:sp>
      <p:sp>
        <p:nvSpPr>
          <p:cNvPr id="4198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</a:rPr>
              <a:t>1) </a:t>
            </a:r>
            <a:r>
              <a:rPr lang="en-US" altLang="zh-TW" sz="2400" dirty="0" err="1">
                <a:solidFill>
                  <a:srgbClr val="FF0000"/>
                </a:solidFill>
                <a:latin typeface="Courier" pitchFamily="2" charset="0"/>
              </a:rPr>
              <a:t>const</a:t>
            </a:r>
            <a:r>
              <a:rPr lang="en-US" altLang="zh-TW" sz="2400" dirty="0">
                <a:latin typeface="Courier" pitchFamily="2" charset="0"/>
              </a:rPr>
              <a:t> double pi = 3.14159;</a:t>
            </a:r>
            <a:endParaRPr lang="en-US" altLang="zh-TW" dirty="0"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/>
              <a:t>2) </a:t>
            </a:r>
            <a:r>
              <a:rPr lang="en-US" altLang="zh-TW" sz="2400" dirty="0">
                <a:latin typeface="Courier" pitchFamily="2" charset="0"/>
              </a:rPr>
              <a:t>void display(</a:t>
            </a:r>
            <a:r>
              <a:rPr lang="en-US" altLang="zh-TW" sz="2400" dirty="0" err="1">
                <a:solidFill>
                  <a:srgbClr val="FF0000"/>
                </a:solidFill>
                <a:latin typeface="Courier" pitchFamily="2" charset="0"/>
              </a:rPr>
              <a:t>const</a:t>
            </a:r>
            <a:r>
              <a:rPr lang="en-US" altLang="zh-TW" sz="2400" dirty="0">
                <a:latin typeface="Courier" pitchFamily="2" charset="0"/>
              </a:rPr>
              <a:t> Student &amp;a);</a:t>
            </a:r>
            <a:endParaRPr lang="en-US" altLang="zh-TW" dirty="0"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/>
              <a:t>3) </a:t>
            </a:r>
            <a:r>
              <a:rPr lang="en-US" altLang="zh-TW" sz="2000" dirty="0">
                <a:latin typeface="Courier" pitchFamily="2" charset="0"/>
              </a:rPr>
              <a:t>class Student</a:t>
            </a:r>
            <a:br>
              <a:rPr lang="en-US" altLang="zh-TW" sz="2000" dirty="0">
                <a:latin typeface="Courier" pitchFamily="2" charset="0"/>
              </a:rPr>
            </a:br>
            <a:r>
              <a:rPr lang="en-US" altLang="zh-TW" sz="2000" dirty="0">
                <a:latin typeface="Courier" pitchFamily="2" charset="0"/>
              </a:rPr>
              <a:t>    {</a:t>
            </a:r>
            <a:br>
              <a:rPr lang="en-US" altLang="zh-TW" sz="2000" dirty="0">
                <a:latin typeface="Courier" pitchFamily="2" charset="0"/>
              </a:rPr>
            </a:br>
            <a:r>
              <a:rPr lang="en-US" altLang="zh-TW" sz="2000" dirty="0">
                <a:latin typeface="Courier" pitchFamily="2" charset="0"/>
              </a:rPr>
              <a:t>      public:</a:t>
            </a:r>
            <a:br>
              <a:rPr lang="en-US" altLang="zh-TW" sz="2000" dirty="0">
                <a:latin typeface="Courier" pitchFamily="2" charset="0"/>
              </a:rPr>
            </a:br>
            <a:r>
              <a:rPr lang="en-US" altLang="zh-TW" sz="2000" dirty="0">
                <a:latin typeface="Courier" pitchFamily="2" charset="0"/>
              </a:rPr>
              <a:t>      void show() 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const</a:t>
            </a:r>
            <a:r>
              <a:rPr lang="en-US" altLang="zh-TW" sz="2000" dirty="0">
                <a:latin typeface="Courier" pitchFamily="2" charset="0"/>
              </a:rPr>
              <a:t>;  </a:t>
            </a:r>
            <a:r>
              <a:rPr lang="en-US" altLang="zh-TW" sz="2000" dirty="0">
                <a:latin typeface="Courier" pitchFamily="2" charset="0"/>
                <a:sym typeface="Wingdings" panose="05000000000000000000" pitchFamily="2" charset="2"/>
              </a:rPr>
              <a:t> </a:t>
            </a:r>
            <a:r>
              <a:rPr lang="en-US" altLang="zh-TW" sz="1800" dirty="0">
                <a:solidFill>
                  <a:srgbClr val="0000FF"/>
                </a:solidFill>
                <a:latin typeface="Courier" pitchFamily="2" charset="0"/>
                <a:sym typeface="Wingdings" panose="05000000000000000000" pitchFamily="2" charset="2"/>
              </a:rPr>
              <a:t>show() function cannot change any member variables of the Student class</a:t>
            </a:r>
            <a:br>
              <a:rPr lang="en-US" altLang="zh-TW" sz="2000" dirty="0">
                <a:latin typeface="Courier" pitchFamily="2" charset="0"/>
              </a:rPr>
            </a:br>
            <a:r>
              <a:rPr lang="en-US" altLang="zh-TW" sz="2000" dirty="0">
                <a:latin typeface="Courier" pitchFamily="2" charset="0"/>
              </a:rPr>
              <a:t>       …</a:t>
            </a:r>
            <a:br>
              <a:rPr lang="en-US" altLang="zh-TW" sz="2000" dirty="0">
                <a:latin typeface="Courier" pitchFamily="2" charset="0"/>
              </a:rPr>
            </a:br>
            <a:r>
              <a:rPr lang="en-US" altLang="zh-TW" sz="2000" dirty="0">
                <a:latin typeface="Courier" pitchFamily="2" charset="0"/>
              </a:rPr>
              <a:t>    };</a:t>
            </a:r>
            <a:endParaRPr lang="en-US" altLang="zh-TW" dirty="0">
              <a:latin typeface="Courier" pitchFamily="2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dirty="0"/>
              <a:t>Global variable, parameter, function modifier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7BB8FE6-1398-E1EE-C56F-532E59C3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31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29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Inline Member Functions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Class</a:t>
            </a:r>
            <a:r>
              <a:rPr lang="ko-KR" altLang="en-US" dirty="0"/>
              <a:t> </a:t>
            </a:r>
            <a:r>
              <a:rPr lang="en-US" altLang="ko-KR" dirty="0"/>
              <a:t>m</a:t>
            </a:r>
            <a:r>
              <a:rPr lang="en-US" altLang="zh-TW" dirty="0"/>
              <a:t>ember function definitions</a:t>
            </a:r>
          </a:p>
          <a:p>
            <a:pPr lvl="1" eaLnBrk="1" hangingPunct="1"/>
            <a:r>
              <a:rPr lang="en-US" altLang="zh-TW" dirty="0"/>
              <a:t>Typically defined separately</a:t>
            </a:r>
          </a:p>
          <a:p>
            <a:pPr lvl="1" eaLnBrk="1" hangingPunct="1"/>
            <a:r>
              <a:rPr lang="en-US" altLang="zh-TW" dirty="0"/>
              <a:t>But it can be defined </a:t>
            </a:r>
            <a:r>
              <a:rPr lang="en-US" altLang="zh-TW" b="1" dirty="0"/>
              <a:t>IN</a:t>
            </a:r>
            <a:r>
              <a:rPr lang="en-US" altLang="zh-TW" dirty="0"/>
              <a:t> the class definition</a:t>
            </a:r>
          </a:p>
          <a:p>
            <a:pPr lvl="2" eaLnBrk="1" hangingPunct="1"/>
            <a:r>
              <a:rPr lang="en-US" altLang="zh-TW" dirty="0"/>
              <a:t>Makes function "</a:t>
            </a:r>
            <a:r>
              <a:rPr lang="en-US" altLang="zh-TW" b="1" i="1" dirty="0"/>
              <a:t>in-line</a:t>
            </a:r>
            <a:r>
              <a:rPr lang="en-US" altLang="zh-TW" dirty="0"/>
              <a:t>”</a:t>
            </a:r>
          </a:p>
          <a:p>
            <a:pPr lvl="2" eaLnBrk="1" hangingPunct="1"/>
            <a:r>
              <a:rPr lang="en-US" altLang="zh-TW" dirty="0"/>
              <a:t>Compiler inserts the definition at each location where the function is invoked </a:t>
            </a:r>
            <a:r>
              <a:rPr lang="en-US" altLang="zh-TW" dirty="0">
                <a:sym typeface="Wingdings" pitchFamily="2" charset="2"/>
              </a:rPr>
              <a:t> efficient for </a:t>
            </a:r>
            <a:r>
              <a:rPr lang="en-US" altLang="zh-TW" b="1" dirty="0">
                <a:sym typeface="Wingdings" pitchFamily="2" charset="2"/>
              </a:rPr>
              <a:t>short definitions </a:t>
            </a:r>
            <a:endParaRPr lang="en-US" altLang="zh-TW" b="1" dirty="0"/>
          </a:p>
          <a:p>
            <a:pPr eaLnBrk="1" hangingPunct="1">
              <a:spcBef>
                <a:spcPct val="50000"/>
              </a:spcBef>
            </a:pPr>
            <a:r>
              <a:rPr lang="en-US" altLang="zh-TW" dirty="0"/>
              <a:t>Disadvantages also exist</a:t>
            </a:r>
          </a:p>
          <a:p>
            <a:pPr lvl="1" eaLnBrk="1" hangingPunct="1"/>
            <a:r>
              <a:rPr lang="en-US" altLang="zh-TW" dirty="0"/>
              <a:t>Mixing the interface and implementation</a:t>
            </a:r>
          </a:p>
          <a:p>
            <a:pPr lvl="1" eaLnBrk="1" hangingPunct="1"/>
            <a:r>
              <a:rPr lang="en-US" altLang="zh-TW" dirty="0"/>
              <a:t>Inline functions can only be called in the same file as the one in which it is defined</a:t>
            </a:r>
          </a:p>
          <a:p>
            <a:pPr lvl="1" eaLnBrk="1" hangingPunct="1"/>
            <a:r>
              <a:rPr lang="en-US" altLang="zh-TW" dirty="0"/>
              <a:t>Less efficient for long definitions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745DFA-60D8-350E-F84F-E7670277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32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7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sz="4000"/>
              <a:t>Example of Inline Member Function</a:t>
            </a:r>
          </a:p>
        </p:txBody>
      </p:sp>
      <p:sp>
        <p:nvSpPr>
          <p:cNvPr id="460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>
              <a:lnSpc>
                <a:spcPct val="90000"/>
              </a:lnSpc>
            </a:pPr>
            <a:endParaRPr lang="en-US" altLang="zh-TW" sz="2400" dirty="0"/>
          </a:p>
          <a:p>
            <a:pPr marL="0" indent="0">
              <a:lnSpc>
                <a:spcPct val="90000"/>
              </a:lnSpc>
              <a:buNone/>
            </a:pPr>
            <a:endParaRPr lang="en-US" altLang="zh-TW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E8C735-C8AF-5D4F-84A9-982EDDDA4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49" y="1652131"/>
            <a:ext cx="7835899" cy="420899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00E58-1743-4F8D-49E9-C71A76CD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33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280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Static Members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Static member variables</a:t>
            </a:r>
          </a:p>
          <a:p>
            <a:pPr lvl="1" eaLnBrk="1" hangingPunct="1"/>
            <a:r>
              <a:rPr lang="en-US" altLang="zh-TW" dirty="0"/>
              <a:t>All objects of the class </a:t>
            </a:r>
            <a:r>
              <a:rPr lang="en-US" altLang="zh-TW" dirty="0">
                <a:solidFill>
                  <a:srgbClr val="FF0000"/>
                </a:solidFill>
              </a:rPr>
              <a:t>"share"</a:t>
            </a:r>
            <a:r>
              <a:rPr lang="en-US" altLang="zh-TW" dirty="0"/>
              <a:t> only one copy</a:t>
            </a:r>
          </a:p>
          <a:p>
            <a:pPr lvl="1" eaLnBrk="1" hangingPunct="1"/>
            <a:r>
              <a:rPr lang="en-US" altLang="zh-TW" dirty="0"/>
              <a:t>One object changes it 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en-US" altLang="zh-TW" dirty="0"/>
              <a:t> all can see the change</a:t>
            </a:r>
          </a:p>
          <a:p>
            <a:pPr lvl="1" eaLnBrk="1" hangingPunct="1"/>
            <a:r>
              <a:rPr lang="en-US" altLang="zh-TW" dirty="0"/>
              <a:t>Similar to global variables, but only for the </a:t>
            </a:r>
            <a:r>
              <a:rPr lang="en-US" altLang="zh-TW" b="1" dirty="0"/>
              <a:t>objects</a:t>
            </a:r>
            <a:r>
              <a:rPr lang="en-US" altLang="zh-TW" dirty="0"/>
              <a:t> of the class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/>
              <a:t>Useful for "tracking"</a:t>
            </a:r>
          </a:p>
          <a:p>
            <a:pPr lvl="1" eaLnBrk="1" hangingPunct="1"/>
            <a:r>
              <a:rPr lang="en-US" altLang="zh-TW" dirty="0"/>
              <a:t>How often a member function is called</a:t>
            </a:r>
          </a:p>
          <a:p>
            <a:pPr lvl="1" eaLnBrk="1" hangingPunct="1"/>
            <a:r>
              <a:rPr lang="en-US" altLang="zh-TW" dirty="0"/>
              <a:t>How many objects exist at a given time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/>
              <a:t>Place keyword </a:t>
            </a:r>
            <a:r>
              <a:rPr lang="en-US" altLang="zh-TW" i="1" dirty="0">
                <a:solidFill>
                  <a:srgbClr val="FF0000"/>
                </a:solidFill>
              </a:rPr>
              <a:t>static</a:t>
            </a:r>
            <a:r>
              <a:rPr lang="en-US" altLang="zh-TW" dirty="0"/>
              <a:t> before type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7F603E-4204-BC32-F239-114D4B15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34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03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/>
              <a:t>Static vs. Nonstatic members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3429000" y="1447800"/>
            <a:ext cx="1066800" cy="1371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/>
              <a:t>class A</a:t>
            </a:r>
            <a:br>
              <a:rPr lang="en-US" altLang="zh-TW"/>
            </a:br>
            <a:r>
              <a:rPr lang="en-US" altLang="zh-TW"/>
              <a:t>{</a:t>
            </a:r>
            <a:br>
              <a:rPr lang="en-US" altLang="zh-TW"/>
            </a:br>
            <a:r>
              <a:rPr lang="en-US" altLang="zh-TW"/>
              <a:t>public:</a:t>
            </a:r>
            <a:br>
              <a:rPr lang="en-US" altLang="zh-TW"/>
            </a:br>
            <a:r>
              <a:rPr lang="en-US" altLang="zh-TW"/>
              <a:t>private:</a:t>
            </a:r>
            <a:br>
              <a:rPr lang="en-US" altLang="zh-TW"/>
            </a:br>
            <a:endParaRPr lang="en-US" altLang="zh-TW"/>
          </a:p>
        </p:txBody>
      </p:sp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3429000" y="2286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3429000" y="2819400"/>
            <a:ext cx="10668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/>
              <a:t>static</a:t>
            </a: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1066800" y="3581400"/>
            <a:ext cx="1066800" cy="1371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/>
              <a:t>A a1;</a:t>
            </a:r>
            <a:br>
              <a:rPr lang="en-US" altLang="zh-TW"/>
            </a:br>
            <a:br>
              <a:rPr lang="en-US" altLang="zh-TW"/>
            </a:br>
            <a:r>
              <a:rPr lang="en-US" altLang="zh-TW"/>
              <a:t>public:</a:t>
            </a:r>
            <a:br>
              <a:rPr lang="en-US" altLang="zh-TW"/>
            </a:br>
            <a:r>
              <a:rPr lang="en-US" altLang="zh-TW"/>
              <a:t>private:</a:t>
            </a:r>
            <a:br>
              <a:rPr lang="en-US" altLang="zh-TW"/>
            </a:br>
            <a:endParaRPr lang="en-US" altLang="zh-TW"/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>
            <a:off x="1066800" y="4419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6324600" y="3581400"/>
            <a:ext cx="1066800" cy="1371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/>
              <a:t>A an;</a:t>
            </a:r>
            <a:br>
              <a:rPr lang="en-US" altLang="zh-TW"/>
            </a:br>
            <a:br>
              <a:rPr lang="en-US" altLang="zh-TW"/>
            </a:br>
            <a:r>
              <a:rPr lang="en-US" altLang="zh-TW"/>
              <a:t>public:</a:t>
            </a:r>
            <a:br>
              <a:rPr lang="en-US" altLang="zh-TW"/>
            </a:br>
            <a:r>
              <a:rPr lang="en-US" altLang="zh-TW"/>
              <a:t>private:</a:t>
            </a:r>
            <a:br>
              <a:rPr lang="en-US" altLang="zh-TW"/>
            </a:br>
            <a:endParaRPr lang="en-US" altLang="zh-TW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auto">
          <a:xfrm>
            <a:off x="6324600" y="4419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1066800" y="4953000"/>
            <a:ext cx="10668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/>
              <a:t>static</a:t>
            </a:r>
          </a:p>
        </p:txBody>
      </p:sp>
      <p:sp>
        <p:nvSpPr>
          <p:cNvPr id="48139" name="Rectangle 11"/>
          <p:cNvSpPr>
            <a:spLocks noChangeArrowheads="1"/>
          </p:cNvSpPr>
          <p:nvPr/>
        </p:nvSpPr>
        <p:spPr bwMode="auto">
          <a:xfrm>
            <a:off x="6324600" y="4953000"/>
            <a:ext cx="10668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/>
              <a:t>static</a:t>
            </a:r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2286000" y="3581400"/>
            <a:ext cx="1066800" cy="1371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/>
              <a:t>A a2;</a:t>
            </a:r>
            <a:br>
              <a:rPr lang="en-US" altLang="zh-TW"/>
            </a:br>
            <a:br>
              <a:rPr lang="en-US" altLang="zh-TW"/>
            </a:br>
            <a:r>
              <a:rPr lang="en-US" altLang="zh-TW"/>
              <a:t>public:</a:t>
            </a:r>
            <a:br>
              <a:rPr lang="en-US" altLang="zh-TW"/>
            </a:br>
            <a:r>
              <a:rPr lang="en-US" altLang="zh-TW"/>
              <a:t>private:</a:t>
            </a:r>
            <a:br>
              <a:rPr lang="en-US" altLang="zh-TW"/>
            </a:br>
            <a:endParaRPr lang="en-US" altLang="zh-TW"/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>
            <a:off x="2286000" y="4419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2286000" y="4953000"/>
            <a:ext cx="10668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/>
              <a:t>static</a:t>
            </a:r>
          </a:p>
        </p:txBody>
      </p:sp>
      <p:sp>
        <p:nvSpPr>
          <p:cNvPr id="48143" name="Rectangle 15"/>
          <p:cNvSpPr>
            <a:spLocks noChangeArrowheads="1"/>
          </p:cNvSpPr>
          <p:nvPr/>
        </p:nvSpPr>
        <p:spPr bwMode="auto">
          <a:xfrm>
            <a:off x="914400" y="4876800"/>
            <a:ext cx="6705600" cy="45720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b="1">
                <a:solidFill>
                  <a:srgbClr val="FF0000"/>
                </a:solidFill>
              </a:rPr>
              <a:t>ONLY one copy</a:t>
            </a:r>
          </a:p>
        </p:txBody>
      </p:sp>
      <p:sp>
        <p:nvSpPr>
          <p:cNvPr id="48144" name="Line 16"/>
          <p:cNvSpPr>
            <a:spLocks noChangeShapeType="1"/>
          </p:cNvSpPr>
          <p:nvPr/>
        </p:nvSpPr>
        <p:spPr bwMode="auto">
          <a:xfrm flipH="1">
            <a:off x="1981200" y="2590800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48145" name="Line 17"/>
          <p:cNvSpPr>
            <a:spLocks noChangeShapeType="1"/>
          </p:cNvSpPr>
          <p:nvPr/>
        </p:nvSpPr>
        <p:spPr bwMode="auto">
          <a:xfrm flipH="1">
            <a:off x="2895600" y="2971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48146" name="Line 18"/>
          <p:cNvSpPr>
            <a:spLocks noChangeShapeType="1"/>
          </p:cNvSpPr>
          <p:nvPr/>
        </p:nvSpPr>
        <p:spPr bwMode="auto">
          <a:xfrm>
            <a:off x="4800600" y="24384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33A4F98-B9F4-F758-F3F8-930C5F91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35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482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Static Functions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368" y="1324355"/>
            <a:ext cx="8358832" cy="469663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Class member functions can be static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It cannot access the object’s non-static variable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It can only access the static data/function of the class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Non-static member function can also access static variables of the class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2800" dirty="0"/>
              <a:t>Then it can be called outside the class in two ways: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From non-class objects: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E.g., 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Server::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getTurn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();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As well as via class objects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Standard method: 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myObject.getTurn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2800" dirty="0"/>
              <a:t>Every static variable </a:t>
            </a:r>
            <a:r>
              <a:rPr lang="en-US" altLang="zh-TW" sz="2800" b="1" dirty="0"/>
              <a:t>must</a:t>
            </a:r>
            <a:r>
              <a:rPr lang="en-US" altLang="zh-TW" sz="2800" dirty="0"/>
              <a:t> be initialized outside the class definition – </a:t>
            </a:r>
            <a:r>
              <a:rPr lang="en-US" altLang="zh-TW" sz="2800" b="1" dirty="0"/>
              <a:t>only once!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E429C1D-B3D8-0763-FB46-359B7D54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36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95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/>
              <a:t>Example of Static Members</a:t>
            </a:r>
          </a:p>
        </p:txBody>
      </p:sp>
      <p:sp>
        <p:nvSpPr>
          <p:cNvPr id="5017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164972" y="1497484"/>
            <a:ext cx="4038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1600" dirty="0">
                <a:latin typeface="Courier" pitchFamily="2" charset="0"/>
              </a:rPr>
              <a:t>class Course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{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public: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Course()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{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  <a:t>    </a:t>
            </a:r>
            <a:r>
              <a:rPr lang="en-US" altLang="zh-TW" sz="1600" dirty="0" err="1">
                <a:solidFill>
                  <a:srgbClr val="0000FF"/>
                </a:solidFill>
                <a:latin typeface="Courier" pitchFamily="2" charset="0"/>
              </a:rPr>
              <a:t>num_courses</a:t>
            </a:r>
            <a: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  <a:t>++;</a:t>
            </a:r>
            <a:b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}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</a:t>
            </a:r>
            <a:r>
              <a:rPr lang="en-US" altLang="zh-TW" sz="1600" dirty="0">
                <a:solidFill>
                  <a:srgbClr val="FF0000"/>
                </a:solidFill>
                <a:latin typeface="Courier" pitchFamily="2" charset="0"/>
              </a:rPr>
              <a:t>static</a:t>
            </a:r>
            <a:r>
              <a:rPr lang="en-US" altLang="zh-TW" sz="1600" dirty="0">
                <a:latin typeface="Courier" pitchFamily="2" charset="0"/>
              </a:rPr>
              <a:t> </a:t>
            </a:r>
            <a:r>
              <a:rPr lang="en-US" altLang="zh-TW" sz="1600" dirty="0" err="1">
                <a:latin typeface="Courier" pitchFamily="2" charset="0"/>
              </a:rPr>
              <a:t>int</a:t>
            </a:r>
            <a:r>
              <a:rPr lang="en-US" altLang="zh-TW" sz="1600" dirty="0">
                <a:latin typeface="Courier" pitchFamily="2" charset="0"/>
              </a:rPr>
              <a:t> </a:t>
            </a:r>
            <a:r>
              <a:rPr lang="en-US" altLang="zh-TW" sz="1600" dirty="0" err="1">
                <a:latin typeface="Courier" pitchFamily="2" charset="0"/>
              </a:rPr>
              <a:t>getNumCourses</a:t>
            </a:r>
            <a:r>
              <a:rPr lang="en-US" altLang="zh-TW" sz="1600" dirty="0">
                <a:latin typeface="Courier" pitchFamily="2" charset="0"/>
              </a:rPr>
              <a:t>()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{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  return </a:t>
            </a:r>
            <a:r>
              <a:rPr lang="en-US" altLang="zh-TW" sz="1600" dirty="0" err="1">
                <a:solidFill>
                  <a:srgbClr val="0000FF"/>
                </a:solidFill>
                <a:latin typeface="Courier" pitchFamily="2" charset="0"/>
              </a:rPr>
              <a:t>num_courses</a:t>
            </a:r>
            <a:r>
              <a:rPr lang="en-US" altLang="zh-TW" sz="1600" dirty="0">
                <a:latin typeface="Courier" pitchFamily="2" charset="0"/>
              </a:rPr>
              <a:t>;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}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…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private: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</a:t>
            </a:r>
            <a:r>
              <a:rPr lang="en-US" altLang="zh-TW" sz="1600" dirty="0">
                <a:solidFill>
                  <a:srgbClr val="FF0000"/>
                </a:solidFill>
                <a:latin typeface="Courier" pitchFamily="2" charset="0"/>
              </a:rPr>
              <a:t>static</a:t>
            </a:r>
            <a:r>
              <a:rPr lang="en-US" altLang="zh-TW" sz="1600" dirty="0">
                <a:latin typeface="Courier" pitchFamily="2" charset="0"/>
              </a:rPr>
              <a:t> </a:t>
            </a:r>
            <a:r>
              <a:rPr lang="en-US" altLang="zh-TW" sz="1600" dirty="0" err="1">
                <a:latin typeface="Courier" pitchFamily="2" charset="0"/>
              </a:rPr>
              <a:t>int</a:t>
            </a:r>
            <a:r>
              <a:rPr lang="en-US" altLang="zh-TW" sz="1600" dirty="0">
                <a:latin typeface="Courier" pitchFamily="2" charset="0"/>
              </a:rPr>
              <a:t> </a:t>
            </a:r>
            <a:r>
              <a:rPr lang="en-US" altLang="zh-TW" sz="1600" dirty="0" err="1">
                <a:solidFill>
                  <a:srgbClr val="0000FF"/>
                </a:solidFill>
                <a:latin typeface="Courier" pitchFamily="2" charset="0"/>
              </a:rPr>
              <a:t>num_courses</a:t>
            </a:r>
            <a:r>
              <a:rPr lang="en-US" altLang="zh-TW" sz="1600" dirty="0">
                <a:latin typeface="Courier" pitchFamily="2" charset="0"/>
              </a:rPr>
              <a:t>; 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</a:t>
            </a:r>
            <a:r>
              <a:rPr lang="en-US" altLang="zh-TW" sz="1600" dirty="0" err="1">
                <a:latin typeface="Courier" pitchFamily="2" charset="0"/>
              </a:rPr>
              <a:t>int</a:t>
            </a:r>
            <a:r>
              <a:rPr lang="en-US" altLang="zh-TW" sz="1600" dirty="0">
                <a:latin typeface="Courier" pitchFamily="2" charset="0"/>
              </a:rPr>
              <a:t> </a:t>
            </a:r>
            <a:r>
              <a:rPr lang="en-US" altLang="zh-TW" sz="1600" dirty="0" err="1">
                <a:latin typeface="Courier" pitchFamily="2" charset="0"/>
              </a:rPr>
              <a:t>num_students</a:t>
            </a:r>
            <a:r>
              <a:rPr lang="en-US" altLang="zh-TW" sz="1600" dirty="0">
                <a:latin typeface="Courier" pitchFamily="2" charset="0"/>
              </a:rPr>
              <a:t>;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</a:t>
            </a:r>
            <a:r>
              <a:rPr lang="en-US" altLang="zh-TW" sz="1600" dirty="0" err="1">
                <a:latin typeface="Courier" pitchFamily="2" charset="0"/>
              </a:rPr>
              <a:t>int</a:t>
            </a:r>
            <a:r>
              <a:rPr lang="en-US" altLang="zh-TW" sz="1600" dirty="0">
                <a:latin typeface="Courier" pitchFamily="2" charset="0"/>
              </a:rPr>
              <a:t> ID;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… 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};</a:t>
            </a:r>
            <a:br>
              <a:rPr lang="en-US" altLang="zh-TW" sz="1600" dirty="0">
                <a:latin typeface="Courier" pitchFamily="2" charset="0"/>
              </a:rPr>
            </a:br>
            <a:endParaRPr lang="en-US" altLang="zh-TW" sz="1600" dirty="0">
              <a:latin typeface="Courier" pitchFamily="2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1600" dirty="0">
                <a:latin typeface="Courier" pitchFamily="2" charset="0"/>
              </a:rPr>
              <a:t>   int </a:t>
            </a:r>
            <a: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  <a:t>Course::</a:t>
            </a:r>
            <a:r>
              <a:rPr lang="en-US" altLang="zh-TW" sz="1600" dirty="0" err="1">
                <a:solidFill>
                  <a:srgbClr val="0000FF"/>
                </a:solidFill>
                <a:latin typeface="Courier" pitchFamily="2" charset="0"/>
              </a:rPr>
              <a:t>num_courses</a:t>
            </a:r>
            <a: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  <a:t> </a:t>
            </a:r>
            <a:r>
              <a:rPr lang="en-US" altLang="zh-TW" sz="1600" dirty="0">
                <a:latin typeface="Courier" pitchFamily="2" charset="0"/>
              </a:rPr>
              <a:t>= 0;</a:t>
            </a:r>
            <a:endParaRPr lang="en-US" altLang="zh-TW" sz="1800" dirty="0">
              <a:latin typeface="Courier" pitchFamily="2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1800" dirty="0"/>
              <a:t>       …</a:t>
            </a:r>
          </a:p>
        </p:txBody>
      </p:sp>
      <p:sp>
        <p:nvSpPr>
          <p:cNvPr id="50180" name="Rectangle 4"/>
          <p:cNvSpPr>
            <a:spLocks noGrp="1"/>
          </p:cNvSpPr>
          <p:nvPr>
            <p:ph type="body" sz="half" idx="4294967295"/>
          </p:nvPr>
        </p:nvSpPr>
        <p:spPr>
          <a:xfrm>
            <a:off x="4499992" y="1600200"/>
            <a:ext cx="4330824" cy="4525963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zh-TW" sz="1600" dirty="0" err="1">
                <a:latin typeface="Courier" pitchFamily="2" charset="0"/>
              </a:rPr>
              <a:t>int</a:t>
            </a:r>
            <a:r>
              <a:rPr lang="en-US" altLang="zh-TW" sz="1600" dirty="0">
                <a:latin typeface="Courier" pitchFamily="2" charset="0"/>
              </a:rPr>
              <a:t> main(void)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{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Course math, biology, physics;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…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</a:t>
            </a:r>
            <a:r>
              <a:rPr lang="en-US" altLang="zh-TW" sz="1600" dirty="0" err="1">
                <a:latin typeface="Courier" pitchFamily="2" charset="0"/>
              </a:rPr>
              <a:t>cout</a:t>
            </a:r>
            <a:r>
              <a:rPr lang="en-US" altLang="zh-TW" sz="1600" dirty="0">
                <a:latin typeface="Courier" pitchFamily="2" charset="0"/>
              </a:rPr>
              <a:t> &lt;&lt; “The number of courses are: ” &lt;&lt; </a:t>
            </a:r>
            <a: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  <a:t>Course::</a:t>
            </a:r>
            <a:r>
              <a:rPr lang="en-US" altLang="zh-TW" sz="1600" dirty="0" err="1">
                <a:solidFill>
                  <a:srgbClr val="0000FF"/>
                </a:solidFill>
                <a:latin typeface="Courier" pitchFamily="2" charset="0"/>
              </a:rPr>
              <a:t>getNumCourses</a:t>
            </a:r>
            <a:r>
              <a:rPr lang="en-US" altLang="zh-TW" sz="1600" dirty="0">
                <a:solidFill>
                  <a:srgbClr val="0000FF"/>
                </a:solidFill>
                <a:latin typeface="Courier" pitchFamily="2" charset="0"/>
              </a:rPr>
              <a:t>()</a:t>
            </a:r>
            <a:r>
              <a:rPr lang="en-US" altLang="zh-TW" sz="1600" dirty="0">
                <a:latin typeface="Courier" pitchFamily="2" charset="0"/>
              </a:rPr>
              <a:t>;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  …</a:t>
            </a:r>
            <a:br>
              <a:rPr lang="en-US" altLang="zh-TW" sz="1600" dirty="0">
                <a:latin typeface="Courier" pitchFamily="2" charset="0"/>
              </a:rPr>
            </a:br>
            <a:r>
              <a:rPr lang="en-US" altLang="zh-TW" sz="1600" dirty="0">
                <a:latin typeface="Courier" pitchFamily="2" charset="0"/>
              </a:rPr>
              <a:t>}</a:t>
            </a:r>
            <a:endParaRPr lang="en-US" altLang="zh-TW" sz="1800" dirty="0">
              <a:latin typeface="Courier" pitchFamily="2" charset="0"/>
            </a:endParaRPr>
          </a:p>
          <a:p>
            <a:pPr>
              <a:lnSpc>
                <a:spcPct val="80000"/>
              </a:lnSpc>
            </a:pPr>
            <a:endParaRPr lang="en-US" altLang="zh-TW" sz="1800" dirty="0"/>
          </a:p>
          <a:p>
            <a:pPr>
              <a:lnSpc>
                <a:spcPct val="80000"/>
              </a:lnSpc>
            </a:pPr>
            <a:endParaRPr lang="en-US" altLang="zh-TW" sz="1800" dirty="0"/>
          </a:p>
          <a:p>
            <a:pPr>
              <a:lnSpc>
                <a:spcPct val="80000"/>
              </a:lnSpc>
            </a:pPr>
            <a:endParaRPr lang="en-US" altLang="zh-TW" sz="1800" dirty="0"/>
          </a:p>
          <a:p>
            <a:pPr>
              <a:lnSpc>
                <a:spcPct val="80000"/>
              </a:lnSpc>
            </a:pPr>
            <a:endParaRPr lang="en-US" altLang="zh-TW" sz="1800" dirty="0"/>
          </a:p>
          <a:p>
            <a:pPr>
              <a:lnSpc>
                <a:spcPct val="8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Similar to global variables, but safer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4203572" y="1357544"/>
            <a:ext cx="0" cy="511256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FFABFA-65F2-C2BB-0C52-C5F0B38A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37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324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9464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Static Members Example: </a:t>
            </a:r>
            <a:br>
              <a:rPr lang="en-US" altLang="zh-TW" sz="3600" dirty="0"/>
            </a:br>
            <a:r>
              <a:rPr lang="en-US" altLang="zh-TW" sz="3600" b="1" dirty="0"/>
              <a:t>Display 7.6</a:t>
            </a:r>
            <a:r>
              <a:rPr lang="en-US" altLang="zh-TW" sz="3600" dirty="0"/>
              <a:t>  Static Members (1 of </a:t>
            </a:r>
            <a:r>
              <a:rPr lang="en-US" altLang="ko-KR" sz="3600" dirty="0"/>
              <a:t>3</a:t>
            </a:r>
            <a:r>
              <a:rPr lang="en-US" altLang="zh-TW" sz="36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CBFFC8-B2DC-2C48-8605-BCF05338D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94486"/>
            <a:ext cx="4673600" cy="529421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CE7D899-BA25-8044-8DFB-D20AF5534174}"/>
              </a:ext>
            </a:extLst>
          </p:cNvPr>
          <p:cNvSpPr/>
          <p:nvPr/>
        </p:nvSpPr>
        <p:spPr>
          <a:xfrm>
            <a:off x="1109647" y="5445562"/>
            <a:ext cx="3627453" cy="92983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A915F-D8B9-254F-8AD4-46792D15893C}"/>
              </a:ext>
            </a:extLst>
          </p:cNvPr>
          <p:cNvSpPr txBox="1"/>
          <p:nvPr/>
        </p:nvSpPr>
        <p:spPr>
          <a:xfrm>
            <a:off x="5660864" y="5575854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Initialization of static member variables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EC9D9C0-0DAE-6A48-950D-17789C5D966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737100" y="5899020"/>
            <a:ext cx="9237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778111-69E9-7DF7-0E83-4FC8F41F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38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740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9464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Static Members Example: </a:t>
            </a:r>
            <a:br>
              <a:rPr lang="en-US" altLang="zh-TW" sz="3600" dirty="0"/>
            </a:br>
            <a:r>
              <a:rPr lang="en-US" altLang="zh-TW" sz="3600" b="1" dirty="0"/>
              <a:t>Display 7.6</a:t>
            </a:r>
            <a:r>
              <a:rPr lang="en-US" altLang="zh-TW" sz="3600" dirty="0"/>
              <a:t>  Static Members (2 of </a:t>
            </a:r>
            <a:r>
              <a:rPr lang="en-US" altLang="ko-KR" sz="3600" dirty="0"/>
              <a:t>3</a:t>
            </a:r>
            <a:r>
              <a:rPr lang="en-US" altLang="zh-TW" sz="36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948BBB-7AF5-B843-8E01-A5247E8F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87" y="1490645"/>
            <a:ext cx="5643927" cy="466687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93C783-42C4-5D17-9AED-B8D7C025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39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83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9464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Static Members Example: </a:t>
            </a:r>
            <a:br>
              <a:rPr lang="en-US" altLang="zh-TW" sz="3600" dirty="0"/>
            </a:br>
            <a:r>
              <a:rPr lang="en-US" altLang="zh-TW" sz="3600" b="1" dirty="0"/>
              <a:t>Display 7.6</a:t>
            </a:r>
            <a:r>
              <a:rPr lang="en-US" altLang="zh-TW" sz="3600" dirty="0"/>
              <a:t>  Static Members (3 of </a:t>
            </a:r>
            <a:r>
              <a:rPr lang="en-US" altLang="ko-KR" sz="3600" dirty="0"/>
              <a:t>3</a:t>
            </a:r>
            <a:r>
              <a:rPr lang="en-US" altLang="zh-TW" sz="36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DE442C-08BA-0943-8163-538D7DD01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30223"/>
            <a:ext cx="4787898" cy="4759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F3939D9-1FDF-FB42-9886-5471FE6B5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897488"/>
            <a:ext cx="5715000" cy="42204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84BCC6-0128-B14B-8B86-20543083F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964" y="2784782"/>
            <a:ext cx="2952750" cy="297237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392EB77-FC87-42A9-C507-14FBEFF0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40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1553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Vectors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Vector Introduction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dirty="0"/>
              <a:t>Recall: arrays have fixed size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dirty="0"/>
              <a:t>Vectors: "</a:t>
            </a:r>
            <a:r>
              <a:rPr lang="en-US" altLang="zh-TW" dirty="0">
                <a:solidFill>
                  <a:srgbClr val="FF0000"/>
                </a:solidFill>
              </a:rPr>
              <a:t>arrays that can grow and shrink</a:t>
            </a:r>
            <a:r>
              <a:rPr lang="en-US" altLang="zh-TW" dirty="0"/>
              <a:t>"</a:t>
            </a:r>
          </a:p>
          <a:p>
            <a:pPr lvl="2" eaLnBrk="1" hangingPunct="1"/>
            <a:r>
              <a:rPr lang="en-US" altLang="zh-TW" dirty="0"/>
              <a:t>During program execution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dirty="0"/>
              <a:t>Formed from Standard Template Library (STL)</a:t>
            </a:r>
          </a:p>
          <a:p>
            <a:pPr lvl="2" eaLnBrk="1" hangingPunct="1"/>
            <a:r>
              <a:rPr lang="en-US" altLang="zh-TW" dirty="0"/>
              <a:t>It uses </a:t>
            </a:r>
            <a:r>
              <a:rPr lang="en-US" altLang="zh-TW" b="1" dirty="0"/>
              <a:t>class template</a:t>
            </a:r>
            <a:r>
              <a:rPr lang="en-US" altLang="zh-TW" dirty="0"/>
              <a:t> (we will study details in a later lecture)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896A20F-0EF3-2958-92D2-69D1AAD3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41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3975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Vector Basics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Similar to array: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Has a base type (can also be </a:t>
            </a:r>
            <a:r>
              <a:rPr lang="en-US" altLang="zh-TW" sz="2400" b="1" dirty="0"/>
              <a:t>class types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Stores collection of base type values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dirty="0"/>
              <a:t>Declared differently: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Syntax: 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vector&lt;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Base_Type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&gt;</a:t>
            </a:r>
            <a:endParaRPr lang="en-US" altLang="zh-TW" sz="2400" dirty="0">
              <a:solidFill>
                <a:srgbClr val="FF0000"/>
              </a:solidFill>
              <a:latin typeface="Courier" pitchFamily="2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Indicates class template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Any type can be "plugged in" to </a:t>
            </a:r>
            <a:r>
              <a:rPr lang="en-US" altLang="zh-TW" dirty="0" err="1"/>
              <a:t>Base_Type</a:t>
            </a:r>
            <a:endParaRPr lang="en-US" altLang="zh-TW" dirty="0"/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Produces a "new" class for vector with that </a:t>
            </a:r>
            <a:r>
              <a:rPr lang="en-US" altLang="zh-TW" dirty="0" err="1"/>
              <a:t>base_type</a:t>
            </a: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Example declaration: </a:t>
            </a:r>
            <a:r>
              <a:rPr lang="en-US" altLang="zh-TW" sz="2000" dirty="0">
                <a:solidFill>
                  <a:srgbClr val="0000FF"/>
                </a:solidFill>
                <a:latin typeface="Courier" pitchFamily="2" charset="0"/>
              </a:rPr>
              <a:t>vector&lt;int&gt; v;</a:t>
            </a:r>
            <a:endParaRPr lang="en-US" altLang="zh-TW" sz="2400" dirty="0">
              <a:solidFill>
                <a:srgbClr val="0000FF"/>
              </a:solidFill>
              <a:latin typeface="Courier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FDB1D5-E30C-ACA2-27C1-ADF2E56F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42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69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Vector Use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378992"/>
            <a:ext cx="8763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0000FF"/>
                </a:solidFill>
                <a:latin typeface="Courier" pitchFamily="2" charset="0"/>
              </a:rPr>
              <a:t>vector&lt;</a:t>
            </a:r>
            <a:r>
              <a:rPr lang="en-US" altLang="zh-TW" sz="2800" dirty="0" err="1">
                <a:solidFill>
                  <a:srgbClr val="0000FF"/>
                </a:solidFill>
                <a:latin typeface="Courier" pitchFamily="2" charset="0"/>
              </a:rPr>
              <a:t>int</a:t>
            </a:r>
            <a:r>
              <a:rPr lang="en-US" altLang="zh-TW" sz="2800" dirty="0">
                <a:solidFill>
                  <a:srgbClr val="0000FF"/>
                </a:solidFill>
                <a:latin typeface="Courier" pitchFamily="2" charset="0"/>
              </a:rPr>
              <a:t>&gt; v;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"v is vector of type </a:t>
            </a:r>
            <a:r>
              <a:rPr lang="en-US" altLang="zh-TW" sz="2400" dirty="0" err="1"/>
              <a:t>int</a:t>
            </a:r>
            <a:r>
              <a:rPr lang="en-US" altLang="zh-TW" sz="2400" dirty="0"/>
              <a:t>"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Calls a class default constructor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Empty vector object is created</a:t>
            </a:r>
          </a:p>
          <a:p>
            <a:pPr eaLnBrk="1" hangingPunct="1">
              <a:lnSpc>
                <a:spcPct val="90000"/>
              </a:lnSpc>
              <a:spcBef>
                <a:spcPts val="48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Elements are indexed just like arrays for access </a:t>
            </a:r>
          </a:p>
          <a:p>
            <a:pPr lvl="1">
              <a:lnSpc>
                <a:spcPct val="90000"/>
              </a:lnSpc>
              <a:spcBef>
                <a:spcPts val="480"/>
              </a:spcBef>
            </a:pPr>
            <a:r>
              <a:rPr lang="en-US" altLang="zh-TW" dirty="0">
                <a:solidFill>
                  <a:srgbClr val="FF0000"/>
                </a:solidFill>
              </a:rPr>
              <a:t>E.g.) 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v[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]=42, 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cout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 &lt;&lt; v[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]; </a:t>
            </a:r>
          </a:p>
          <a:p>
            <a:pPr lvl="1">
              <a:lnSpc>
                <a:spcPct val="90000"/>
              </a:lnSpc>
              <a:spcBef>
                <a:spcPts val="480"/>
              </a:spcBef>
            </a:pPr>
            <a:r>
              <a:rPr lang="en-US" altLang="zh-TW" dirty="0">
                <a:solidFill>
                  <a:srgbClr val="FF0000"/>
                </a:solidFill>
                <a:latin typeface="Gill Sans MT" panose="020B0502020104020203" pitchFamily="34" charset="0"/>
              </a:rPr>
              <a:t>One restriction: 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v[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] </a:t>
            </a:r>
            <a:r>
              <a:rPr lang="en-US" altLang="zh-TW" dirty="0">
                <a:solidFill>
                  <a:srgbClr val="FF0000"/>
                </a:solidFill>
                <a:latin typeface="Gill Sans MT" panose="020B0502020104020203" pitchFamily="34" charset="0"/>
              </a:rPr>
              <a:t>notation is used to change the value that has already been given some value</a:t>
            </a:r>
            <a:endParaRPr lang="en-US" altLang="zh-TW" dirty="0">
              <a:solidFill>
                <a:srgbClr val="FF0000"/>
              </a:solidFill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ts val="480"/>
              </a:spcBef>
            </a:pPr>
            <a:r>
              <a:rPr lang="en-US" altLang="zh-TW" sz="2800" dirty="0"/>
              <a:t>To add new elements:</a:t>
            </a:r>
          </a:p>
          <a:p>
            <a:pPr lvl="1" eaLnBrk="1" hangingPunct="1">
              <a:lnSpc>
                <a:spcPct val="90000"/>
              </a:lnSpc>
              <a:spcBef>
                <a:spcPts val="480"/>
              </a:spcBef>
            </a:pPr>
            <a:r>
              <a:rPr lang="en-US" altLang="zh-TW" sz="2400" dirty="0">
                <a:solidFill>
                  <a:srgbClr val="FF0000"/>
                </a:solidFill>
              </a:rPr>
              <a:t>Call member function </a:t>
            </a:r>
            <a:r>
              <a:rPr lang="en-US" altLang="zh-TW" sz="2000" dirty="0" err="1">
                <a:solidFill>
                  <a:srgbClr val="FF0000"/>
                </a:solidFill>
                <a:latin typeface="Courier" pitchFamily="2" charset="0"/>
              </a:rPr>
              <a:t>push_back</a:t>
            </a:r>
            <a:r>
              <a:rPr lang="en-US" altLang="zh-TW" sz="2000" dirty="0">
                <a:solidFill>
                  <a:srgbClr val="FF0000"/>
                </a:solidFill>
                <a:latin typeface="Courier" pitchFamily="2" charset="0"/>
              </a:rPr>
              <a:t>()</a:t>
            </a:r>
            <a:endParaRPr lang="en-US" altLang="zh-TW" sz="2400" dirty="0">
              <a:solidFill>
                <a:srgbClr val="FF0000"/>
              </a:solidFill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ts val="480"/>
              </a:spcBef>
            </a:pPr>
            <a:r>
              <a:rPr lang="en-US" altLang="zh-TW" sz="2800" dirty="0"/>
              <a:t>Member function </a:t>
            </a:r>
            <a:r>
              <a:rPr lang="en-US" altLang="zh-TW" sz="2400" dirty="0">
                <a:solidFill>
                  <a:srgbClr val="FF0000"/>
                </a:solidFill>
                <a:latin typeface="Courier" pitchFamily="2" charset="0"/>
              </a:rPr>
              <a:t>size()</a:t>
            </a:r>
            <a:endParaRPr lang="en-US" altLang="zh-TW" sz="2800" dirty="0">
              <a:solidFill>
                <a:srgbClr val="FF0000"/>
              </a:solidFill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  <a:spcBef>
                <a:spcPts val="480"/>
              </a:spcBef>
            </a:pPr>
            <a:r>
              <a:rPr lang="en-US" altLang="zh-TW" sz="2400" dirty="0"/>
              <a:t>Returns the current number of elements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C1414F-EDD9-2F4B-BAE6-AD8997A35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4558755"/>
            <a:ext cx="2857500" cy="1181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757FB6-E695-66D2-3246-F99C12FB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43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451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Vector Use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378992"/>
            <a:ext cx="8763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latin typeface="Gill Sans MT" panose="020B0502020104020203" pitchFamily="34" charset="0"/>
              </a:rPr>
              <a:t>Constructor call for vector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latin typeface="Courier" pitchFamily="2" charset="0"/>
              </a:rPr>
              <a:t> vector&lt;int&gt; v(10);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latin typeface="Gill Sans MT" panose="020B0502020104020203" pitchFamily="34" charset="0"/>
              </a:rPr>
              <a:t>Will initialize the vector of size 10 (with zeros)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latin typeface="Gill Sans MT" panose="020B0502020104020203" pitchFamily="34" charset="0"/>
              </a:rPr>
              <a:t>When the base type is a class type, the default constructor will be used. </a:t>
            </a:r>
            <a:br>
              <a:rPr lang="en-US" altLang="zh-TW" dirty="0">
                <a:latin typeface="Gill Sans MT" panose="020B0502020104020203" pitchFamily="34" charset="0"/>
              </a:rPr>
            </a:br>
            <a:endParaRPr lang="en-US" altLang="zh-TW" sz="2400" dirty="0">
              <a:latin typeface="Gill Sans MT" panose="020B05020201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50E9C6-F05F-B129-395E-E57334F0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44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543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Vector Example: </a:t>
            </a:r>
            <a:br>
              <a:rPr lang="en-US" altLang="zh-TW" sz="3600" dirty="0"/>
            </a:br>
            <a:r>
              <a:rPr lang="en-US" altLang="zh-TW" sz="3600" b="1" dirty="0"/>
              <a:t>Display 7.7  </a:t>
            </a:r>
            <a:r>
              <a:rPr lang="en-US" altLang="zh-TW" sz="3600" dirty="0"/>
              <a:t>Using a Vector (1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3A983B-43B4-3B49-8C2C-DBEDECFA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580650"/>
            <a:ext cx="7023100" cy="46101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7D062-88E2-5F60-DF28-42D80C93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45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735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31640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Vector Example: </a:t>
            </a:r>
            <a:br>
              <a:rPr lang="en-US" altLang="zh-TW" sz="3600" dirty="0"/>
            </a:br>
            <a:r>
              <a:rPr lang="en-US" altLang="zh-TW" sz="3600" b="1" dirty="0"/>
              <a:t>Display 7.7  </a:t>
            </a:r>
            <a:r>
              <a:rPr lang="en-US" altLang="zh-TW" sz="3600" dirty="0"/>
              <a:t>Using a Vector (2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70EFFA-8E3D-1941-B3EB-65EC17324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1616256"/>
            <a:ext cx="6724650" cy="463566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7F24E-E9FC-D4CA-83A2-B86D58DB5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46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7055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Summary 1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Constructors: automatic initialization of </a:t>
            </a:r>
            <a:br>
              <a:rPr lang="en-US" altLang="zh-TW" sz="2800"/>
            </a:br>
            <a:r>
              <a:rPr lang="en-US" altLang="zh-TW" sz="2800"/>
              <a:t>class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Called when objects are declared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Constructor has same name as class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/>
              <a:t>Default constructor has no parameters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Should always be defined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/>
              <a:t>Class member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Can be objects of other classes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/>
              <a:t>Require initialization-section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36E9619-8772-711F-726E-BA4190B3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47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92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Summary 2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Constant call-by-reference parameters</a:t>
            </a:r>
          </a:p>
          <a:p>
            <a:pPr lvl="1" eaLnBrk="1" hangingPunct="1"/>
            <a:r>
              <a:rPr lang="en-US" altLang="zh-TW" sz="2400"/>
              <a:t>More efficient than call-by-value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/>
              <a:t>Can </a:t>
            </a:r>
            <a:r>
              <a:rPr lang="en-US" altLang="zh-TW" sz="2800" i="1"/>
              <a:t>inline</a:t>
            </a:r>
            <a:r>
              <a:rPr lang="en-US" altLang="zh-TW" sz="2800"/>
              <a:t> very short function definitions</a:t>
            </a:r>
          </a:p>
          <a:p>
            <a:pPr lvl="1" eaLnBrk="1" hangingPunct="1"/>
            <a:r>
              <a:rPr lang="en-US" altLang="zh-TW" sz="2400"/>
              <a:t>Can improve efficiency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/>
              <a:t>Static member variables</a:t>
            </a:r>
          </a:p>
          <a:p>
            <a:pPr lvl="1" eaLnBrk="1" hangingPunct="1"/>
            <a:r>
              <a:rPr lang="en-US" altLang="zh-TW" sz="2400"/>
              <a:t>Shared by all objects of a class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/>
              <a:t>Vector classes</a:t>
            </a:r>
          </a:p>
          <a:p>
            <a:pPr lvl="1" eaLnBrk="1" hangingPunct="1"/>
            <a:r>
              <a:rPr lang="en-US" altLang="zh-TW" sz="2400"/>
              <a:t>Like: "arrays that grow and shrink"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04A0E5-DE17-4F67-4E1A-8C0C4896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48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810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9976" y="2632259"/>
            <a:ext cx="8704579" cy="1139125"/>
          </a:xfrm>
        </p:spPr>
        <p:txBody>
          <a:bodyPr/>
          <a:lstStyle/>
          <a:p>
            <a:r>
              <a:rPr kumimoji="1" lang="en-US" altLang="ko-KR" dirty="0"/>
              <a:t>Thank you!</a:t>
            </a:r>
            <a:endParaRPr kumimoji="1" lang="ko-KR" altLang="en-US" dirty="0"/>
          </a:p>
        </p:txBody>
      </p:sp>
      <p:sp>
        <p:nvSpPr>
          <p:cNvPr id="5" name="텍스트 상자 4"/>
          <p:cNvSpPr txBox="1"/>
          <p:nvPr/>
        </p:nvSpPr>
        <p:spPr>
          <a:xfrm>
            <a:off x="2190492" y="4067948"/>
            <a:ext cx="4784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Web: </a:t>
            </a:r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  <a:hlinkClick r:id="rId3"/>
              </a:rPr>
              <a:t>http://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3"/>
              </a:rPr>
              <a:t>mindlab-snu.github.io</a:t>
            </a:r>
            <a:endParaRPr kumimoji="1" lang="en-US" altLang="ko-KR" sz="2400" dirty="0">
              <a:latin typeface="Gill Sans MT" charset="0"/>
              <a:ea typeface="Gill Sans MT" charset="0"/>
              <a:cs typeface="Gill Sans MT" charset="0"/>
            </a:endParaRPr>
          </a:p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E-mail: 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4"/>
              </a:rPr>
              <a:t>tsmoon@snu.ac.kr</a:t>
            </a:r>
            <a:endParaRPr kumimoji="1" lang="ko-KR" altLang="en-US" sz="2400" dirty="0">
              <a:latin typeface="Gill Sans MT" charset="0"/>
              <a:ea typeface="Gill Sans MT" charset="0"/>
              <a:cs typeface="Gill Sans MT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574895-B0BD-6175-F4B9-5776ED5F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49</a:t>
            </a:fld>
            <a:r>
              <a:rPr lang="en-US"/>
              <a:t> / </a:t>
            </a:r>
            <a:r>
              <a:rPr lang="en-US" altLang="ko-KR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3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362048</TotalTime>
  <Words>2022</Words>
  <Application>Microsoft Macintosh PowerPoint</Application>
  <PresentationFormat>화면 슬라이드 쇼(4:3)</PresentationFormat>
  <Paragraphs>397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7" baseType="lpstr">
      <vt:lpstr>Times</vt:lpstr>
      <vt:lpstr>Arial</vt:lpstr>
      <vt:lpstr>Calibri</vt:lpstr>
      <vt:lpstr>Courier</vt:lpstr>
      <vt:lpstr>Courier New</vt:lpstr>
      <vt:lpstr>Gill Sans MT</vt:lpstr>
      <vt:lpstr>Wingdings</vt:lpstr>
      <vt:lpstr>Office Theme</vt:lpstr>
      <vt:lpstr>430.211 Programming Methodology (프로그래밍 방법론)</vt:lpstr>
      <vt:lpstr>Outline</vt:lpstr>
      <vt:lpstr>Ch 7. Constructors and Other Tools Learning Objectives</vt:lpstr>
      <vt:lpstr>Constructors</vt:lpstr>
      <vt:lpstr>Outline</vt:lpstr>
      <vt:lpstr>Constructor Definitions</vt:lpstr>
      <vt:lpstr>Constructor Note</vt:lpstr>
      <vt:lpstr>Calling Constructors</vt:lpstr>
      <vt:lpstr>Conceptual Equivalency of Constructors</vt:lpstr>
      <vt:lpstr>Constructor Definition</vt:lpstr>
      <vt:lpstr>Alternative Definition</vt:lpstr>
      <vt:lpstr>Additional Purpose of Constructors</vt:lpstr>
      <vt:lpstr>Overloaded Constructors</vt:lpstr>
      <vt:lpstr>Class with Constructors Example:  Display 7.1  Class with Constructors (1 of 3)</vt:lpstr>
      <vt:lpstr>Class with Constructors Example:  Display 7.1  Class with Constructors (2 of 3)</vt:lpstr>
      <vt:lpstr>Class with Constructors Example:  Display 7.1  Class with Constructors (3 of 3)</vt:lpstr>
      <vt:lpstr>Explicit Constructor Calls</vt:lpstr>
      <vt:lpstr>Default Constructors</vt:lpstr>
      <vt:lpstr>See Display 7.2</vt:lpstr>
      <vt:lpstr>Class Type Member Variables</vt:lpstr>
      <vt:lpstr>Class Member Variable Example:  Display 7.3  A Class Member Variable (1 of 4)</vt:lpstr>
      <vt:lpstr>Class Member Variable Example:  Display 7.3  A Class Member Variable (2 of 4)</vt:lpstr>
      <vt:lpstr>Class Member Variable Example:  Display 7.3  A Class Member Variable (3 of 4)</vt:lpstr>
      <vt:lpstr>Class Member Variable Example:  Display 7.3  A Class Member Variable (4 of 4)</vt:lpstr>
      <vt:lpstr>Outline</vt:lpstr>
      <vt:lpstr>Parameter Passing Methods</vt:lpstr>
      <vt:lpstr>The const Parameter Modifier</vt:lpstr>
      <vt:lpstr>The const Parameter Modifier</vt:lpstr>
      <vt:lpstr>const Modifier for Functions</vt:lpstr>
      <vt:lpstr>[Pitfall] Inconsistent use of const</vt:lpstr>
      <vt:lpstr>Three Uses of const</vt:lpstr>
      <vt:lpstr>Inline Member Functions</vt:lpstr>
      <vt:lpstr>Example of Inline Member Function</vt:lpstr>
      <vt:lpstr>Static Members</vt:lpstr>
      <vt:lpstr>Static vs. Nonstatic members</vt:lpstr>
      <vt:lpstr>Static Functions</vt:lpstr>
      <vt:lpstr>Example of Static Members</vt:lpstr>
      <vt:lpstr>Static Members Example:  Display 7.6  Static Members (1 of 3)</vt:lpstr>
      <vt:lpstr>Static Members Example:  Display 7.6  Static Members (2 of 3)</vt:lpstr>
      <vt:lpstr>Static Members Example:  Display 7.6  Static Members (3 of 3)</vt:lpstr>
      <vt:lpstr>Vectors</vt:lpstr>
      <vt:lpstr>Vector Basics</vt:lpstr>
      <vt:lpstr>Vector Use</vt:lpstr>
      <vt:lpstr>Vector Use</vt:lpstr>
      <vt:lpstr>Vector Example:  Display 7.7  Using a Vector (1 of 2)</vt:lpstr>
      <vt:lpstr>Vector Example:  Display 7.7  Using a Vector (2 of 2)</vt:lpstr>
      <vt:lpstr>Summary 1</vt:lpstr>
      <vt:lpstr>Summary 2</vt:lpstr>
      <vt:lpstr>Thank you!</vt:lpstr>
    </vt:vector>
  </TitlesOfParts>
  <Company>Yahoo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methods for computer science and software engineering</dc:title>
  <dc:creator>Yahoo</dc:creator>
  <cp:lastModifiedBy>문태섭</cp:lastModifiedBy>
  <cp:revision>2501</cp:revision>
  <cp:lastPrinted>2018-06-23T17:58:32Z</cp:lastPrinted>
  <dcterms:created xsi:type="dcterms:W3CDTF">2011-10-29T09:19:52Z</dcterms:created>
  <dcterms:modified xsi:type="dcterms:W3CDTF">2024-04-07T07:38:41Z</dcterms:modified>
</cp:coreProperties>
</file>