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9" r:id="rId1"/>
  </p:sldMasterIdLst>
  <p:notesMasterIdLst>
    <p:notesMasterId r:id="rId53"/>
  </p:notesMasterIdLst>
  <p:handoutMasterIdLst>
    <p:handoutMasterId r:id="rId54"/>
  </p:handoutMasterIdLst>
  <p:sldIdLst>
    <p:sldId id="1556" r:id="rId2"/>
    <p:sldId id="1433" r:id="rId3"/>
    <p:sldId id="1447" r:id="rId4"/>
    <p:sldId id="531" r:id="rId5"/>
    <p:sldId id="532" r:id="rId6"/>
    <p:sldId id="533" r:id="rId7"/>
    <p:sldId id="534" r:id="rId8"/>
    <p:sldId id="535" r:id="rId9"/>
    <p:sldId id="540" r:id="rId10"/>
    <p:sldId id="541" r:id="rId11"/>
    <p:sldId id="1448" r:id="rId12"/>
    <p:sldId id="536" r:id="rId13"/>
    <p:sldId id="537" r:id="rId14"/>
    <p:sldId id="538" r:id="rId15"/>
    <p:sldId id="539" r:id="rId16"/>
    <p:sldId id="542" r:id="rId17"/>
    <p:sldId id="1456" r:id="rId18"/>
    <p:sldId id="1457" r:id="rId19"/>
    <p:sldId id="1458" r:id="rId20"/>
    <p:sldId id="543" r:id="rId21"/>
    <p:sldId id="1449" r:id="rId22"/>
    <p:sldId id="544" r:id="rId23"/>
    <p:sldId id="545" r:id="rId24"/>
    <p:sldId id="546" r:id="rId25"/>
    <p:sldId id="547" r:id="rId26"/>
    <p:sldId id="548" r:id="rId27"/>
    <p:sldId id="549" r:id="rId28"/>
    <p:sldId id="550" r:id="rId29"/>
    <p:sldId id="551" r:id="rId30"/>
    <p:sldId id="552" r:id="rId31"/>
    <p:sldId id="555" r:id="rId32"/>
    <p:sldId id="556" r:id="rId33"/>
    <p:sldId id="557" r:id="rId34"/>
    <p:sldId id="1450" r:id="rId35"/>
    <p:sldId id="560" r:id="rId36"/>
    <p:sldId id="561" r:id="rId37"/>
    <p:sldId id="283" r:id="rId38"/>
    <p:sldId id="285" r:id="rId39"/>
    <p:sldId id="284" r:id="rId40"/>
    <p:sldId id="566" r:id="rId41"/>
    <p:sldId id="1451" r:id="rId42"/>
    <p:sldId id="1452" r:id="rId43"/>
    <p:sldId id="1453" r:id="rId44"/>
    <p:sldId id="1459" r:id="rId45"/>
    <p:sldId id="564" r:id="rId46"/>
    <p:sldId id="563" r:id="rId47"/>
    <p:sldId id="572" r:id="rId48"/>
    <p:sldId id="1455" r:id="rId49"/>
    <p:sldId id="573" r:id="rId50"/>
    <p:sldId id="574" r:id="rId51"/>
    <p:sldId id="1599" r:id="rId52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EA"/>
    <a:srgbClr val="9A0201"/>
    <a:srgbClr val="C9DDFB"/>
    <a:srgbClr val="D6DCE5"/>
    <a:srgbClr val="DBEFF2"/>
    <a:srgbClr val="BED7EE"/>
    <a:srgbClr val="EFEDE1"/>
    <a:srgbClr val="C9DCFA"/>
    <a:srgbClr val="B10000"/>
    <a:srgbClr val="0000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51"/>
    <p:restoredTop sz="95374" autoAdjust="0"/>
  </p:normalViewPr>
  <p:slideViewPr>
    <p:cSldViewPr snapToGrid="0" snapToObjects="1">
      <p:cViewPr varScale="1">
        <p:scale>
          <a:sx n="122" d="100"/>
          <a:sy n="122" d="100"/>
        </p:scale>
        <p:origin x="211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54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18" d="100"/>
          <a:sy n="118" d="100"/>
        </p:scale>
        <p:origin x="340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7F55E73-1F85-FF4B-84BB-0F26D23E35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56171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3B4573-DC42-814A-AA19-DDDB4F35D741}" type="datetime1">
              <a:rPr lang="en-US" smtClean="0"/>
              <a:t>4/7/24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502AA77-C507-8DFB-4048-9AEF6B218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2138A0-E337-BE4F-93FC-743A1316561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980804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CC2355E-BEA1-9643-A7F8-09D95B04909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19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C2355E-BEA1-9643-A7F8-09D95B04909E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010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C2355E-BEA1-9643-A7F8-09D95B04909E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329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19D0BB2-C019-4F13-818B-B24614B5A15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28324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D73C72D-F7A1-4CF8-A403-AAFB6FE61D8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0056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C0B5AF2-0622-4EE6-B462-47949CF7958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5710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47466ED-A873-432E-A22B-4995565A870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01246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F7A7753-684F-4F35-A37A-695A236C42C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74744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FB6A65E-9028-4091-A595-C67B5890719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1550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F358C6C-9373-434B-ADF2-4B9419002B7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00404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27501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81C05CC-5261-4C81-A879-39D64263127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4384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5D4C3D4-285C-4842-90A0-767E9BA9246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29878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67972C3-1331-47B7-991D-DEF1C4BF6E9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75152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2B5AFF0-7B30-4507-91ED-7883F51B009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51315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64226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46912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37360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23137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8476A9B-53F0-4B12-9932-99119E4BE74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10188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C2355E-BEA1-9643-A7F8-09D95B04909E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5817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0ED05E3-2639-4694-A901-A7C0819AA44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735412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25AA6DF-0A80-4FA9-A43B-FB2866EDB69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473846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7B3F386-D9BF-4FE5-8FE9-1C698880447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29840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15AEBAA-FE4C-40F2-95C5-687C270975E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68600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E4D861-7596-4807-A3AC-A354B55B949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93812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1F2E303-230B-4634-8ABF-6D4167B6536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76512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9F4689D-C8EC-4DC6-91F7-C185B7C1AA3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80598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8C8616D-F86F-47E5-BC98-93EEBFF8D2C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98455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E69E80E-D79F-4F82-8020-BEDE8242C61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22249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32DF7F9-4B1F-4EC3-AE5D-5D5142A867C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50403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820E384-C802-4250-9BD1-A5DFF529AF1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60356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34529A6-A02C-4A91-A947-B0D7D06D69B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94516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820E384-C802-4250-9BD1-A5DFF529AF1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585130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BA7ADD5-EDC3-47DD-AD37-F71A7C49A4D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2144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A1C07AA-B6D6-4BE0-81E1-5C958675B91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998860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C58F992-F993-4BD6-8E44-9AC1C0D4381B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21356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C58F992-F993-4BD6-8E44-9AC1C0D4381B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4875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C58F992-F993-4BD6-8E44-9AC1C0D4381B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4671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C58F992-F993-4BD6-8E44-9AC1C0D4381B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3438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AD86777-78AF-4DF6-8547-9C199FD7F01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828260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277BD40-FCD8-4D9A-A35C-726517071D8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34919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AD86777-78AF-4DF6-8547-9C199FD7F01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253360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EAFD72F-2319-4DB8-84CE-5F15762E30A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848551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EAFD72F-2319-4DB8-84CE-5F15762E30A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851982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0A9D758-9956-4C5A-8510-BBB715ED1D3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146117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6EBE60C-92BD-4623-A0D9-E4622896FAB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513887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C2355E-BEA1-9643-A7F8-09D95B04909E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028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034143"/>
            <a:ext cx="9144000" cy="2133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97828"/>
            <a:ext cx="6400800" cy="1240971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76E2D5B-B408-7A89-06C0-51960A39F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201" y="6150997"/>
            <a:ext cx="1676400" cy="63630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94CF284-BD79-E439-BEF7-156B5950CD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31491" y="6150997"/>
            <a:ext cx="636308" cy="63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767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3999" cy="1192191"/>
          </a:xfrm>
          <a:solidFill>
            <a:srgbClr val="9A0201"/>
          </a:solidFill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800"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Gill Sans MT" charset="0"/>
                <a:ea typeface="Gill Sans MT" charset="0"/>
                <a:cs typeface="Gill Sans MT" charset="0"/>
              </a:defRPr>
            </a:lvl1pPr>
            <a:lvl2pPr>
              <a:defRPr sz="2400">
                <a:latin typeface="Gill Sans MT" charset="0"/>
                <a:ea typeface="Gill Sans MT" charset="0"/>
                <a:cs typeface="Gill Sans MT" charset="0"/>
              </a:defRPr>
            </a:lvl2pPr>
            <a:lvl3pPr marL="1143000" indent="-228600">
              <a:buFont typeface="Wingdings" pitchFamily="2" charset="2"/>
              <a:buChar char="§"/>
              <a:defRPr sz="2000">
                <a:latin typeface="Gill Sans MT" charset="0"/>
                <a:ea typeface="Gill Sans MT" charset="0"/>
                <a:cs typeface="Gill Sans MT" charset="0"/>
              </a:defRPr>
            </a:lvl3pPr>
            <a:lvl4pPr marL="1600200" indent="-228600">
              <a:buFont typeface="Courier New" panose="02070309020205020404" pitchFamily="49" charset="0"/>
              <a:buChar char="o"/>
              <a:defRPr sz="1800">
                <a:latin typeface="Gill Sans MT" charset="0"/>
                <a:ea typeface="Gill Sans MT" charset="0"/>
                <a:cs typeface="Gill Sans MT" charset="0"/>
              </a:defRPr>
            </a:lvl4pPr>
            <a:lvl5pPr>
              <a:defRPr sz="1800"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‹#›</a:t>
            </a:fld>
            <a:r>
              <a:rPr lang="en-US" dirty="0"/>
              <a:t> / 51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FB762F1-D8D6-093B-0CF5-AE191AD430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" y="6278925"/>
            <a:ext cx="1483360" cy="53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6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5348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709058"/>
            <a:ext cx="4343400" cy="4593771"/>
          </a:xfrm>
          <a:ln>
            <a:solidFill>
              <a:schemeClr val="accent2">
                <a:lumMod val="75000"/>
              </a:schemeClr>
            </a:solidFill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09058"/>
            <a:ext cx="4343400" cy="4593771"/>
          </a:xfrm>
          <a:ln>
            <a:solidFill>
              <a:schemeClr val="accent2">
                <a:lumMod val="75000"/>
              </a:schemeClr>
            </a:solidFill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95472958-A9FB-3BD2-D1E4-7E6AC90A16EA}"/>
              </a:ext>
            </a:extLst>
          </p:cNvPr>
          <p:cNvSpPr/>
          <p:nvPr userDrawn="1"/>
        </p:nvSpPr>
        <p:spPr>
          <a:xfrm>
            <a:off x="500743" y="1338941"/>
            <a:ext cx="3668485" cy="39188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2000" dirty="0">
                <a:solidFill>
                  <a:schemeClr val="tx1"/>
                </a:solidFill>
                <a:latin typeface="Gill Sans MT" panose="020B0502020104020203" pitchFamily="34" charset="0"/>
              </a:rPr>
              <a:t>Sub-Title</a:t>
            </a:r>
            <a:endParaRPr kumimoji="1" lang="ko-Kore-KR" altLang="en-US" sz="200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8287BCF0-970A-D618-D1A3-805015060886}"/>
              </a:ext>
            </a:extLst>
          </p:cNvPr>
          <p:cNvSpPr/>
          <p:nvPr userDrawn="1"/>
        </p:nvSpPr>
        <p:spPr>
          <a:xfrm>
            <a:off x="4974772" y="1338941"/>
            <a:ext cx="3668485" cy="39188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2000" dirty="0">
                <a:solidFill>
                  <a:schemeClr val="tx1"/>
                </a:solidFill>
                <a:latin typeface="Gill Sans MT" panose="020B0502020104020203" pitchFamily="34" charset="0"/>
              </a:rPr>
              <a:t>Sub-Title</a:t>
            </a:r>
            <a:endParaRPr kumimoji="1" lang="ko-Kore-KR" altLang="en-US" sz="200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933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2877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CF38AF0-7033-7594-3782-295E4B14DD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" y="6278925"/>
            <a:ext cx="1483360" cy="53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354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3330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135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5084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04779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3999" cy="1238491"/>
          </a:xfrm>
          <a:prstGeom prst="rect">
            <a:avLst/>
          </a:prstGeom>
          <a:solidFill>
            <a:srgbClr val="9A020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3927" y="1387098"/>
            <a:ext cx="8704579" cy="47390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75314" y="648870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/>
                </a:solidFill>
              </a:defRPr>
            </a:lvl1pPr>
          </a:lstStyle>
          <a:p>
            <a:fld id="{06C8BE47-A309-A04A-8ACD-5472A992E3BA}" type="slidenum">
              <a:rPr lang="en-US" smtClean="0"/>
              <a:pPr/>
              <a:t>‹#›</a:t>
            </a:fld>
            <a:r>
              <a:rPr lang="en-US" dirty="0"/>
              <a:t> / 51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CC1FA9-D088-05FB-E2A6-D45FC1627490}"/>
              </a:ext>
            </a:extLst>
          </p:cNvPr>
          <p:cNvSpPr txBox="1"/>
          <p:nvPr userDrawn="1"/>
        </p:nvSpPr>
        <p:spPr>
          <a:xfrm>
            <a:off x="3272011" y="6550223"/>
            <a:ext cx="2908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en-US" sz="1400" dirty="0">
                <a:solidFill>
                  <a:schemeClr val="bg1">
                    <a:lumMod val="65000"/>
                  </a:schemeClr>
                </a:solidFill>
              </a:rPr>
              <a:t>Programming Methodology</a:t>
            </a:r>
            <a:endParaRPr kumimoji="1" lang="ko-Kore-KR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462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7" r:id="rId7"/>
    <p:sldLayoutId id="2147483738" r:id="rId8"/>
    <p:sldLayoutId id="2147483739" r:id="rId9"/>
    <p:sldLayoutId id="2147483740" r:id="rId10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lang="en-US" sz="3800" kern="1200">
          <a:solidFill>
            <a:schemeClr val="bg1"/>
          </a:solidFill>
          <a:latin typeface="Gill Sans MT" charset="0"/>
          <a:ea typeface="Gill Sans MT" charset="0"/>
          <a:cs typeface="Gill Sans MT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Gill Sans MT" charset="0"/>
          <a:ea typeface="Gill Sans MT" charset="0"/>
          <a:cs typeface="Gill Sans MT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Gill Sans MT" charset="0"/>
          <a:ea typeface="Gill Sans MT" charset="0"/>
          <a:cs typeface="Gill Sans MT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Gill Sans MT" charset="0"/>
          <a:ea typeface="Gill Sans MT" charset="0"/>
          <a:cs typeface="Gill Sans MT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ill Sans MT" charset="0"/>
          <a:ea typeface="Gill Sans MT" charset="0"/>
          <a:cs typeface="Gill Sans MT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ill Sans MT" charset="0"/>
          <a:ea typeface="Gill Sans MT" charset="0"/>
          <a:cs typeface="Gill Sans MT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://mindlab-snu.github.io/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tsmoon@snu.ac.k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A1085F-9BC2-80AE-01A6-7990CD4FC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34143"/>
            <a:ext cx="9144000" cy="1918517"/>
          </a:xfrm>
        </p:spPr>
        <p:txBody>
          <a:bodyPr/>
          <a:lstStyle/>
          <a:p>
            <a:r>
              <a:rPr lang="en-US" altLang="ko-KR" dirty="0"/>
              <a:t>430.211 Programming Methodology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프로그래밍 방법론</a:t>
            </a:r>
            <a:r>
              <a:rPr lang="en-US" altLang="ko-KR" dirty="0"/>
              <a:t>)</a:t>
            </a:r>
            <a:endParaRPr kumimoji="1" lang="en-US" altLang="ko-KR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AD90AE5-9547-4127-6505-3D8B59442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2595" y="3361507"/>
            <a:ext cx="7040880" cy="2673533"/>
          </a:xfrm>
        </p:spPr>
        <p:txBody>
          <a:bodyPr/>
          <a:lstStyle/>
          <a:p>
            <a:r>
              <a:rPr kumimoji="1" lang="en-US" altLang="ko-Kore-KR" b="1" dirty="0" err="1"/>
              <a:t>Taesup</a:t>
            </a:r>
            <a:r>
              <a:rPr kumimoji="1" lang="en-US" altLang="ko-Kore-KR" b="1" dirty="0"/>
              <a:t> Moon</a:t>
            </a:r>
            <a:br>
              <a:rPr kumimoji="1" lang="en-US" altLang="ko-Kore-KR" b="1" dirty="0"/>
            </a:br>
            <a:endParaRPr kumimoji="1" lang="en-US" altLang="ko-Kore-KR" b="1" dirty="0"/>
          </a:p>
          <a:p>
            <a:r>
              <a:rPr kumimoji="1" lang="en-US" altLang="ko-Kore-KR" sz="2000" dirty="0"/>
              <a:t>Department of Electrical and Computer Engineering</a:t>
            </a:r>
          </a:p>
          <a:p>
            <a:r>
              <a:rPr kumimoji="1" lang="en-US" altLang="ko-Kore-KR" sz="2000" dirty="0"/>
              <a:t>Seoul National University</a:t>
            </a:r>
          </a:p>
          <a:p>
            <a:endParaRPr kumimoji="1" lang="en-US" altLang="ko-Kore-KR" sz="1600" dirty="0"/>
          </a:p>
          <a:p>
            <a:endParaRPr kumimoji="1" lang="en-US" altLang="ko-Kore-KR" sz="2000" dirty="0"/>
          </a:p>
        </p:txBody>
      </p:sp>
    </p:spTree>
    <p:extLst>
      <p:ext uri="{BB962C8B-B14F-4D97-AF65-F5344CB8AC3E}">
        <p14:creationId xmlns:p14="http://schemas.microsoft.com/office/powerpoint/2010/main" val="2699297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Outline</a:t>
            </a:r>
            <a:endParaRPr kumimoji="1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altLang="ko-KR" dirty="0"/>
              <a:t>Chapter 6: Structures and Classes</a:t>
            </a:r>
          </a:p>
          <a:p>
            <a:pPr lvl="1" fontAlgn="base"/>
            <a:r>
              <a:rPr lang="en-US" altLang="ko-KR" dirty="0"/>
              <a:t>Structures</a:t>
            </a:r>
          </a:p>
          <a:p>
            <a:pPr lvl="1" fontAlgn="base"/>
            <a:r>
              <a:rPr lang="en-US" altLang="ko-KR" dirty="0"/>
              <a:t>Classes</a:t>
            </a:r>
          </a:p>
          <a:p>
            <a:pPr marL="457200" lvl="1" indent="0" fontAlgn="base">
              <a:buNone/>
            </a:pPr>
            <a:endParaRPr lang="en" altLang="ko-KR" dirty="0"/>
          </a:p>
          <a:p>
            <a:pPr lvl="1" fontAlgn="base"/>
            <a:endParaRPr lang="en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marL="0" indent="0">
              <a:buNone/>
            </a:pPr>
            <a:br>
              <a:rPr kumimoji="1" lang="en-US" altLang="ko-KR" dirty="0"/>
            </a:br>
            <a:endParaRPr kumimoji="1" lang="en-US" altLang="ko-KR" sz="1600" dirty="0"/>
          </a:p>
          <a:p>
            <a:pPr marL="0" indent="0">
              <a:buNone/>
            </a:pPr>
            <a:endParaRPr kumimoji="1" lang="en-US" altLang="ko-KR" dirty="0"/>
          </a:p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675EB0-066D-EE1E-FE1B-579D98244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696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Outline</a:t>
            </a:r>
            <a:endParaRPr kumimoji="1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altLang="ko-KR" dirty="0">
                <a:solidFill>
                  <a:srgbClr val="FF0000"/>
                </a:solidFill>
              </a:rPr>
              <a:t>Chapter 6: Structures and Classes</a:t>
            </a:r>
          </a:p>
          <a:p>
            <a:pPr lvl="1" fontAlgn="base"/>
            <a:r>
              <a:rPr lang="en-US" altLang="ko-KR" dirty="0">
                <a:solidFill>
                  <a:srgbClr val="FF0000"/>
                </a:solidFill>
              </a:rPr>
              <a:t>Structures</a:t>
            </a:r>
          </a:p>
          <a:p>
            <a:pPr lvl="1" fontAlgn="base"/>
            <a:r>
              <a:rPr lang="en-US" altLang="ko-KR" dirty="0"/>
              <a:t>Classes</a:t>
            </a:r>
          </a:p>
          <a:p>
            <a:pPr marL="457200" lvl="1" indent="0" fontAlgn="base">
              <a:buNone/>
            </a:pPr>
            <a:endParaRPr lang="en" altLang="ko-KR" dirty="0"/>
          </a:p>
          <a:p>
            <a:pPr lvl="1" fontAlgn="base"/>
            <a:endParaRPr lang="en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marL="0" indent="0">
              <a:buNone/>
            </a:pPr>
            <a:br>
              <a:rPr kumimoji="1" lang="en-US" altLang="ko-KR" dirty="0"/>
            </a:br>
            <a:endParaRPr kumimoji="1" lang="en-US" altLang="ko-KR" sz="1600" dirty="0"/>
          </a:p>
          <a:p>
            <a:pPr marL="0" indent="0">
              <a:buNone/>
            </a:pPr>
            <a:endParaRPr kumimoji="1" lang="en-US" altLang="ko-KR" dirty="0"/>
          </a:p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CF1842-3227-2ED6-06B0-88E31851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562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"/>
            <a:ext cx="9144000" cy="1262023"/>
          </a:xfrm>
        </p:spPr>
        <p:txBody>
          <a:bodyPr/>
          <a:lstStyle/>
          <a:p>
            <a:pPr eaLnBrk="1" hangingPunct="1"/>
            <a:r>
              <a:rPr lang="en-US" altLang="ko-KR" dirty="0" err="1"/>
              <a:t>Ch</a:t>
            </a:r>
            <a:r>
              <a:rPr lang="en-US" altLang="ko-KR" dirty="0"/>
              <a:t> 6. Structures and Classes</a:t>
            </a:r>
            <a:br>
              <a:rPr lang="en-US" dirty="0"/>
            </a:br>
            <a:r>
              <a:rPr lang="en-US" sz="3600" dirty="0"/>
              <a:t>Learning Objectives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8274" y="1473952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>
                <a:solidFill>
                  <a:srgbClr val="0000FF"/>
                </a:solidFill>
              </a:rPr>
              <a:t>Structures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Structure types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Structures as function arguments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Initializing structures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dirty="0">
                <a:solidFill>
                  <a:srgbClr val="0000FF"/>
                </a:solidFill>
              </a:rPr>
              <a:t>Classes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Defining, member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Public and private members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Encapsulation, principles of OOP</a:t>
            </a:r>
            <a:endParaRPr 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Accessor and mutator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Structures vs. classes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2C053B4-8D1A-887C-9248-3DAD5F0DA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548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Structures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2</a:t>
            </a:r>
            <a:r>
              <a:rPr lang="en-US" sz="2800" baseline="30000" dirty="0"/>
              <a:t>nd</a:t>
            </a:r>
            <a:r>
              <a:rPr lang="en-US" sz="2800" dirty="0"/>
              <a:t> aggregate data type: </a:t>
            </a:r>
            <a:r>
              <a:rPr lang="en-US" sz="2800" dirty="0" err="1"/>
              <a:t>struct</a:t>
            </a:r>
            <a:endParaRPr lang="en-US" sz="2800" dirty="0"/>
          </a:p>
          <a:p>
            <a:pPr eaLnBrk="1" hangingPunct="1">
              <a:spcBef>
                <a:spcPct val="50000"/>
              </a:spcBef>
            </a:pPr>
            <a:r>
              <a:rPr lang="en-US" sz="2800" dirty="0"/>
              <a:t>Recall: aggregate meaning "grouping"</a:t>
            </a:r>
          </a:p>
          <a:p>
            <a:pPr lvl="1" eaLnBrk="1" hangingPunct="1"/>
            <a:r>
              <a:rPr lang="en-US" sz="2400" dirty="0"/>
              <a:t>Recall array: collection of values of same type</a:t>
            </a:r>
          </a:p>
          <a:p>
            <a:pPr lvl="1" eaLnBrk="1" hangingPunct="1"/>
            <a:r>
              <a:rPr lang="en-US" sz="2400" dirty="0"/>
              <a:t>Structure: collection of values of </a:t>
            </a:r>
            <a:r>
              <a:rPr lang="en-US" sz="2400" b="1" i="1" dirty="0">
                <a:solidFill>
                  <a:srgbClr val="FF0000"/>
                </a:solidFill>
              </a:rPr>
              <a:t>different</a:t>
            </a:r>
            <a:r>
              <a:rPr lang="en-US" sz="2400" dirty="0"/>
              <a:t> types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dirty="0"/>
              <a:t>Treated as a single item, like arrays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dirty="0"/>
              <a:t>Major difference: </a:t>
            </a:r>
            <a:r>
              <a:rPr lang="en-US" sz="2800" dirty="0">
                <a:solidFill>
                  <a:srgbClr val="FF0000"/>
                </a:solidFill>
              </a:rPr>
              <a:t>Must first "define" </a:t>
            </a:r>
            <a:r>
              <a:rPr lang="en-US" sz="2400" dirty="0" err="1">
                <a:solidFill>
                  <a:srgbClr val="FF0000"/>
                </a:solidFill>
                <a:latin typeface="Courier" pitchFamily="2" charset="0"/>
              </a:rPr>
              <a:t>struct</a:t>
            </a:r>
            <a:endParaRPr lang="en-US" sz="2800" dirty="0">
              <a:solidFill>
                <a:srgbClr val="FF0000"/>
              </a:solidFill>
              <a:latin typeface="Courier" pitchFamily="2" charset="0"/>
            </a:endParaRPr>
          </a:p>
          <a:p>
            <a:pPr lvl="1" eaLnBrk="1" hangingPunct="1"/>
            <a:r>
              <a:rPr lang="en-US" sz="2400" dirty="0"/>
              <a:t>Prior to declaring any variables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8781629-F2EE-0E65-5155-C5455E290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5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507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Structure Types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Define </a:t>
            </a:r>
            <a:r>
              <a:rPr lang="en-US" sz="2400" dirty="0" err="1">
                <a:latin typeface="Courier" pitchFamily="2" charset="0"/>
              </a:rPr>
              <a:t>struct</a:t>
            </a:r>
            <a:r>
              <a:rPr lang="en-US" sz="2800" dirty="0"/>
              <a:t> globally (typically)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a "placeholder" for what our </a:t>
            </a:r>
            <a:r>
              <a:rPr lang="en-US" sz="2400" dirty="0">
                <a:latin typeface="Courier" pitchFamily="2" charset="0"/>
              </a:rPr>
              <a:t>struct </a:t>
            </a:r>
            <a:r>
              <a:rPr lang="en-US" sz="2400" dirty="0"/>
              <a:t>will "look like"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endParaRPr lang="en-US" sz="1800" dirty="0"/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2800" dirty="0"/>
              <a:t>Definition:</a:t>
            </a:r>
            <a:br>
              <a:rPr lang="en-US" sz="2800" dirty="0"/>
            </a:br>
            <a:r>
              <a:rPr lang="en-US" sz="2400" dirty="0"/>
              <a:t>	</a:t>
            </a:r>
            <a:r>
              <a:rPr lang="en-US" sz="2000" dirty="0">
                <a:solidFill>
                  <a:srgbClr val="FF0000"/>
                </a:solidFill>
                <a:latin typeface="Courier" pitchFamily="2" charset="0"/>
              </a:rPr>
              <a:t>struct</a:t>
            </a:r>
            <a:r>
              <a:rPr lang="en-US" sz="2000" dirty="0">
                <a:latin typeface="Courier" pitchFamily="2" charset="0"/>
              </a:rPr>
              <a:t> CDAccountV1     </a:t>
            </a:r>
            <a:r>
              <a:rPr lang="en-US" sz="2000" dirty="0">
                <a:latin typeface="Courier" pitchFamily="2" charset="0"/>
                <a:sym typeface="Wingdings" pitchFamily="2" charset="2"/>
              </a:rPr>
              <a:t> </a:t>
            </a:r>
            <a:r>
              <a:rPr lang="en-US" sz="2000" dirty="0">
                <a:latin typeface="Gill Sans MT" panose="020B0502020104020203" pitchFamily="34" charset="0"/>
              </a:rPr>
              <a:t>Name of new struct "type"</a:t>
            </a:r>
            <a:br>
              <a:rPr lang="en-US" sz="2000" dirty="0">
                <a:latin typeface="Courier" pitchFamily="2" charset="0"/>
              </a:rPr>
            </a:br>
            <a:r>
              <a:rPr lang="en-US" sz="2000" dirty="0">
                <a:latin typeface="Courier" pitchFamily="2" charset="0"/>
              </a:rPr>
              <a:t>	{</a:t>
            </a:r>
            <a:br>
              <a:rPr lang="en-US" sz="2000" dirty="0">
                <a:latin typeface="Courier" pitchFamily="2" charset="0"/>
              </a:rPr>
            </a:br>
            <a:r>
              <a:rPr lang="en-US" sz="2000" dirty="0">
                <a:latin typeface="Courier" pitchFamily="2" charset="0"/>
              </a:rPr>
              <a:t>		double balance;	   </a:t>
            </a:r>
            <a:r>
              <a:rPr lang="en-US" sz="2000" dirty="0">
                <a:solidFill>
                  <a:srgbClr val="FF0000"/>
                </a:solidFill>
                <a:latin typeface="Courier" pitchFamily="2" charset="0"/>
                <a:sym typeface="Wingdings" pitchFamily="2" charset="2"/>
              </a:rPr>
              <a:t></a:t>
            </a:r>
            <a:br>
              <a:rPr lang="en-US" sz="2000" dirty="0">
                <a:solidFill>
                  <a:srgbClr val="FF0000"/>
                </a:solidFill>
                <a:latin typeface="Courier" pitchFamily="2" charset="0"/>
              </a:rPr>
            </a:br>
            <a:r>
              <a:rPr lang="en-US" sz="2000" dirty="0">
                <a:latin typeface="Courier" pitchFamily="2" charset="0"/>
              </a:rPr>
              <a:t>		double </a:t>
            </a:r>
            <a:r>
              <a:rPr lang="en-US" sz="2000" dirty="0" err="1">
                <a:latin typeface="Courier" pitchFamily="2" charset="0"/>
              </a:rPr>
              <a:t>interestRate</a:t>
            </a:r>
            <a:r>
              <a:rPr lang="en-US" sz="2000" dirty="0">
                <a:latin typeface="Courier" pitchFamily="2" charset="0"/>
              </a:rPr>
              <a:t>; </a:t>
            </a:r>
            <a:r>
              <a:rPr lang="en-US" altLang="ko-KR" sz="2000" dirty="0">
                <a:solidFill>
                  <a:srgbClr val="FF0000"/>
                </a:solidFill>
                <a:latin typeface="Courier" pitchFamily="2" charset="0"/>
                <a:sym typeface="Wingdings" pitchFamily="2" charset="2"/>
              </a:rPr>
              <a:t></a:t>
            </a:r>
            <a:r>
              <a:rPr lang="en-US" altLang="ko-KR" sz="2000" dirty="0">
                <a:solidFill>
                  <a:srgbClr val="FF0000"/>
                </a:solidFill>
                <a:latin typeface="Gill Sans MT" panose="020B0502020104020203" pitchFamily="34" charset="0"/>
              </a:rPr>
              <a:t> member names</a:t>
            </a:r>
            <a:br>
              <a:rPr lang="en-US" sz="2000" dirty="0">
                <a:latin typeface="Courier" pitchFamily="2" charset="0"/>
              </a:rPr>
            </a:br>
            <a:r>
              <a:rPr lang="en-US" sz="2000" dirty="0">
                <a:latin typeface="Courier" pitchFamily="2" charset="0"/>
              </a:rPr>
              <a:t>		int term;				</a:t>
            </a:r>
            <a:r>
              <a:rPr lang="en-US" altLang="ko-KR" sz="2000" dirty="0">
                <a:solidFill>
                  <a:srgbClr val="FF0000"/>
                </a:solidFill>
                <a:latin typeface="Courier" pitchFamily="2" charset="0"/>
                <a:sym typeface="Wingdings" pitchFamily="2" charset="2"/>
              </a:rPr>
              <a:t></a:t>
            </a:r>
            <a:br>
              <a:rPr lang="en-US" sz="2000" dirty="0">
                <a:latin typeface="Courier" pitchFamily="2" charset="0"/>
              </a:rPr>
            </a:br>
            <a:r>
              <a:rPr lang="en-US" sz="2000" dirty="0">
                <a:latin typeface="Courier" pitchFamily="2" charset="0"/>
              </a:rPr>
              <a:t>	}</a:t>
            </a:r>
            <a:r>
              <a:rPr lang="en-US" sz="2000" dirty="0">
                <a:solidFill>
                  <a:srgbClr val="FF0000"/>
                </a:solidFill>
                <a:latin typeface="Courier" pitchFamily="2" charset="0"/>
              </a:rPr>
              <a:t>;</a:t>
            </a:r>
            <a:endParaRPr lang="en-US" sz="2400" dirty="0">
              <a:solidFill>
                <a:srgbClr val="FF0000"/>
              </a:solidFill>
              <a:latin typeface="Courier" pitchFamily="2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CE9419A-1ED4-7D09-79FE-C79F29A6E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6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563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Declare Structure Variable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With the new structure </a:t>
            </a:r>
            <a:r>
              <a:rPr lang="en-US" b="1" dirty="0"/>
              <a:t>type</a:t>
            </a:r>
            <a:r>
              <a:rPr lang="en-US" dirty="0"/>
              <a:t> defined, now we can declare</a:t>
            </a:r>
            <a:r>
              <a:rPr lang="ko-KR" altLang="en-US" dirty="0"/>
              <a:t> </a:t>
            </a:r>
            <a:r>
              <a:rPr lang="en-US" dirty="0"/>
              <a:t>variables of this new type:</a:t>
            </a:r>
          </a:p>
          <a:p>
            <a:pPr marL="0" indent="0" eaLnBrk="1" hangingPunct="1">
              <a:buNone/>
            </a:pPr>
            <a:br>
              <a:rPr lang="en-US" dirty="0"/>
            </a:br>
            <a:r>
              <a:rPr lang="en-US" dirty="0"/>
              <a:t>   </a:t>
            </a:r>
            <a:r>
              <a:rPr lang="en-US" sz="2400" dirty="0">
                <a:solidFill>
                  <a:srgbClr val="FF0000"/>
                </a:solidFill>
                <a:latin typeface="Courier" pitchFamily="2" charset="0"/>
              </a:rPr>
              <a:t>CDAccountV1</a:t>
            </a:r>
            <a:r>
              <a:rPr lang="en-US" sz="2400" dirty="0">
                <a:latin typeface="Courier" pitchFamily="2" charset="0"/>
              </a:rPr>
              <a:t>  </a:t>
            </a:r>
            <a:r>
              <a:rPr lang="en-US" sz="2400" dirty="0">
                <a:solidFill>
                  <a:srgbClr val="0000FF"/>
                </a:solidFill>
                <a:latin typeface="Courier" pitchFamily="2" charset="0"/>
              </a:rPr>
              <a:t>account;</a:t>
            </a:r>
            <a:endParaRPr lang="en-US" dirty="0">
              <a:solidFill>
                <a:srgbClr val="0000FF"/>
              </a:solidFill>
              <a:latin typeface="Courier" pitchFamily="2" charset="0"/>
            </a:endParaRPr>
          </a:p>
          <a:p>
            <a:pPr lvl="1" eaLnBrk="1" hangingPunct="1"/>
            <a:r>
              <a:rPr lang="en-US" dirty="0"/>
              <a:t>Just like declaring simple types</a:t>
            </a:r>
          </a:p>
          <a:p>
            <a:pPr lvl="1"/>
            <a:r>
              <a:rPr lang="en-US" dirty="0"/>
              <a:t>Variable </a:t>
            </a:r>
            <a:r>
              <a:rPr lang="en-US" altLang="ko-KR" dirty="0">
                <a:solidFill>
                  <a:srgbClr val="0000FF"/>
                </a:solidFill>
                <a:latin typeface="Courier" pitchFamily="2" charset="0"/>
              </a:rPr>
              <a:t>account</a:t>
            </a:r>
            <a:r>
              <a:rPr lang="en-US" dirty="0"/>
              <a:t> </a:t>
            </a:r>
            <a:r>
              <a:rPr lang="en-US" altLang="ko-KR" dirty="0"/>
              <a:t>is</a:t>
            </a:r>
            <a:r>
              <a:rPr lang="ko-KR" altLang="en-US" dirty="0"/>
              <a:t> </a:t>
            </a:r>
            <a:r>
              <a:rPr lang="en-US" dirty="0"/>
              <a:t>now of type </a:t>
            </a:r>
            <a:r>
              <a:rPr lang="en-US" altLang="ko-KR" dirty="0">
                <a:solidFill>
                  <a:srgbClr val="FF0000"/>
                </a:solidFill>
                <a:latin typeface="Courier" pitchFamily="2" charset="0"/>
              </a:rPr>
              <a:t>CDAccountV1</a:t>
            </a:r>
            <a:br>
              <a:rPr lang="en-US" altLang="ko-KR" dirty="0">
                <a:solidFill>
                  <a:srgbClr val="FF0000"/>
                </a:solidFill>
                <a:latin typeface="Courier" pitchFamily="2" charset="0"/>
              </a:rPr>
            </a:br>
            <a:r>
              <a:rPr lang="en-US" altLang="ko-KR" dirty="0">
                <a:latin typeface="Gill Sans MT" panose="020B0502020104020203" pitchFamily="34" charset="0"/>
                <a:sym typeface="Wingdings" pitchFamily="2" charset="2"/>
              </a:rPr>
              <a:t></a:t>
            </a:r>
            <a:r>
              <a:rPr lang="ko-KR" altLang="en-US" dirty="0">
                <a:latin typeface="Gill Sans MT" panose="020B0502020104020203" pitchFamily="34" charset="0"/>
                <a:sym typeface="Wingdings" pitchFamily="2" charset="2"/>
              </a:rPr>
              <a:t> </a:t>
            </a:r>
            <a:r>
              <a:rPr lang="en-US" altLang="ko-KR" dirty="0">
                <a:latin typeface="Gill Sans MT" panose="020B0502020104020203" pitchFamily="34" charset="0"/>
                <a:sym typeface="Wingdings" pitchFamily="2" charset="2"/>
              </a:rPr>
              <a:t>A struct value contains a collection of smaller values called </a:t>
            </a:r>
            <a:r>
              <a:rPr lang="en-US" dirty="0"/>
              <a:t>"member values"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A9B912B-8666-9288-5314-29769261D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7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9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Accessing Structure Members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Dot Operator (.) to access members</a:t>
            </a:r>
          </a:p>
          <a:p>
            <a:pPr lvl="1" eaLnBrk="1" hangingPunct="1"/>
            <a:endParaRPr lang="en-US" sz="2400" dirty="0">
              <a:latin typeface="Courier" pitchFamily="2" charset="0"/>
            </a:endParaRPr>
          </a:p>
          <a:p>
            <a:pPr marL="457200" lvl="1" indent="0" eaLnBrk="1" hangingPunct="1">
              <a:buNone/>
            </a:pPr>
            <a:endParaRPr lang="en-US" sz="2400" dirty="0">
              <a:latin typeface="Courier" pitchFamily="2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sz="2800" dirty="0"/>
              <a:t>Called "member variables"</a:t>
            </a:r>
          </a:p>
          <a:p>
            <a:pPr lvl="1" eaLnBrk="1" hangingPunct="1"/>
            <a:r>
              <a:rPr lang="en-US" sz="2400" dirty="0"/>
              <a:t>The "parts" of the structure variable</a:t>
            </a:r>
          </a:p>
          <a:p>
            <a:pPr lvl="1" eaLnBrk="1" hangingPunct="1"/>
            <a:r>
              <a:rPr lang="en-US" sz="2400" dirty="0"/>
              <a:t>Different </a:t>
            </a:r>
            <a:r>
              <a:rPr lang="en-US" sz="2400" dirty="0" err="1">
                <a:latin typeface="Courier" pitchFamily="2" charset="0"/>
              </a:rPr>
              <a:t>struct</a:t>
            </a:r>
            <a:r>
              <a:rPr lang="en-US" sz="2400" dirty="0" err="1"/>
              <a:t>s</a:t>
            </a:r>
            <a:r>
              <a:rPr lang="en-US" sz="2400" dirty="0"/>
              <a:t> can have same name member variables</a:t>
            </a:r>
          </a:p>
          <a:p>
            <a:pPr lvl="2" eaLnBrk="1" hangingPunct="1"/>
            <a:r>
              <a:rPr lang="en-US" dirty="0"/>
              <a:t>No conflicts</a:t>
            </a:r>
            <a:endParaRPr lang="en-US" sz="20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EE888C6-3D0D-AB4E-9018-C36CF89E5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27" y="4958123"/>
            <a:ext cx="2907119" cy="114149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BE887C0-7176-694E-9156-486B1C2FA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3524" y="4928159"/>
            <a:ext cx="2082468" cy="120142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4505F60-01E3-7049-806E-9526F7FA34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3237" y="4671206"/>
            <a:ext cx="2903563" cy="51390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6B2A32A2-444B-0042-A21F-FAE8CB10DA32}"/>
              </a:ext>
            </a:extLst>
          </p:cNvPr>
          <p:cNvSpPr/>
          <p:nvPr/>
        </p:nvSpPr>
        <p:spPr>
          <a:xfrm>
            <a:off x="6230643" y="5286305"/>
            <a:ext cx="2117887" cy="73866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en-US" altLang="ko-KR" sz="1400" dirty="0" err="1">
                <a:solidFill>
                  <a:srgbClr val="FF0000"/>
                </a:solidFill>
                <a:latin typeface="Courier" pitchFamily="2" charset="0"/>
              </a:rPr>
              <a:t>superGrow.quantity</a:t>
            </a:r>
            <a:endParaRPr lang="en-US" altLang="ko-KR" sz="1400" dirty="0">
              <a:solidFill>
                <a:srgbClr val="FF0000"/>
              </a:solidFill>
              <a:latin typeface="Courier" pitchFamily="2" charset="0"/>
            </a:endParaRPr>
          </a:p>
          <a:p>
            <a:r>
              <a:rPr lang="en-US" altLang="ko-KR" sz="1400" dirty="0" err="1">
                <a:solidFill>
                  <a:srgbClr val="FF0000"/>
                </a:solidFill>
                <a:latin typeface="Courier" pitchFamily="2" charset="0"/>
              </a:rPr>
              <a:t>apples.quantity</a:t>
            </a:r>
            <a:endParaRPr lang="en-US" altLang="ko-KR" sz="1400" dirty="0">
              <a:solidFill>
                <a:srgbClr val="FF0000"/>
              </a:solidFill>
              <a:latin typeface="Courier" pitchFamily="2" charset="0"/>
            </a:endParaRPr>
          </a:p>
          <a:p>
            <a:r>
              <a:rPr lang="en-US" altLang="ko-KR" sz="1400" dirty="0">
                <a:solidFill>
                  <a:srgbClr val="FF0000"/>
                </a:solidFill>
                <a:latin typeface="Gill Sans MT" panose="020B0502020104020203" pitchFamily="34" charset="0"/>
                <a:sym typeface="Wingdings" pitchFamily="2" charset="2"/>
              </a:rPr>
              <a:t> No ambiguity!</a:t>
            </a:r>
            <a:endParaRPr lang="ko-KR" altLang="en-US" sz="1400" dirty="0">
              <a:solidFill>
                <a:srgbClr val="FF0000"/>
              </a:solidFill>
              <a:latin typeface="Gill Sans MT" panose="020B05020201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007AF24-F2AC-DC46-B730-A340FE4B53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3524" y="2026543"/>
            <a:ext cx="2504214" cy="75405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7D7426-E244-C934-EC34-8B37DBF3A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8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86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Structure Assignments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sz="2800" dirty="0"/>
              <a:t>Given structure named </a:t>
            </a:r>
            <a:r>
              <a:rPr lang="en-US" sz="2400" dirty="0" err="1">
                <a:latin typeface="Courier" pitchFamily="2" charset="0"/>
              </a:rPr>
              <a:t>CropYield</a:t>
            </a:r>
            <a:endParaRPr lang="en-US" sz="2800" dirty="0">
              <a:latin typeface="Courier" pitchFamily="2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sz="2800" dirty="0"/>
              <a:t>Declare two structure variables:</a:t>
            </a:r>
            <a:br>
              <a:rPr lang="en-US" sz="2800" dirty="0"/>
            </a:br>
            <a:r>
              <a:rPr lang="en-US" sz="2800" dirty="0"/>
              <a:t>		</a:t>
            </a:r>
            <a:r>
              <a:rPr lang="en-US" sz="2400" dirty="0" err="1">
                <a:solidFill>
                  <a:srgbClr val="0000FF"/>
                </a:solidFill>
                <a:latin typeface="Courier" pitchFamily="2" charset="0"/>
              </a:rPr>
              <a:t>CropYield</a:t>
            </a:r>
            <a:r>
              <a:rPr lang="en-US" sz="2400" dirty="0">
                <a:solidFill>
                  <a:srgbClr val="0000FF"/>
                </a:solidFill>
                <a:latin typeface="Courier" pitchFamily="2" charset="0"/>
              </a:rPr>
              <a:t> apples, oranges;</a:t>
            </a:r>
            <a:endParaRPr lang="en-US" sz="2800" dirty="0">
              <a:solidFill>
                <a:srgbClr val="0000FF"/>
              </a:solidFill>
              <a:latin typeface="Courier" pitchFamily="2" charset="0"/>
            </a:endParaRPr>
          </a:p>
          <a:p>
            <a:pPr lvl="1" eaLnBrk="1" hangingPunct="1">
              <a:spcBef>
                <a:spcPct val="40000"/>
              </a:spcBef>
            </a:pPr>
            <a:r>
              <a:rPr lang="en-US" sz="2400" dirty="0"/>
              <a:t>Both are variables of "</a:t>
            </a:r>
            <a:r>
              <a:rPr lang="en-US" sz="2000" dirty="0" err="1">
                <a:latin typeface="Courier" pitchFamily="2" charset="0"/>
              </a:rPr>
              <a:t>struct</a:t>
            </a:r>
            <a:r>
              <a:rPr lang="en-US" sz="2400" dirty="0"/>
              <a:t> type </a:t>
            </a:r>
            <a:r>
              <a:rPr lang="en-US" sz="2000" dirty="0" err="1">
                <a:latin typeface="Courier" pitchFamily="2" charset="0"/>
              </a:rPr>
              <a:t>CropYield</a:t>
            </a:r>
            <a:r>
              <a:rPr lang="en-US" sz="2400" dirty="0"/>
              <a:t>"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z="2400" dirty="0"/>
              <a:t>Simple assignments are legal:</a:t>
            </a:r>
            <a:br>
              <a:rPr lang="en-US" sz="2400" dirty="0"/>
            </a:br>
            <a:r>
              <a:rPr lang="en-US" sz="2000" dirty="0">
                <a:solidFill>
                  <a:srgbClr val="FF0000"/>
                </a:solidFill>
                <a:latin typeface="Courier" pitchFamily="2" charset="0"/>
              </a:rPr>
              <a:t>apples = oranges;</a:t>
            </a:r>
            <a:endParaRPr lang="en-US" dirty="0">
              <a:solidFill>
                <a:srgbClr val="FF0000"/>
              </a:solidFill>
              <a:latin typeface="Courier" pitchFamily="2" charset="0"/>
            </a:endParaRPr>
          </a:p>
          <a:p>
            <a:pPr lvl="2" eaLnBrk="1" hangingPunct="1"/>
            <a:r>
              <a:rPr lang="en-US" dirty="0"/>
              <a:t>Simply copies each member variable of </a:t>
            </a:r>
            <a:r>
              <a:rPr lang="en-US" dirty="0">
                <a:latin typeface="Courier" pitchFamily="2" charset="0"/>
              </a:rPr>
              <a:t>oranges</a:t>
            </a:r>
            <a:r>
              <a:rPr lang="en-US" dirty="0"/>
              <a:t> into member variables of </a:t>
            </a:r>
            <a:r>
              <a:rPr lang="en-US" dirty="0">
                <a:latin typeface="Courier" pitchFamily="2" charset="0"/>
              </a:rPr>
              <a:t>apples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8D07D9A-EF05-AB4F-93A1-AA7256E78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093" y="5128953"/>
            <a:ext cx="4746451" cy="68389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2EDA3C4-F76B-CE40-8DFA-72075569D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9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177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/>
              <a:t>Structures as Function Arguments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solidFill>
                  <a:srgbClr val="0000FF"/>
                </a:solidFill>
              </a:rPr>
              <a:t>Passed like any simple data type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Call-by-value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Call-by-reference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Or combination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endParaRPr lang="en-US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</a:rPr>
              <a:t>Can also be returned by a function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Return-type is structure type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Return statement in function definition sends structure variable back to caller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19849CD-ACDC-284B-6FBE-F08E8BAAD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10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028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ko-KR" sz="4000" dirty="0"/>
              <a:t>Structures as Function Arguments</a:t>
            </a:r>
            <a:br>
              <a:rPr lang="en-US" altLang="ko-KR" sz="4000" dirty="0"/>
            </a:br>
            <a:r>
              <a:rPr lang="en-US" altLang="ko-KR" sz="4000" dirty="0"/>
              <a:t>: </a:t>
            </a:r>
            <a:r>
              <a:rPr lang="en-US" altLang="zh-TW" dirty="0"/>
              <a:t>Example</a:t>
            </a:r>
            <a:endParaRPr lang="zh-TW" altLang="en-US" dirty="0"/>
          </a:p>
        </p:txBody>
      </p:sp>
      <p:sp>
        <p:nvSpPr>
          <p:cNvPr id="105475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TW" sz="2800" dirty="0"/>
              <a:t>Ex)</a:t>
            </a:r>
          </a:p>
          <a:p>
            <a:pPr marL="457200" lvl="1" indent="0">
              <a:buNone/>
            </a:pPr>
            <a:r>
              <a:rPr lang="en-US" altLang="zh-TW" sz="1800" dirty="0">
                <a:latin typeface="Courier" pitchFamily="2" charset="0"/>
              </a:rPr>
              <a:t>CDAccountV1 </a:t>
            </a:r>
            <a:r>
              <a:rPr lang="en-US" altLang="zh-TW" sz="1800" dirty="0" err="1">
                <a:solidFill>
                  <a:srgbClr val="FF0000"/>
                </a:solidFill>
                <a:latin typeface="Courier" pitchFamily="2" charset="0"/>
              </a:rPr>
              <a:t>doubleInterest</a:t>
            </a:r>
            <a:r>
              <a:rPr lang="en-US" altLang="zh-TW" sz="1800" dirty="0">
                <a:latin typeface="Courier" pitchFamily="2" charset="0"/>
              </a:rPr>
              <a:t>(CDAccountV1  </a:t>
            </a:r>
            <a:r>
              <a:rPr lang="en-US" altLang="zh-TW" sz="1800" dirty="0" err="1">
                <a:latin typeface="Courier" pitchFamily="2" charset="0"/>
              </a:rPr>
              <a:t>oldAccount</a:t>
            </a:r>
            <a:r>
              <a:rPr lang="en-US" altLang="zh-TW" sz="1800" dirty="0">
                <a:latin typeface="Courier" pitchFamily="2" charset="0"/>
              </a:rPr>
              <a:t>)</a:t>
            </a:r>
            <a:br>
              <a:rPr lang="en-US" altLang="zh-TW" sz="1800" dirty="0">
                <a:latin typeface="Courier" pitchFamily="2" charset="0"/>
              </a:rPr>
            </a:br>
            <a:r>
              <a:rPr lang="en-US" altLang="zh-TW" sz="1800" dirty="0">
                <a:latin typeface="Courier" pitchFamily="2" charset="0"/>
              </a:rPr>
              <a:t>{</a:t>
            </a:r>
            <a:br>
              <a:rPr lang="en-US" altLang="zh-TW" sz="1800" dirty="0">
                <a:latin typeface="Courier" pitchFamily="2" charset="0"/>
              </a:rPr>
            </a:br>
            <a:r>
              <a:rPr lang="en-US" altLang="zh-TW" sz="1800" dirty="0">
                <a:latin typeface="Courier" pitchFamily="2" charset="0"/>
              </a:rPr>
              <a:t>  CDAccountV1  temp;</a:t>
            </a:r>
            <a:br>
              <a:rPr lang="en-US" altLang="zh-TW" sz="1800" dirty="0">
                <a:latin typeface="Courier" pitchFamily="2" charset="0"/>
              </a:rPr>
            </a:br>
            <a:r>
              <a:rPr lang="en-US" altLang="zh-TW" sz="1800" dirty="0">
                <a:latin typeface="Courier" pitchFamily="2" charset="0"/>
              </a:rPr>
              <a:t>  temp = </a:t>
            </a:r>
            <a:r>
              <a:rPr lang="en-US" altLang="zh-TW" sz="1800" dirty="0" err="1">
                <a:latin typeface="Courier" pitchFamily="2" charset="0"/>
              </a:rPr>
              <a:t>oldAccount</a:t>
            </a:r>
            <a:r>
              <a:rPr lang="en-US" altLang="zh-TW" sz="1800" dirty="0">
                <a:latin typeface="Courier" pitchFamily="2" charset="0"/>
              </a:rPr>
              <a:t>;</a:t>
            </a:r>
            <a:br>
              <a:rPr lang="en-US" altLang="zh-TW" sz="1800" dirty="0">
                <a:latin typeface="Courier" pitchFamily="2" charset="0"/>
              </a:rPr>
            </a:br>
            <a:r>
              <a:rPr lang="en-US" altLang="zh-TW" sz="1800" dirty="0">
                <a:latin typeface="Courier" pitchFamily="2" charset="0"/>
              </a:rPr>
              <a:t>  </a:t>
            </a:r>
            <a:r>
              <a:rPr lang="en-US" altLang="zh-TW" sz="1800" dirty="0" err="1">
                <a:latin typeface="Courier" pitchFamily="2" charset="0"/>
              </a:rPr>
              <a:t>temp.interestRate</a:t>
            </a:r>
            <a:r>
              <a:rPr lang="en-US" altLang="zh-TW" sz="1800" dirty="0">
                <a:latin typeface="Courier" pitchFamily="2" charset="0"/>
              </a:rPr>
              <a:t> = 2*</a:t>
            </a:r>
            <a:r>
              <a:rPr lang="en-US" altLang="zh-TW" sz="1800" dirty="0" err="1">
                <a:latin typeface="Courier" pitchFamily="2" charset="0"/>
              </a:rPr>
              <a:t>oldAccount.interestRate</a:t>
            </a:r>
            <a:r>
              <a:rPr lang="en-US" altLang="zh-TW" sz="1800" dirty="0">
                <a:latin typeface="Courier" pitchFamily="2" charset="0"/>
              </a:rPr>
              <a:t>;</a:t>
            </a:r>
            <a:br>
              <a:rPr lang="en-US" altLang="zh-TW" sz="1800" dirty="0">
                <a:latin typeface="Courier" pitchFamily="2" charset="0"/>
              </a:rPr>
            </a:br>
            <a:r>
              <a:rPr lang="en-US" altLang="zh-TW" sz="1800" dirty="0">
                <a:latin typeface="Courier" pitchFamily="2" charset="0"/>
              </a:rPr>
              <a:t>  </a:t>
            </a:r>
            <a:r>
              <a:rPr lang="en-US" altLang="zh-TW" sz="1800" dirty="0">
                <a:solidFill>
                  <a:srgbClr val="0000FF"/>
                </a:solidFill>
                <a:latin typeface="Courier" pitchFamily="2" charset="0"/>
              </a:rPr>
              <a:t>return temp;</a:t>
            </a:r>
            <a:br>
              <a:rPr lang="en-US" altLang="zh-TW" sz="1800" dirty="0">
                <a:latin typeface="Courier" pitchFamily="2" charset="0"/>
              </a:rPr>
            </a:br>
            <a:r>
              <a:rPr lang="en-US" altLang="zh-TW" sz="1800" dirty="0">
                <a:latin typeface="Courier" pitchFamily="2" charset="0"/>
              </a:rPr>
              <a:t>}</a:t>
            </a:r>
            <a:endParaRPr lang="en-US" altLang="zh-TW" sz="2400" dirty="0">
              <a:latin typeface="Courier" pitchFamily="2" charset="0"/>
            </a:endParaRPr>
          </a:p>
          <a:p>
            <a:r>
              <a:rPr lang="en-US" altLang="zh-TW" sz="2800" dirty="0"/>
              <a:t>In a main function:</a:t>
            </a:r>
          </a:p>
          <a:p>
            <a:pPr marL="457200" lvl="1" indent="0">
              <a:buNone/>
            </a:pPr>
            <a:br>
              <a:rPr lang="en-US" altLang="zh-TW" sz="1800" dirty="0">
                <a:latin typeface="Courier" pitchFamily="2" charset="0"/>
              </a:rPr>
            </a:br>
            <a:r>
              <a:rPr lang="en-US" altLang="zh-TW" sz="1800" dirty="0">
                <a:latin typeface="Courier" pitchFamily="2" charset="0"/>
              </a:rPr>
              <a:t>CDAccountV1  </a:t>
            </a:r>
            <a:r>
              <a:rPr lang="en-US" altLang="zh-TW" sz="1800" dirty="0" err="1">
                <a:latin typeface="Courier" pitchFamily="2" charset="0"/>
              </a:rPr>
              <a:t>yourAccount</a:t>
            </a:r>
            <a:r>
              <a:rPr lang="en-US" altLang="zh-TW" sz="1800" dirty="0">
                <a:latin typeface="Courier" pitchFamily="2" charset="0"/>
              </a:rPr>
              <a:t>;</a:t>
            </a:r>
            <a:br>
              <a:rPr lang="en-US" altLang="zh-TW" sz="1800" dirty="0">
                <a:latin typeface="Courier" pitchFamily="2" charset="0"/>
              </a:rPr>
            </a:br>
            <a:r>
              <a:rPr lang="en-US" altLang="zh-TW" sz="1800" dirty="0" err="1">
                <a:latin typeface="Courier" pitchFamily="2" charset="0"/>
              </a:rPr>
              <a:t>yourAccount</a:t>
            </a:r>
            <a:r>
              <a:rPr lang="en-US" altLang="zh-TW" sz="1800" dirty="0">
                <a:latin typeface="Courier" pitchFamily="2" charset="0"/>
              </a:rPr>
              <a:t> = </a:t>
            </a:r>
            <a:r>
              <a:rPr lang="en-US" altLang="zh-TW" sz="1800" dirty="0" err="1">
                <a:solidFill>
                  <a:srgbClr val="FF0000"/>
                </a:solidFill>
                <a:latin typeface="Courier" pitchFamily="2" charset="0"/>
              </a:rPr>
              <a:t>doubleInterest</a:t>
            </a:r>
            <a:r>
              <a:rPr lang="en-US" altLang="zh-TW" sz="1800" dirty="0">
                <a:solidFill>
                  <a:srgbClr val="FF0000"/>
                </a:solidFill>
                <a:latin typeface="Courier" pitchFamily="2" charset="0"/>
              </a:rPr>
              <a:t>(</a:t>
            </a:r>
            <a:r>
              <a:rPr lang="en-US" altLang="zh-TW" sz="1800" dirty="0" err="1">
                <a:solidFill>
                  <a:srgbClr val="FF0000"/>
                </a:solidFill>
                <a:latin typeface="Courier" pitchFamily="2" charset="0"/>
              </a:rPr>
              <a:t>myAccount</a:t>
            </a:r>
            <a:r>
              <a:rPr lang="en-US" altLang="zh-TW" sz="1800" dirty="0">
                <a:solidFill>
                  <a:srgbClr val="FF0000"/>
                </a:solidFill>
                <a:latin typeface="Courier" pitchFamily="2" charset="0"/>
              </a:rPr>
              <a:t>)</a:t>
            </a:r>
            <a:r>
              <a:rPr lang="en-US" altLang="zh-TW" sz="1800" dirty="0">
                <a:latin typeface="Courier" pitchFamily="2" charset="0"/>
              </a:rPr>
              <a:t>;</a:t>
            </a:r>
            <a:endParaRPr lang="en-US" altLang="zh-TW" sz="2400" dirty="0">
              <a:latin typeface="Courier" pitchFamily="2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B7B5B1F-BD47-A48D-34A3-1CA2BA1B2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11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088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Structure Example: </a:t>
            </a:r>
            <a:br>
              <a:rPr lang="en-US" sz="3200"/>
            </a:br>
            <a:r>
              <a:rPr lang="en-US" sz="3200" b="1"/>
              <a:t>Display 6.1  </a:t>
            </a:r>
            <a:r>
              <a:rPr lang="en-US" sz="3200"/>
              <a:t>A Structure Definition (1 of 3)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EC6CBA9-C647-3847-A6A2-466049BD9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26" y="1598915"/>
            <a:ext cx="8390368" cy="438112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65875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Structure Example: </a:t>
            </a:r>
            <a:br>
              <a:rPr lang="en-US" sz="3200"/>
            </a:br>
            <a:r>
              <a:rPr lang="en-US" sz="3200" b="1"/>
              <a:t>Display 6.1  </a:t>
            </a:r>
            <a:r>
              <a:rPr lang="en-US" sz="3200"/>
              <a:t>A Structure Definition (2 of 3)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997A85C-6C40-DF41-8B7C-8DC8BE6B9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61" y="1517231"/>
            <a:ext cx="7829078" cy="466800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7289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Structure Example: </a:t>
            </a:r>
            <a:br>
              <a:rPr lang="en-US" sz="3200"/>
            </a:br>
            <a:r>
              <a:rPr lang="en-US" sz="3200" b="1"/>
              <a:t>Display 6.1  </a:t>
            </a:r>
            <a:r>
              <a:rPr lang="en-US" sz="3200"/>
              <a:t>A Structure Definition (3 of 3)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ADA523C-DED8-114B-866B-D4260A3A5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024" y="1783281"/>
            <a:ext cx="7186731" cy="148961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8B647D3-BD74-C546-846E-265C0E25A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992" y="2877474"/>
            <a:ext cx="7375656" cy="344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674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"/>
            <a:ext cx="9144000" cy="1156911"/>
          </a:xfrm>
        </p:spPr>
        <p:txBody>
          <a:bodyPr/>
          <a:lstStyle/>
          <a:p>
            <a:pPr eaLnBrk="1" hangingPunct="1"/>
            <a:r>
              <a:rPr lang="en-US"/>
              <a:t>Structure Pitfall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</a:pPr>
            <a:r>
              <a:rPr lang="en-US" dirty="0"/>
              <a:t>Semicolon after structure definition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dirty="0">
                <a:solidFill>
                  <a:srgbClr val="0000FF"/>
                </a:solidFill>
              </a:rPr>
              <a:t>;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MUST exist: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 err="1">
                <a:latin typeface="Courier" pitchFamily="2" charset="0"/>
              </a:rPr>
              <a:t>struct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dirty="0" err="1">
                <a:latin typeface="Courier" pitchFamily="2" charset="0"/>
              </a:rPr>
              <a:t>WeatherData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{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	double temperature;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	double </a:t>
            </a:r>
            <a:r>
              <a:rPr lang="en-US" dirty="0" err="1">
                <a:latin typeface="Courier" pitchFamily="2" charset="0"/>
              </a:rPr>
              <a:t>windVelocity</a:t>
            </a:r>
            <a:r>
              <a:rPr lang="en-US" dirty="0">
                <a:latin typeface="Courier" pitchFamily="2" charset="0"/>
              </a:rPr>
              <a:t>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}</a:t>
            </a:r>
            <a:r>
              <a:rPr lang="en-US" dirty="0">
                <a:solidFill>
                  <a:srgbClr val="0000FF"/>
                </a:solidFill>
                <a:latin typeface="Courier" pitchFamily="2" charset="0"/>
              </a:rPr>
              <a:t>; </a:t>
            </a:r>
            <a:r>
              <a:rPr lang="en-US" dirty="0">
                <a:solidFill>
                  <a:srgbClr val="0000FF"/>
                </a:solidFill>
                <a:sym typeface="Wingdings" pitchFamily="2" charset="2"/>
              </a:rPr>
              <a:t></a:t>
            </a:r>
            <a:r>
              <a:rPr lang="en-US" dirty="0">
                <a:solidFill>
                  <a:srgbClr val="0000FF"/>
                </a:solidFill>
              </a:rPr>
              <a:t> REQUIRED semicolon!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dirty="0"/>
              <a:t>Required since you "can" declare structure variables in this location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1331244-3FE3-1247-9A14-95C0A3A0E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032" y="4911014"/>
            <a:ext cx="2721935" cy="121514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F52DBFB-F14A-4A25-5E1D-A2FE122DA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15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548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TW" dirty="0"/>
              <a:t>Hierarchical structures</a:t>
            </a:r>
            <a:endParaRPr lang="zh-TW" altLang="en-US" dirty="0"/>
          </a:p>
        </p:txBody>
      </p:sp>
      <p:sp>
        <p:nvSpPr>
          <p:cNvPr id="105475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TW" sz="2800" dirty="0"/>
              <a:t>Sometimes, we can have structures whose members are themselves smaller structures</a:t>
            </a:r>
          </a:p>
          <a:p>
            <a:pPr marL="457200" lvl="1" indent="0">
              <a:buNone/>
            </a:pPr>
            <a:endParaRPr lang="en-US" altLang="zh-TW" sz="2400" dirty="0">
              <a:latin typeface="Courier" pitchFamily="2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9A56C48-0BFB-964F-BAEA-63CD0BB75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786" y="2854225"/>
            <a:ext cx="1894350" cy="171675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9BC2458-533F-C642-8335-1958D84DC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6216" y="2925239"/>
            <a:ext cx="3849328" cy="157472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C844242-76C8-374A-B365-4F454F1B500C}"/>
              </a:ext>
            </a:extLst>
          </p:cNvPr>
          <p:cNvSpPr/>
          <p:nvPr/>
        </p:nvSpPr>
        <p:spPr>
          <a:xfrm>
            <a:off x="5068186" y="3976577"/>
            <a:ext cx="1772093" cy="276446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FE27823-AF18-8046-A327-F1D40ACD84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0203" y="4863851"/>
            <a:ext cx="2070691" cy="2889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6F0E96A-F9F9-B141-9CCA-A20F16ADEE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3937" y="5096057"/>
            <a:ext cx="3321656" cy="338082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67BF6B4-B819-324C-98D1-65B0B29A0522}"/>
              </a:ext>
            </a:extLst>
          </p:cNvPr>
          <p:cNvSpPr/>
          <p:nvPr/>
        </p:nvSpPr>
        <p:spPr>
          <a:xfrm>
            <a:off x="2349795" y="5117073"/>
            <a:ext cx="1772093" cy="276446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AF0069F-3448-1F49-B570-7ACCDE69FCEA}"/>
              </a:ext>
            </a:extLst>
          </p:cNvPr>
          <p:cNvSpPr/>
          <p:nvPr/>
        </p:nvSpPr>
        <p:spPr>
          <a:xfrm>
            <a:off x="2349795" y="5461173"/>
            <a:ext cx="2440412" cy="52322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  <a:latin typeface="Gill Sans MT" panose="020B0502020104020203" pitchFamily="34" charset="0"/>
                <a:sym typeface="Wingdings" pitchFamily="2" charset="2"/>
              </a:rPr>
              <a:t>This itself is a structure!</a:t>
            </a:r>
          </a:p>
          <a:p>
            <a:r>
              <a:rPr lang="en-US" altLang="ko-KR" sz="1400" dirty="0">
                <a:solidFill>
                  <a:srgbClr val="FF0000"/>
                </a:solidFill>
                <a:latin typeface="Gill Sans MT" panose="020B0502020104020203" pitchFamily="34" charset="0"/>
                <a:sym typeface="Wingdings" pitchFamily="2" charset="2"/>
              </a:rPr>
              <a:t>Read from the left to the right!</a:t>
            </a:r>
            <a:endParaRPr lang="ko-KR" altLang="en-US" sz="1400" dirty="0">
              <a:solidFill>
                <a:srgbClr val="FF0000"/>
              </a:solidFill>
              <a:latin typeface="Gill Sans MT" panose="020B05020201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9A1CB2A-AA26-8BCE-40F8-F45CF0B3B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16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74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TW" dirty="0"/>
              <a:t>Hierarchical structures : Example (1/3)</a:t>
            </a:r>
            <a:endParaRPr lang="zh-TW" altLang="en-US" dirty="0"/>
          </a:p>
        </p:txBody>
      </p:sp>
      <p:sp>
        <p:nvSpPr>
          <p:cNvPr id="105475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TW" sz="2800" dirty="0"/>
          </a:p>
          <a:p>
            <a:pPr marL="457200" lvl="1" indent="0">
              <a:buNone/>
            </a:pPr>
            <a:endParaRPr lang="en-US" altLang="zh-TW" sz="2400" dirty="0">
              <a:latin typeface="Courier" pitchFamily="2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4D72572-4194-DD40-B24B-9E3793213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024" y="1387098"/>
            <a:ext cx="6621282" cy="5029549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579410F-222D-5BF2-B65B-E030C1EBD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17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1026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TW" dirty="0"/>
              <a:t>Hierarchical structures : Example (2/3)</a:t>
            </a:r>
            <a:endParaRPr lang="zh-TW" altLang="en-US" dirty="0"/>
          </a:p>
        </p:txBody>
      </p:sp>
      <p:sp>
        <p:nvSpPr>
          <p:cNvPr id="105475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TW" sz="2800" dirty="0"/>
          </a:p>
          <a:p>
            <a:pPr marL="457200" lvl="1" indent="0">
              <a:buNone/>
            </a:pPr>
            <a:endParaRPr lang="en-US" altLang="zh-TW" sz="2400" dirty="0">
              <a:latin typeface="Courier" pitchFamily="2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A204C52-C86B-B74B-B5DB-357E53E7B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342" y="1513586"/>
            <a:ext cx="6975314" cy="4793845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9376F77-F4B4-574B-BB9D-A5561790E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18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56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TW" dirty="0"/>
              <a:t>Hierarchical structures : Example (3/3)</a:t>
            </a:r>
            <a:endParaRPr lang="zh-TW" altLang="en-US" dirty="0"/>
          </a:p>
        </p:txBody>
      </p:sp>
      <p:sp>
        <p:nvSpPr>
          <p:cNvPr id="105475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TW" sz="2800" dirty="0"/>
          </a:p>
          <a:p>
            <a:pPr marL="457200" lvl="1" indent="0">
              <a:buNone/>
            </a:pPr>
            <a:endParaRPr lang="en-US" altLang="zh-TW" sz="2400" dirty="0">
              <a:latin typeface="Courier" pitchFamily="2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E9BF8E0-CDE9-3740-83EF-C8937E69B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129" y="1633788"/>
            <a:ext cx="5255808" cy="424568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8425A62-3CF3-A445-B63F-67E84C316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9511" y="3866056"/>
            <a:ext cx="4160562" cy="2013415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FC1408D-EE10-27C6-0403-7BA2E84E0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19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024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Initializing Structures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Can initialize at declaration</a:t>
            </a:r>
          </a:p>
          <a:p>
            <a:pPr lvl="1" eaLnBrk="1" hangingPunct="1"/>
            <a:r>
              <a:rPr lang="en-US" sz="2400" dirty="0"/>
              <a:t>Ex:</a:t>
            </a:r>
            <a:br>
              <a:rPr lang="en-US" sz="2400" dirty="0"/>
            </a:br>
            <a:r>
              <a:rPr lang="en-US" sz="2400" dirty="0"/>
              <a:t>	</a:t>
            </a:r>
            <a:r>
              <a:rPr lang="en-US" sz="1800" dirty="0">
                <a:latin typeface="Courier" pitchFamily="2" charset="0"/>
              </a:rPr>
              <a:t>struct Date</a:t>
            </a:r>
            <a:br>
              <a:rPr lang="en-US" sz="1800" dirty="0">
                <a:latin typeface="Courier" pitchFamily="2" charset="0"/>
              </a:rPr>
            </a:br>
            <a:r>
              <a:rPr lang="en-US" sz="1800" dirty="0">
                <a:latin typeface="Courier" pitchFamily="2" charset="0"/>
              </a:rPr>
              <a:t>	{</a:t>
            </a:r>
            <a:br>
              <a:rPr lang="en-US" sz="1800" dirty="0">
                <a:latin typeface="Courier" pitchFamily="2" charset="0"/>
              </a:rPr>
            </a:br>
            <a:r>
              <a:rPr lang="en-US" sz="1800" dirty="0">
                <a:latin typeface="Courier" pitchFamily="2" charset="0"/>
              </a:rPr>
              <a:t>		int month;</a:t>
            </a:r>
            <a:br>
              <a:rPr lang="en-US" sz="1800" dirty="0">
                <a:latin typeface="Courier" pitchFamily="2" charset="0"/>
              </a:rPr>
            </a:br>
            <a:r>
              <a:rPr lang="en-US" sz="1800" dirty="0">
                <a:latin typeface="Courier" pitchFamily="2" charset="0"/>
              </a:rPr>
              <a:t>		int day;</a:t>
            </a:r>
            <a:br>
              <a:rPr lang="en-US" sz="1800" dirty="0">
                <a:latin typeface="Courier" pitchFamily="2" charset="0"/>
              </a:rPr>
            </a:br>
            <a:r>
              <a:rPr lang="en-US" sz="1800" dirty="0">
                <a:latin typeface="Courier" pitchFamily="2" charset="0"/>
              </a:rPr>
              <a:t>	};</a:t>
            </a:r>
            <a:br>
              <a:rPr lang="en-US" sz="1800" dirty="0">
                <a:latin typeface="Courier" pitchFamily="2" charset="0"/>
              </a:rPr>
            </a:br>
            <a:r>
              <a:rPr lang="en-US" sz="1800" dirty="0">
                <a:latin typeface="Courier" pitchFamily="2" charset="0"/>
              </a:rPr>
              <a:t>	Date </a:t>
            </a:r>
            <a:r>
              <a:rPr lang="en-US" sz="1800" dirty="0" err="1">
                <a:solidFill>
                  <a:srgbClr val="FF0000"/>
                </a:solidFill>
                <a:latin typeface="Courier" pitchFamily="2" charset="0"/>
              </a:rPr>
              <a:t>dueDate</a:t>
            </a:r>
            <a:r>
              <a:rPr lang="en-US" sz="1800" dirty="0">
                <a:solidFill>
                  <a:srgbClr val="FF0000"/>
                </a:solidFill>
                <a:latin typeface="Courier" pitchFamily="2" charset="0"/>
              </a:rPr>
              <a:t> = {12, 31};</a:t>
            </a:r>
            <a:endParaRPr lang="en-US" sz="2400" dirty="0">
              <a:solidFill>
                <a:srgbClr val="FF0000"/>
              </a:solidFill>
              <a:latin typeface="Courier" pitchFamily="2" charset="0"/>
            </a:endParaRPr>
          </a:p>
          <a:p>
            <a:pPr lvl="1" eaLnBrk="1" hangingPunct="1"/>
            <a:r>
              <a:rPr lang="en-US" sz="2400" dirty="0"/>
              <a:t>Declaration provides initial data to all two member variables</a:t>
            </a:r>
          </a:p>
          <a:p>
            <a:pPr lvl="2"/>
            <a:r>
              <a:rPr lang="en-US" dirty="0"/>
              <a:t>Error if there are more initializer values than struct members</a:t>
            </a:r>
          </a:p>
          <a:p>
            <a:pPr lvl="2"/>
            <a:r>
              <a:rPr lang="en-US" dirty="0"/>
              <a:t>If fewer than struct members, values are used to initialize data members </a:t>
            </a:r>
            <a:r>
              <a:rPr lang="en-US" b="1" i="1" dirty="0"/>
              <a:t>in order </a:t>
            </a:r>
            <a:br>
              <a:rPr lang="en-US" b="1" i="1" dirty="0"/>
            </a:br>
            <a:r>
              <a:rPr lang="en-US" b="1" dirty="0">
                <a:sym typeface="Wingdings" pitchFamily="2" charset="2"/>
              </a:rPr>
              <a:t> </a:t>
            </a:r>
            <a:r>
              <a:rPr lang="en-US" dirty="0">
                <a:sym typeface="Wingdings" pitchFamily="2" charset="2"/>
              </a:rPr>
              <a:t>D</a:t>
            </a:r>
            <a:r>
              <a:rPr lang="en-US" dirty="0"/>
              <a:t>ata member without an initializer is initialized to a zero value of an appropriate type for the variable)</a:t>
            </a:r>
            <a:endParaRPr lang="en-US" i="1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CB1A4AB-3C44-EF19-03C0-A414D8F74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20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9399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Outline</a:t>
            </a:r>
            <a:endParaRPr kumimoji="1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altLang="ko-KR" dirty="0">
                <a:solidFill>
                  <a:srgbClr val="FF0000"/>
                </a:solidFill>
              </a:rPr>
              <a:t>Chapter 6: Structures and Classes</a:t>
            </a:r>
          </a:p>
          <a:p>
            <a:pPr lvl="1" fontAlgn="base"/>
            <a:r>
              <a:rPr lang="en-US" altLang="ko-KR" dirty="0"/>
              <a:t>Structures</a:t>
            </a:r>
          </a:p>
          <a:p>
            <a:pPr lvl="1" fontAlgn="base"/>
            <a:r>
              <a:rPr lang="en-US" altLang="ko-KR" dirty="0">
                <a:solidFill>
                  <a:srgbClr val="FF0000"/>
                </a:solidFill>
              </a:rPr>
              <a:t>Classes</a:t>
            </a:r>
          </a:p>
          <a:p>
            <a:pPr marL="457200" lvl="1" indent="0" fontAlgn="base">
              <a:buNone/>
            </a:pPr>
            <a:endParaRPr lang="en" altLang="ko-KR" dirty="0"/>
          </a:p>
          <a:p>
            <a:pPr lvl="1" fontAlgn="base"/>
            <a:endParaRPr lang="en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marL="0" indent="0">
              <a:buNone/>
            </a:pPr>
            <a:br>
              <a:rPr kumimoji="1" lang="en-US" altLang="ko-KR" dirty="0"/>
            </a:br>
            <a:endParaRPr kumimoji="1" lang="en-US" altLang="ko-KR" sz="1600" dirty="0"/>
          </a:p>
          <a:p>
            <a:pPr marL="0" indent="0">
              <a:buNone/>
            </a:pPr>
            <a:endParaRPr kumimoji="1" lang="en-US" altLang="ko-KR" dirty="0"/>
          </a:p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7E91E2-B6DF-FBDD-1DA5-BF1752041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21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6960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Class</a:t>
            </a:r>
          </a:p>
        </p:txBody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Similar to a structure type</a:t>
            </a:r>
          </a:p>
          <a:p>
            <a:pPr lvl="1" eaLnBrk="1" hangingPunct="1"/>
            <a:r>
              <a:rPr lang="en-US" dirty="0"/>
              <a:t>But, we can also add member </a:t>
            </a:r>
            <a:r>
              <a:rPr lang="en-US" dirty="0">
                <a:solidFill>
                  <a:srgbClr val="0000FF"/>
                </a:solidFill>
              </a:rPr>
              <a:t>FUNCTIONS </a:t>
            </a:r>
          </a:p>
          <a:p>
            <a:pPr eaLnBrk="1" hangingPunct="1">
              <a:spcBef>
                <a:spcPct val="50000"/>
              </a:spcBef>
            </a:pPr>
            <a:r>
              <a:rPr lang="en-US" dirty="0"/>
              <a:t>Integral to </a:t>
            </a:r>
            <a:r>
              <a:rPr lang="en-US" b="1" dirty="0"/>
              <a:t>object-oriented programming (OOP)</a:t>
            </a:r>
          </a:p>
          <a:p>
            <a:pPr lvl="1" eaLnBrk="1" hangingPunct="1"/>
            <a:r>
              <a:rPr lang="en-US" dirty="0"/>
              <a:t>Objects</a:t>
            </a:r>
          </a:p>
          <a:p>
            <a:pPr lvl="2"/>
            <a:r>
              <a:rPr lang="en-US" dirty="0"/>
              <a:t>The value of a variable of a class type</a:t>
            </a:r>
          </a:p>
          <a:p>
            <a:pPr lvl="2" eaLnBrk="1" hangingPunct="1"/>
            <a:r>
              <a:rPr lang="en-US" dirty="0"/>
              <a:t>Contains both </a:t>
            </a:r>
            <a:r>
              <a:rPr lang="en-US" b="1" dirty="0"/>
              <a:t>data</a:t>
            </a:r>
            <a:r>
              <a:rPr lang="en-US" dirty="0"/>
              <a:t> and </a:t>
            </a:r>
            <a:r>
              <a:rPr lang="en-US" b="1" dirty="0"/>
              <a:t>function</a:t>
            </a:r>
            <a:r>
              <a:rPr lang="en-US" dirty="0"/>
              <a:t> members</a:t>
            </a:r>
          </a:p>
        </p:txBody>
      </p:sp>
      <p:pic>
        <p:nvPicPr>
          <p:cNvPr id="5" name="Picture 2" descr="http://blogimg.ohmynews.com/attach/1661/1382957742.jpg">
            <a:extLst>
              <a:ext uri="{FF2B5EF4-FFF2-40B4-BE49-F238E27FC236}">
                <a16:creationId xmlns:a16="http://schemas.microsoft.com/office/drawing/2014/main" id="{87EA2FF7-A3C2-C842-8DA9-00BF0380B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316" y="4311302"/>
            <a:ext cx="2610969" cy="1746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http://cfs6.tistory.com/upload_control/download.blog?fhandle=YmxvZzk3MDM2QGZzNi50aXN0b3J5LmNvbTovYXR0YWNoLzAvMDIwMDAwMDAwMDAyLmpwZw%3D%3D">
            <a:extLst>
              <a:ext uri="{FF2B5EF4-FFF2-40B4-BE49-F238E27FC236}">
                <a16:creationId xmlns:a16="http://schemas.microsoft.com/office/drawing/2014/main" id="{A6C1E2F5-885D-6B46-B19F-917E7B1B3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418" y="4316590"/>
            <a:ext cx="2437892" cy="1746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07313B-BBA7-CA4E-A0EB-D849C8F4C854}"/>
              </a:ext>
            </a:extLst>
          </p:cNvPr>
          <p:cNvSpPr txBox="1"/>
          <p:nvPr/>
        </p:nvSpPr>
        <p:spPr>
          <a:xfrm>
            <a:off x="792839" y="6085919"/>
            <a:ext cx="35959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Gill Sans MT" panose="020B0502020104020203" pitchFamily="34" charset="0"/>
                <a:cs typeface="Calibri" pitchFamily="34" charset="0"/>
              </a:rPr>
              <a:t>Class</a:t>
            </a:r>
            <a:r>
              <a:rPr lang="en-US" altLang="ko-KR" sz="1600" dirty="0">
                <a:latin typeface="Gill Sans MT" panose="020B0502020104020203" pitchFamily="34" charset="0"/>
                <a:cs typeface="Calibri" pitchFamily="34" charset="0"/>
              </a:rPr>
              <a:t> defines what the object should be.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BBCDD7-C6B4-E544-B801-B8CD3A9C3794}"/>
              </a:ext>
            </a:extLst>
          </p:cNvPr>
          <p:cNvSpPr txBox="1"/>
          <p:nvPr/>
        </p:nvSpPr>
        <p:spPr>
          <a:xfrm>
            <a:off x="4825335" y="6085919"/>
            <a:ext cx="40383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Gill Sans MT" panose="020B0502020104020203" pitchFamily="34" charset="0"/>
                <a:cs typeface="Calibri" pitchFamily="34" charset="0"/>
              </a:rPr>
              <a:t>Each instance of that class is called an </a:t>
            </a:r>
            <a:r>
              <a:rPr lang="en-US" altLang="ko-KR" sz="1600" dirty="0">
                <a:solidFill>
                  <a:srgbClr val="FF0000"/>
                </a:solidFill>
                <a:latin typeface="Gill Sans MT" panose="020B0502020104020203" pitchFamily="34" charset="0"/>
                <a:cs typeface="Calibri" pitchFamily="34" charset="0"/>
              </a:rPr>
              <a:t>object</a:t>
            </a:r>
            <a:r>
              <a:rPr lang="en-US" altLang="ko-KR" sz="1600" dirty="0">
                <a:latin typeface="Gill Sans MT" panose="020B0502020104020203" pitchFamily="34" charset="0"/>
                <a:cs typeface="Calibri" pitchFamily="34" charset="0"/>
              </a:rPr>
              <a:t>.</a:t>
            </a:r>
            <a:endParaRPr lang="ko-KR" altLang="en-US" sz="1600" dirty="0">
              <a:latin typeface="Gill Sans MT" panose="020B0502020104020203" pitchFamily="34" charset="0"/>
              <a:cs typeface="Calibri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29096E5-C47D-FB74-A60C-17FAFC789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22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631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Class Definitions</a:t>
            </a:r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7962" y="1380946"/>
            <a:ext cx="8906037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Defined similarly as structures</a:t>
            </a:r>
          </a:p>
          <a:p>
            <a:pPr>
              <a:lnSpc>
                <a:spcPct val="90000"/>
              </a:lnSpc>
              <a:spcBef>
                <a:spcPct val="40000"/>
              </a:spcBef>
            </a:pPr>
            <a:r>
              <a:rPr lang="en-US" sz="2800" dirty="0"/>
              <a:t>Example:</a:t>
            </a:r>
            <a:br>
              <a:rPr lang="en-US" sz="2800" dirty="0"/>
            </a:br>
            <a:r>
              <a:rPr lang="en-US" sz="2000" dirty="0">
                <a:latin typeface="Courier" pitchFamily="2" charset="0"/>
              </a:rPr>
              <a:t>	</a:t>
            </a:r>
            <a:r>
              <a:rPr lang="en-US" sz="1800" dirty="0">
                <a:solidFill>
                  <a:srgbClr val="FF0000"/>
                </a:solidFill>
                <a:latin typeface="Courier" pitchFamily="2" charset="0"/>
              </a:rPr>
              <a:t>class</a:t>
            </a:r>
            <a:r>
              <a:rPr lang="en-US" sz="1800" dirty="0">
                <a:latin typeface="Courier" pitchFamily="2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Courier" pitchFamily="2" charset="0"/>
              </a:rPr>
              <a:t>DayOfYear</a:t>
            </a:r>
            <a:r>
              <a:rPr lang="en-US" sz="1800" dirty="0">
                <a:solidFill>
                  <a:srgbClr val="FF0000"/>
                </a:solidFill>
                <a:latin typeface="Courier" pitchFamily="2" charset="0"/>
              </a:rPr>
              <a:t> </a:t>
            </a:r>
            <a:r>
              <a:rPr lang="en-US" sz="1800" dirty="0">
                <a:latin typeface="Courier" pitchFamily="2" charset="0"/>
              </a:rPr>
              <a:t>   	</a:t>
            </a:r>
            <a:r>
              <a:rPr lang="en-US" sz="1800" dirty="0">
                <a:solidFill>
                  <a:srgbClr val="FF0000"/>
                </a:solidFill>
                <a:latin typeface="Courier" pitchFamily="2" charset="0"/>
                <a:sym typeface="Wingdings" pitchFamily="2" charset="2"/>
              </a:rPr>
              <a:t></a:t>
            </a:r>
            <a:r>
              <a:rPr lang="en-US" sz="1800" dirty="0">
                <a:solidFill>
                  <a:srgbClr val="FF0000"/>
                </a:solidFill>
                <a:latin typeface="Courier" pitchFamily="2" charset="0"/>
              </a:rPr>
              <a:t> name of a new class type</a:t>
            </a:r>
            <a:br>
              <a:rPr lang="en-US" sz="1800" dirty="0">
                <a:latin typeface="Courier" pitchFamily="2" charset="0"/>
              </a:rPr>
            </a:br>
            <a:r>
              <a:rPr lang="en-US" sz="1800" dirty="0">
                <a:latin typeface="Courier" pitchFamily="2" charset="0"/>
              </a:rPr>
              <a:t>	{</a:t>
            </a:r>
            <a:br>
              <a:rPr lang="en-US" sz="1800" dirty="0">
                <a:latin typeface="Courier" pitchFamily="2" charset="0"/>
              </a:rPr>
            </a:br>
            <a:r>
              <a:rPr lang="en-US" sz="1800" dirty="0">
                <a:latin typeface="Courier" pitchFamily="2" charset="0"/>
              </a:rPr>
              <a:t>	public:			  	</a:t>
            </a:r>
            <a:r>
              <a:rPr lang="en-US" altLang="ko-KR" sz="1800" dirty="0">
                <a:latin typeface="Courier" pitchFamily="2" charset="0"/>
                <a:sym typeface="Wingdings" pitchFamily="2" charset="2"/>
              </a:rPr>
              <a:t></a:t>
            </a:r>
            <a:r>
              <a:rPr lang="en-US" altLang="ko-KR" sz="1800" dirty="0">
                <a:latin typeface="Courier" pitchFamily="2" charset="0"/>
              </a:rPr>
              <a:t> On “public” vs. “private” given later</a:t>
            </a:r>
            <a:br>
              <a:rPr lang="en-US" sz="1800" dirty="0">
                <a:latin typeface="Courier" pitchFamily="2" charset="0"/>
              </a:rPr>
            </a:br>
            <a:r>
              <a:rPr lang="en-US" sz="1800" dirty="0">
                <a:latin typeface="Courier" pitchFamily="2" charset="0"/>
              </a:rPr>
              <a:t>		</a:t>
            </a:r>
            <a:r>
              <a:rPr lang="en-US" sz="1800" dirty="0">
                <a:solidFill>
                  <a:srgbClr val="0000FF"/>
                </a:solidFill>
                <a:latin typeface="Courier" pitchFamily="2" charset="0"/>
              </a:rPr>
              <a:t>void output();  	</a:t>
            </a:r>
            <a:r>
              <a:rPr lang="en-US" sz="1800" dirty="0">
                <a:solidFill>
                  <a:srgbClr val="0000EA"/>
                </a:solidFill>
                <a:latin typeface="Courier" pitchFamily="2" charset="0"/>
                <a:sym typeface="Wingdings" pitchFamily="2" charset="2"/>
              </a:rPr>
              <a:t></a:t>
            </a:r>
            <a:r>
              <a:rPr lang="en-US" sz="1800" dirty="0">
                <a:solidFill>
                  <a:srgbClr val="0000EA"/>
                </a:solidFill>
                <a:latin typeface="Courier" pitchFamily="2" charset="0"/>
              </a:rPr>
              <a:t> member function declaration!</a:t>
            </a:r>
            <a:br>
              <a:rPr lang="en-US" sz="1800" dirty="0">
                <a:latin typeface="Courier" pitchFamily="2" charset="0"/>
              </a:rPr>
            </a:br>
            <a:r>
              <a:rPr lang="en-US" sz="1800" dirty="0">
                <a:latin typeface="Courier" pitchFamily="2" charset="0"/>
              </a:rPr>
              <a:t>		</a:t>
            </a:r>
            <a:r>
              <a:rPr lang="en-US" sz="1800" dirty="0" err="1">
                <a:latin typeface="Courier" pitchFamily="2" charset="0"/>
              </a:rPr>
              <a:t>int</a:t>
            </a:r>
            <a:r>
              <a:rPr lang="en-US" sz="1800" dirty="0">
                <a:latin typeface="Courier" pitchFamily="2" charset="0"/>
              </a:rPr>
              <a:t> month;</a:t>
            </a:r>
            <a:br>
              <a:rPr lang="en-US" sz="1800" dirty="0">
                <a:latin typeface="Courier" pitchFamily="2" charset="0"/>
              </a:rPr>
            </a:br>
            <a:r>
              <a:rPr lang="en-US" sz="1800" dirty="0">
                <a:latin typeface="Courier" pitchFamily="2" charset="0"/>
              </a:rPr>
              <a:t>		</a:t>
            </a:r>
            <a:r>
              <a:rPr lang="en-US" sz="1800" dirty="0" err="1">
                <a:latin typeface="Courier" pitchFamily="2" charset="0"/>
              </a:rPr>
              <a:t>int</a:t>
            </a:r>
            <a:r>
              <a:rPr lang="en-US" sz="1800" dirty="0">
                <a:latin typeface="Courier" pitchFamily="2" charset="0"/>
              </a:rPr>
              <a:t> day;</a:t>
            </a:r>
            <a:br>
              <a:rPr lang="en-US" sz="1800" dirty="0">
                <a:latin typeface="Courier" pitchFamily="2" charset="0"/>
              </a:rPr>
            </a:br>
            <a:r>
              <a:rPr lang="en-US" sz="1800" dirty="0">
                <a:latin typeface="Courier" pitchFamily="2" charset="0"/>
              </a:rPr>
              <a:t>	}</a:t>
            </a:r>
            <a:r>
              <a:rPr lang="en-US" sz="1800" dirty="0">
                <a:solidFill>
                  <a:srgbClr val="FF0000"/>
                </a:solidFill>
                <a:latin typeface="Courier" pitchFamily="2" charset="0"/>
              </a:rPr>
              <a:t>;</a:t>
            </a:r>
            <a:endParaRPr lang="en-US" sz="2400" dirty="0">
              <a:solidFill>
                <a:srgbClr val="FF0000"/>
              </a:solidFill>
              <a:latin typeface="Courier" pitchFamily="2" charset="0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dirty="0"/>
              <a:t>Notice that only the member function’s </a:t>
            </a:r>
            <a:r>
              <a:rPr lang="en-US" sz="2800" b="1" dirty="0"/>
              <a:t>prototype</a:t>
            </a:r>
            <a:r>
              <a:rPr lang="en-US" sz="2800" dirty="0"/>
              <a:t> is included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Function’s definition is somewhere else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81418E6-988E-8CD4-ECF0-296A17CE7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23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4466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Declaring Objects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9709" y="1404738"/>
            <a:ext cx="8704579" cy="473906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Declared the same as other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Predefined types, structure types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dirty="0"/>
              <a:t>Example:</a:t>
            </a:r>
            <a:br>
              <a:rPr lang="en-US" sz="2800" dirty="0"/>
            </a:br>
            <a:r>
              <a:rPr lang="en-US" sz="2800" dirty="0"/>
              <a:t>	</a:t>
            </a:r>
            <a:r>
              <a:rPr lang="en-US" sz="2400" dirty="0" err="1">
                <a:solidFill>
                  <a:srgbClr val="FF0000"/>
                </a:solidFill>
                <a:latin typeface="Courier" pitchFamily="2" charset="0"/>
              </a:rPr>
              <a:t>DayOfYear</a:t>
            </a:r>
            <a:r>
              <a:rPr lang="en-US" sz="2400" dirty="0">
                <a:latin typeface="Courier" pitchFamily="2" charset="0"/>
              </a:rPr>
              <a:t> today, birthday;</a:t>
            </a:r>
            <a:endParaRPr lang="en-US" dirty="0">
              <a:latin typeface="Courier" pitchFamily="2" charset="0"/>
            </a:endParaRPr>
          </a:p>
          <a:p>
            <a:pPr lvl="1">
              <a:lnSpc>
                <a:spcPct val="90000"/>
              </a:lnSpc>
              <a:spcBef>
                <a:spcPct val="40000"/>
              </a:spcBef>
            </a:pPr>
            <a:r>
              <a:rPr lang="en-US" dirty="0"/>
              <a:t>Declares two objects of class type </a:t>
            </a:r>
            <a:r>
              <a:rPr lang="en-US" dirty="0" err="1">
                <a:latin typeface="Courier" pitchFamily="2" charset="0"/>
              </a:rPr>
              <a:t>DayOfYear</a:t>
            </a:r>
            <a:endParaRPr lang="en-US" sz="1600" dirty="0">
              <a:latin typeface="Courier" pitchFamily="2" charset="0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dirty="0"/>
              <a:t>Objects include: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solidFill>
                  <a:srgbClr val="0000FF"/>
                </a:solidFill>
              </a:rPr>
              <a:t>Data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/>
              <a:t>Ex) </a:t>
            </a:r>
            <a:r>
              <a:rPr lang="en-US" sz="2000" dirty="0">
                <a:latin typeface="Courier" pitchFamily="2" charset="0"/>
              </a:rPr>
              <a:t>month, day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solidFill>
                  <a:srgbClr val="0000FF"/>
                </a:solidFill>
              </a:rPr>
              <a:t>Operations</a:t>
            </a:r>
            <a:r>
              <a:rPr lang="en-US" sz="2400" dirty="0"/>
              <a:t> (i.e., member functions)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/>
              <a:t>Ex) </a:t>
            </a:r>
            <a:r>
              <a:rPr lang="en-US" sz="2000" dirty="0">
                <a:latin typeface="Courier" pitchFamily="2" charset="0"/>
              </a:rPr>
              <a:t>output()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3DEB579-D9B6-2D74-7074-F4FD32A6A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24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1734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Class Member Access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Dot operator</a:t>
            </a:r>
          </a:p>
          <a:p>
            <a:pPr lvl="1"/>
            <a:r>
              <a:rPr lang="en-US" dirty="0"/>
              <a:t>Members are accessed the same as structures! </a:t>
            </a:r>
          </a:p>
          <a:p>
            <a:pPr eaLnBrk="1" hangingPunct="1"/>
            <a:r>
              <a:rPr lang="en-US" dirty="0"/>
              <a:t>Ex)</a:t>
            </a:r>
          </a:p>
          <a:p>
            <a:pPr lvl="1"/>
            <a:r>
              <a:rPr lang="en-US" dirty="0"/>
              <a:t>To access the member variables:</a:t>
            </a:r>
            <a:br>
              <a:rPr lang="en-US" dirty="0"/>
            </a:br>
            <a:r>
              <a:rPr lang="en-US" sz="2000" dirty="0" err="1">
                <a:latin typeface="Courier" pitchFamily="2" charset="0"/>
              </a:rPr>
              <a:t>today.month</a:t>
            </a:r>
            <a:br>
              <a:rPr lang="en-US" sz="2000" dirty="0">
                <a:latin typeface="Courier" pitchFamily="2" charset="0"/>
              </a:rPr>
            </a:br>
            <a:r>
              <a:rPr lang="en-US" sz="2000" dirty="0" err="1">
                <a:latin typeface="Courier" pitchFamily="2" charset="0"/>
              </a:rPr>
              <a:t>today.day</a:t>
            </a:r>
            <a:r>
              <a:rPr lang="en-US" sz="2000" dirty="0">
                <a:latin typeface="Courier" pitchFamily="2" charset="0"/>
              </a:rPr>
              <a:t>	</a:t>
            </a:r>
            <a:endParaRPr lang="en-US" sz="2800" dirty="0">
              <a:latin typeface="Courier" pitchFamily="2" charset="0"/>
            </a:endParaRPr>
          </a:p>
          <a:p>
            <a:pPr lvl="1" eaLnBrk="1" hangingPunct="1"/>
            <a:r>
              <a:rPr lang="en-US" dirty="0"/>
              <a:t>To access the member function:</a:t>
            </a:r>
            <a:br>
              <a:rPr lang="en-US" dirty="0"/>
            </a:br>
            <a:r>
              <a:rPr lang="en-US" sz="2000" dirty="0" err="1">
                <a:solidFill>
                  <a:srgbClr val="FF0000"/>
                </a:solidFill>
                <a:latin typeface="Courier" pitchFamily="2" charset="0"/>
              </a:rPr>
              <a:t>today.output</a:t>
            </a:r>
            <a:r>
              <a:rPr lang="en-US" sz="2000" dirty="0">
                <a:solidFill>
                  <a:srgbClr val="FF0000"/>
                </a:solidFill>
                <a:latin typeface="Courier" pitchFamily="2" charset="0"/>
              </a:rPr>
              <a:t>();</a:t>
            </a:r>
            <a:r>
              <a:rPr lang="en-US" sz="2000" dirty="0">
                <a:latin typeface="Courier" pitchFamily="2" charset="0"/>
              </a:rPr>
              <a:t> 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</a:t>
            </a:r>
            <a:r>
              <a:rPr lang="en-US" dirty="0"/>
              <a:t> Invokes the member function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B71F702-B9D6-6978-26AC-84BB49352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25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7268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Class Member Functions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Must define or "implement" class member functions</a:t>
            </a:r>
          </a:p>
          <a:p>
            <a:pPr eaLnBrk="1" hangingPunct="1"/>
            <a:r>
              <a:rPr lang="en-US" sz="2800" dirty="0"/>
              <a:t>Like other function definitions</a:t>
            </a:r>
          </a:p>
          <a:p>
            <a:pPr lvl="1" eaLnBrk="1" hangingPunct="1"/>
            <a:r>
              <a:rPr lang="en-US" sz="2400" dirty="0"/>
              <a:t>Can be after </a:t>
            </a:r>
            <a:r>
              <a:rPr lang="en-US" sz="2400" dirty="0">
                <a:latin typeface="Courier" pitchFamily="2" charset="0"/>
              </a:rPr>
              <a:t>main()</a:t>
            </a:r>
          </a:p>
          <a:p>
            <a:pPr lvl="1" eaLnBrk="1" hangingPunct="1"/>
            <a:r>
              <a:rPr lang="en-US" sz="2400" dirty="0"/>
              <a:t>Must specify class:</a:t>
            </a:r>
            <a:br>
              <a:rPr lang="en-US" sz="2400" dirty="0"/>
            </a:br>
            <a:r>
              <a:rPr lang="en-US" sz="2000" dirty="0">
                <a:latin typeface="Courier" pitchFamily="2" charset="0"/>
              </a:rPr>
              <a:t>void </a:t>
            </a:r>
            <a:r>
              <a:rPr lang="en-US" sz="2000" dirty="0" err="1">
                <a:solidFill>
                  <a:srgbClr val="FF0000"/>
                </a:solidFill>
                <a:latin typeface="Courier" pitchFamily="2" charset="0"/>
              </a:rPr>
              <a:t>DayOfYear</a:t>
            </a:r>
            <a:r>
              <a:rPr lang="en-US" sz="2000" dirty="0">
                <a:solidFill>
                  <a:srgbClr val="FF0000"/>
                </a:solidFill>
                <a:latin typeface="Courier" pitchFamily="2" charset="0"/>
              </a:rPr>
              <a:t>::</a:t>
            </a:r>
            <a:r>
              <a:rPr lang="en-US" sz="2000" dirty="0">
                <a:latin typeface="Courier" pitchFamily="2" charset="0"/>
              </a:rPr>
              <a:t>output()</a:t>
            </a:r>
            <a:br>
              <a:rPr lang="en-US" sz="2000" dirty="0">
                <a:latin typeface="Courier" pitchFamily="2" charset="0"/>
              </a:rPr>
            </a:br>
            <a:r>
              <a:rPr lang="en-US" sz="2000" dirty="0">
                <a:latin typeface="Courier" pitchFamily="2" charset="0"/>
              </a:rPr>
              <a:t>{…}</a:t>
            </a:r>
            <a:endParaRPr lang="en-US" sz="2400" dirty="0">
              <a:latin typeface="Courier" pitchFamily="2" charset="0"/>
            </a:endParaRPr>
          </a:p>
          <a:p>
            <a:pPr lvl="2" eaLnBrk="1" hangingPunct="1"/>
            <a:r>
              <a:rPr lang="en-US" dirty="0">
                <a:solidFill>
                  <a:srgbClr val="FF0000"/>
                </a:solidFill>
              </a:rPr>
              <a:t>::  </a:t>
            </a:r>
            <a:r>
              <a:rPr lang="en-US" dirty="0"/>
              <a:t>is called the </a:t>
            </a:r>
            <a:r>
              <a:rPr lang="en-US" b="1" dirty="0"/>
              <a:t>scope resolution operator </a:t>
            </a:r>
            <a:br>
              <a:rPr lang="en-US" b="1" dirty="0"/>
            </a:br>
            <a:r>
              <a:rPr lang="en-US" dirty="0"/>
              <a:t>(what is the difference with the dot operator?)</a:t>
            </a:r>
          </a:p>
          <a:p>
            <a:pPr lvl="2" eaLnBrk="1" hangingPunct="1"/>
            <a:r>
              <a:rPr lang="en-US" dirty="0"/>
              <a:t>Instructs compiler "what class" member is from (more than one class may have the member function with the same name!)</a:t>
            </a:r>
          </a:p>
          <a:p>
            <a:pPr lvl="2" eaLnBrk="1" hangingPunct="1"/>
            <a:r>
              <a:rPr lang="en-US" dirty="0"/>
              <a:t>Item before :: is called </a:t>
            </a:r>
            <a:r>
              <a:rPr lang="en-US" b="1" i="1" dirty="0"/>
              <a:t>type qualifier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2EEB3DA-29A9-A093-B6C0-03688A44D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26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8814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/>
              <a:t>Class Member Functions Definition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Notice </a:t>
            </a:r>
            <a:r>
              <a:rPr lang="en-US" sz="2400" dirty="0">
                <a:latin typeface="Courier" pitchFamily="2" charset="0"/>
              </a:rPr>
              <a:t>output() </a:t>
            </a:r>
            <a:r>
              <a:rPr lang="en-US" sz="2800" dirty="0"/>
              <a:t>member function’s definition (in the next example)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dirty="0"/>
              <a:t>When it refers to </a:t>
            </a:r>
            <a:r>
              <a:rPr lang="en-US" sz="2800" b="1" i="1" dirty="0"/>
              <a:t>member data</a:t>
            </a:r>
            <a:r>
              <a:rPr lang="en-US" sz="2800" dirty="0"/>
              <a:t> of the class</a:t>
            </a:r>
          </a:p>
          <a:p>
            <a:pPr lvl="1" eaLnBrk="1" hangingPunct="1"/>
            <a:r>
              <a:rPr lang="en-US" sz="2400" b="1" dirty="0">
                <a:solidFill>
                  <a:srgbClr val="FF0000"/>
                </a:solidFill>
              </a:rPr>
              <a:t>No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need to use the dot operator!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dirty="0"/>
              <a:t>The function </a:t>
            </a:r>
            <a:r>
              <a:rPr lang="en-US" sz="2400" dirty="0"/>
              <a:t>will refer to "that object’s" data when invoked</a:t>
            </a:r>
          </a:p>
          <a:p>
            <a:pPr lvl="1" eaLnBrk="1" hangingPunct="1"/>
            <a:r>
              <a:rPr lang="en-US" sz="2400" dirty="0"/>
              <a:t>Example:</a:t>
            </a:r>
            <a:br>
              <a:rPr lang="en-US" sz="2400" dirty="0"/>
            </a:br>
            <a:r>
              <a:rPr lang="en-US" sz="2400" dirty="0" err="1"/>
              <a:t>today.output</a:t>
            </a:r>
            <a:r>
              <a:rPr lang="en-US" sz="2400" dirty="0"/>
              <a:t>();</a:t>
            </a:r>
          </a:p>
          <a:p>
            <a:pPr lvl="2" eaLnBrk="1" hangingPunct="1"/>
            <a:r>
              <a:rPr lang="en-US" dirty="0"/>
              <a:t>Displays "today" object’s data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F458C8A-334F-3098-CFB9-4E547A157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27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4924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242646"/>
          </a:xfrm>
        </p:spPr>
        <p:txBody>
          <a:bodyPr/>
          <a:lstStyle/>
          <a:p>
            <a:pPr eaLnBrk="1" hangingPunct="1"/>
            <a:r>
              <a:rPr lang="en-US" sz="3200" dirty="0"/>
              <a:t>Complete Class Example: </a:t>
            </a:r>
            <a:br>
              <a:rPr lang="en-US" sz="3200" dirty="0"/>
            </a:br>
            <a:r>
              <a:rPr lang="en-US" sz="3200" b="1" dirty="0"/>
              <a:t>Display 6.3</a:t>
            </a:r>
            <a:r>
              <a:rPr lang="en-US" sz="3200" dirty="0"/>
              <a:t>  Class With a Member Function (1 of 3)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D876604-6899-0D48-A7DC-FF217A0C4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770" y="1433636"/>
            <a:ext cx="6317784" cy="4864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560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5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230923"/>
          </a:xfrm>
        </p:spPr>
        <p:txBody>
          <a:bodyPr/>
          <a:lstStyle/>
          <a:p>
            <a:pPr eaLnBrk="1" hangingPunct="1"/>
            <a:r>
              <a:rPr lang="en-US" sz="3200" dirty="0"/>
              <a:t>Complete Class Example: </a:t>
            </a:r>
            <a:br>
              <a:rPr lang="en-US" sz="3200" dirty="0"/>
            </a:br>
            <a:r>
              <a:rPr lang="en-US" sz="3200" b="1" dirty="0"/>
              <a:t>Display 6.3</a:t>
            </a:r>
            <a:r>
              <a:rPr lang="en-US" sz="3200" dirty="0"/>
              <a:t>  Class With a Member Function (2 of 3)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05C452F-DC47-304C-8247-C13122C77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08" y="1718955"/>
            <a:ext cx="6318822" cy="168890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2EED1B6-3A15-AE43-8D9B-695D8EC126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354" y="3356361"/>
            <a:ext cx="6178061" cy="287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6324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277816"/>
          </a:xfrm>
        </p:spPr>
        <p:txBody>
          <a:bodyPr/>
          <a:lstStyle/>
          <a:p>
            <a:pPr eaLnBrk="1" hangingPunct="1"/>
            <a:r>
              <a:rPr lang="en-US" sz="3200" dirty="0"/>
              <a:t>Complete Class Example: </a:t>
            </a:r>
            <a:br>
              <a:rPr lang="en-US" sz="3200" dirty="0"/>
            </a:br>
            <a:r>
              <a:rPr lang="en-US" sz="3200" b="1" dirty="0"/>
              <a:t>Display 6.3</a:t>
            </a:r>
            <a:r>
              <a:rPr lang="en-US" sz="3200" dirty="0"/>
              <a:t>  Class With a Member Function (3 of 3)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7A33EF7-617B-0C45-AE03-8CF9B28A0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89" y="1711569"/>
            <a:ext cx="5047311" cy="453708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00A2398-7DB3-FC49-AA47-89D1F6A862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1946" y="2637692"/>
            <a:ext cx="3255365" cy="225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552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 Class’s Place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Class is a full-fledged type!</a:t>
            </a:r>
          </a:p>
          <a:p>
            <a:pPr lvl="1" eaLnBrk="1" hangingPunct="1"/>
            <a:r>
              <a:rPr lang="en-US" dirty="0"/>
              <a:t>Just like usual data types </a:t>
            </a:r>
            <a:r>
              <a:rPr lang="en-US" dirty="0" err="1">
                <a:solidFill>
                  <a:srgbClr val="0000FF"/>
                </a:solidFill>
              </a:rPr>
              <a:t>int</a:t>
            </a:r>
            <a:r>
              <a:rPr lang="en-US" dirty="0">
                <a:solidFill>
                  <a:srgbClr val="0000FF"/>
                </a:solidFill>
              </a:rPr>
              <a:t>, double, etc</a:t>
            </a:r>
            <a:r>
              <a:rPr lang="en-US" dirty="0"/>
              <a:t>.</a:t>
            </a:r>
            <a:endParaRPr lang="en-US" sz="2400" dirty="0"/>
          </a:p>
          <a:p>
            <a:pPr eaLnBrk="1" hangingPunct="1">
              <a:spcBef>
                <a:spcPct val="50000"/>
              </a:spcBef>
            </a:pPr>
            <a:r>
              <a:rPr lang="en-US" sz="2800" dirty="0"/>
              <a:t>Can have variables of a class type</a:t>
            </a:r>
          </a:p>
          <a:p>
            <a:pPr lvl="1" eaLnBrk="1" hangingPunct="1"/>
            <a:r>
              <a:rPr lang="en-US" sz="2400" dirty="0"/>
              <a:t>We simply call them "</a:t>
            </a:r>
            <a:r>
              <a:rPr lang="en-US" sz="2400" dirty="0">
                <a:solidFill>
                  <a:srgbClr val="FF0000"/>
                </a:solidFill>
              </a:rPr>
              <a:t>objects</a:t>
            </a:r>
            <a:r>
              <a:rPr lang="en-US" sz="2400" dirty="0"/>
              <a:t>"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dirty="0"/>
              <a:t>Can have parameters of a class type</a:t>
            </a:r>
          </a:p>
          <a:p>
            <a:pPr lvl="1" eaLnBrk="1" hangingPunct="1"/>
            <a:r>
              <a:rPr lang="en-US" dirty="0"/>
              <a:t>Call</a:t>
            </a:r>
            <a:r>
              <a:rPr lang="en-US" sz="2400" dirty="0"/>
              <a:t>-by-value</a:t>
            </a:r>
          </a:p>
          <a:p>
            <a:pPr lvl="1" eaLnBrk="1" hangingPunct="1"/>
            <a:r>
              <a:rPr lang="en-US" dirty="0"/>
              <a:t>Call</a:t>
            </a:r>
            <a:r>
              <a:rPr lang="en-US" sz="2400" dirty="0"/>
              <a:t>-by-reference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dirty="0"/>
              <a:t>Can use class type like any other type!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BD959A-8B41-6F85-2DBC-81ED9E64E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31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6545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Encapsulation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963" y="1293314"/>
            <a:ext cx="8960072" cy="473906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Not that </a:t>
            </a:r>
            <a:r>
              <a:rPr lang="en-US" sz="2800" b="1" i="1" dirty="0"/>
              <a:t>any</a:t>
            </a:r>
            <a:r>
              <a:rPr lang="en-US" sz="2800" dirty="0"/>
              <a:t> data type includes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solidFill>
                  <a:srgbClr val="FF0000"/>
                </a:solidFill>
              </a:rPr>
              <a:t>Data</a:t>
            </a:r>
            <a:r>
              <a:rPr lang="en-US" sz="2400" dirty="0"/>
              <a:t> (range of data)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solidFill>
                  <a:srgbClr val="FF0000"/>
                </a:solidFill>
              </a:rPr>
              <a:t>Operations </a:t>
            </a:r>
            <a:r>
              <a:rPr lang="en-US" sz="2400" dirty="0"/>
              <a:t>(or functions that can be performed on data)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dirty="0"/>
              <a:t>Ex)</a:t>
            </a:r>
            <a:br>
              <a:rPr lang="en-US" sz="2800" dirty="0"/>
            </a:br>
            <a:r>
              <a:rPr lang="en-US" sz="2800" dirty="0"/>
              <a:t>	</a:t>
            </a:r>
            <a:r>
              <a:rPr lang="en-US" sz="2800" dirty="0">
                <a:solidFill>
                  <a:srgbClr val="0000FF"/>
                </a:solidFill>
                <a:latin typeface="Courier" pitchFamily="2" charset="0"/>
              </a:rPr>
              <a:t>int</a:t>
            </a:r>
            <a:r>
              <a:rPr lang="en-US" sz="2800" dirty="0"/>
              <a:t> has:</a:t>
            </a:r>
            <a:br>
              <a:rPr lang="en-US" sz="2800" dirty="0"/>
            </a:br>
            <a:r>
              <a:rPr lang="en-US" sz="2800" dirty="0"/>
              <a:t>			</a:t>
            </a:r>
            <a:r>
              <a:rPr lang="en-US" sz="2000" dirty="0"/>
              <a:t>Data: </a:t>
            </a:r>
            <a:r>
              <a:rPr lang="en-US" sz="1600" dirty="0">
                <a:latin typeface="Courier" pitchFamily="2" charset="0"/>
              </a:rPr>
              <a:t>-2147483648 to 2147483647</a:t>
            </a:r>
            <a:r>
              <a:rPr lang="en-US" sz="2000" dirty="0"/>
              <a:t> (for 32 bit int)</a:t>
            </a:r>
            <a:br>
              <a:rPr lang="en-US" sz="2000" dirty="0"/>
            </a:br>
            <a:r>
              <a:rPr lang="en-US" sz="2000" dirty="0"/>
              <a:t>			Operations: </a:t>
            </a:r>
            <a:r>
              <a:rPr lang="en-US" sz="1800" dirty="0">
                <a:latin typeface="Courier" pitchFamily="2" charset="0"/>
              </a:rPr>
              <a:t>+,-,*,/,%,logical</a:t>
            </a:r>
            <a:r>
              <a:rPr lang="en-US" sz="2000" dirty="0"/>
              <a:t>, etc.</a:t>
            </a:r>
            <a:endParaRPr lang="en-US" sz="2800" dirty="0"/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dirty="0"/>
              <a:t>Two points</a:t>
            </a:r>
          </a:p>
          <a:p>
            <a:pPr marL="914400" lvl="1" indent="-457200">
              <a:lnSpc>
                <a:spcPct val="90000"/>
              </a:lnSpc>
              <a:spcBef>
                <a:spcPct val="40000"/>
              </a:spcBef>
              <a:buFont typeface="+mj-lt"/>
              <a:buAutoNum type="arabicPeriod"/>
            </a:pPr>
            <a:r>
              <a:rPr lang="en-US" dirty="0"/>
              <a:t>Data type is not just a simple collection of values (operation is needed!)</a:t>
            </a:r>
          </a:p>
          <a:p>
            <a:pPr marL="914400" lvl="1" indent="-457200">
              <a:lnSpc>
                <a:spcPct val="90000"/>
              </a:lnSpc>
              <a:spcBef>
                <a:spcPct val="40000"/>
              </a:spcBef>
              <a:buFont typeface="+mj-lt"/>
              <a:buAutoNum type="arabicPeriod"/>
            </a:pPr>
            <a:r>
              <a:rPr lang="en-US" dirty="0"/>
              <a:t>We do not need to know how the int data type is implemented! (But, we can just use it!)</a:t>
            </a:r>
          </a:p>
          <a:p>
            <a:pPr lvl="1">
              <a:lnSpc>
                <a:spcPct val="90000"/>
              </a:lnSpc>
              <a:spcBef>
                <a:spcPct val="40000"/>
              </a:spcBef>
            </a:pPr>
            <a:endParaRPr 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270E9DC-47BC-C2B0-76E5-8029C080C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32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3310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Abstract Data Types (ADT)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A data type</a:t>
            </a:r>
          </a:p>
          <a:p>
            <a:pPr lvl="1">
              <a:lnSpc>
                <a:spcPct val="90000"/>
              </a:lnSpc>
            </a:pPr>
            <a:r>
              <a:rPr lang="en-US" altLang="ko-KR" dirty="0"/>
              <a:t>Collection of data values + set of operations for the values</a:t>
            </a:r>
            <a:endParaRPr 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Programmers don’t need to know the details on how the values and operations are implemented </a:t>
            </a:r>
            <a:r>
              <a:rPr lang="en-US" sz="2400" dirty="0">
                <a:sym typeface="Wingdings" pitchFamily="2" charset="2"/>
              </a:rPr>
              <a:t> </a:t>
            </a:r>
            <a:r>
              <a:rPr lang="en-US" sz="2400" dirty="0">
                <a:solidFill>
                  <a:srgbClr val="0000FF"/>
                </a:solidFill>
                <a:sym typeface="Wingdings" pitchFamily="2" charset="2"/>
              </a:rPr>
              <a:t>“Abstract”!!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latin typeface="Courier" pitchFamily="2" charset="0"/>
                <a:sym typeface="Wingdings" pitchFamily="2" charset="2"/>
              </a:rPr>
              <a:t>int</a:t>
            </a:r>
            <a:r>
              <a:rPr lang="en-US" dirty="0">
                <a:sym typeface="Wingdings" pitchFamily="2" charset="2"/>
              </a:rPr>
              <a:t> is an ADT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Classes</a:t>
            </a:r>
          </a:p>
          <a:p>
            <a:pPr lvl="1">
              <a:lnSpc>
                <a:spcPct val="90000"/>
              </a:lnSpc>
            </a:pPr>
            <a:r>
              <a:rPr lang="en-US" b="1" i="1" dirty="0"/>
              <a:t>Programmer-defined</a:t>
            </a:r>
            <a:r>
              <a:rPr lang="en-US" dirty="0"/>
              <a:t> ADTs</a:t>
            </a:r>
          </a:p>
          <a:p>
            <a:pPr lvl="1">
              <a:lnSpc>
                <a:spcPct val="90000"/>
              </a:lnSpc>
            </a:pPr>
            <a:r>
              <a:rPr lang="en-US" altLang="ko-KR" dirty="0"/>
              <a:t>WE specify </a:t>
            </a:r>
            <a:r>
              <a:rPr lang="en-US" altLang="ko-KR" b="1" dirty="0"/>
              <a:t>data</a:t>
            </a:r>
            <a:r>
              <a:rPr lang="en-US" altLang="ko-KR" dirty="0"/>
              <a:t>, and the </a:t>
            </a:r>
            <a:r>
              <a:rPr lang="en-US" altLang="ko-KR" b="1" dirty="0"/>
              <a:t>operations</a:t>
            </a:r>
            <a:r>
              <a:rPr lang="en-US" altLang="ko-KR" dirty="0"/>
              <a:t> on our data!</a:t>
            </a:r>
          </a:p>
          <a:p>
            <a:pPr lvl="1">
              <a:lnSpc>
                <a:spcPct val="90000"/>
              </a:lnSpc>
            </a:pPr>
            <a:r>
              <a:rPr lang="en-US" altLang="ko-KR" dirty="0"/>
              <a:t>Details of how the “operations” are implemented should be hidden from the users </a:t>
            </a:r>
            <a:r>
              <a:rPr lang="en-US" altLang="ko-KR" dirty="0">
                <a:sym typeface="Wingdings" pitchFamily="2" charset="2"/>
              </a:rPr>
              <a:t> declaration/comments should suffice for using the class</a:t>
            </a:r>
            <a:endParaRPr lang="en-US" altLang="ko-KR" dirty="0"/>
          </a:p>
          <a:p>
            <a:pPr>
              <a:lnSpc>
                <a:spcPct val="90000"/>
              </a:lnSpc>
            </a:pPr>
            <a:r>
              <a:rPr lang="en-US" b="1" i="1" dirty="0"/>
              <a:t>Encapsulation/Information hiding/data abstraction</a:t>
            </a:r>
            <a:endParaRPr lang="en-US" i="1" dirty="0"/>
          </a:p>
          <a:p>
            <a:pPr lvl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endParaRPr lang="en-US" sz="2400" dirty="0"/>
          </a:p>
          <a:p>
            <a:pPr lvl="1">
              <a:lnSpc>
                <a:spcPct val="90000"/>
              </a:lnSpc>
              <a:spcBef>
                <a:spcPct val="40000"/>
              </a:spcBef>
            </a:pPr>
            <a:endParaRPr lang="en-US" altLang="ko-KR" b="1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C928FB6-8BAD-8686-C83D-8F1B12604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33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3170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Encapsulation – </a:t>
            </a:r>
            <a:br>
              <a:rPr lang="en-US" dirty="0"/>
            </a:br>
            <a:r>
              <a:rPr lang="en-US" dirty="0"/>
              <a:t>Separation of Interface &amp; Implementation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DA0FD8E9-AB9F-5941-8F2B-3BC87CBCF685}"/>
              </a:ext>
            </a:extLst>
          </p:cNvPr>
          <p:cNvSpPr txBox="1">
            <a:spLocks/>
          </p:cNvSpPr>
          <p:nvPr/>
        </p:nvSpPr>
        <p:spPr>
          <a:xfrm>
            <a:off x="72" y="1300225"/>
            <a:ext cx="8229600" cy="55972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Gill Sans MT" charset="0"/>
                <a:ea typeface="Gill Sans MT" charset="0"/>
                <a:cs typeface="Gill Sans MT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ko-KR" dirty="0"/>
              <a:t>How do we realize encapsulation in C++?</a:t>
            </a:r>
          </a:p>
          <a:p>
            <a:pPr lvl="1" fontAlgn="auto">
              <a:spcAft>
                <a:spcPts val="0"/>
              </a:spcAft>
            </a:pPr>
            <a:r>
              <a:rPr lang="en-US" altLang="ko-KR" dirty="0"/>
              <a:t>Data and function access is encouraged to be done only through the </a:t>
            </a:r>
            <a:r>
              <a:rPr lang="en-US" altLang="ko-KR" b="1" dirty="0"/>
              <a:t>(public)</a:t>
            </a:r>
            <a:r>
              <a:rPr lang="en-US" altLang="ko-KR" dirty="0"/>
              <a:t> </a:t>
            </a:r>
            <a:r>
              <a:rPr lang="en-US" altLang="ko-KR" b="1" dirty="0"/>
              <a:t>member functions</a:t>
            </a:r>
            <a:r>
              <a:rPr lang="en-US" altLang="ko-KR" dirty="0"/>
              <a:t> (interface) </a:t>
            </a:r>
          </a:p>
          <a:p>
            <a:pPr lvl="1" fontAlgn="auto">
              <a:spcAft>
                <a:spcPts val="0"/>
              </a:spcAft>
            </a:pPr>
            <a:r>
              <a:rPr lang="en-US" altLang="ko-KR" dirty="0"/>
              <a:t>Hide the implementation details of the data and functions</a:t>
            </a:r>
            <a:br>
              <a:rPr lang="en-US" altLang="ko-KR" dirty="0"/>
            </a:br>
            <a:r>
              <a:rPr lang="en-US" altLang="ko-KR" b="1" dirty="0"/>
              <a:t>(private!)</a:t>
            </a:r>
          </a:p>
          <a:p>
            <a:pPr marL="457200" lvl="1" indent="0" fontAlgn="auto">
              <a:spcAft>
                <a:spcPts val="0"/>
              </a:spcAft>
              <a:buNone/>
            </a:pPr>
            <a:endParaRPr lang="en-US" altLang="ko-KR" dirty="0"/>
          </a:p>
          <a:p>
            <a:pPr lvl="1" fontAlgn="auto">
              <a:spcAft>
                <a:spcPts val="0"/>
              </a:spcAft>
              <a:buFont typeface="Arial"/>
              <a:buNone/>
            </a:pPr>
            <a:endParaRPr lang="en-US" altLang="ko-KR" dirty="0"/>
          </a:p>
          <a:p>
            <a:pPr lvl="1" fontAlgn="auto">
              <a:spcAft>
                <a:spcPts val="0"/>
              </a:spcAft>
              <a:buFont typeface="Arial"/>
              <a:buNone/>
            </a:pPr>
            <a:endParaRPr lang="en-US" altLang="ko-KR" dirty="0"/>
          </a:p>
          <a:p>
            <a:pPr lvl="1" fontAlgn="auto">
              <a:spcAft>
                <a:spcPts val="0"/>
              </a:spcAft>
              <a:buFont typeface="Arial"/>
              <a:buNone/>
            </a:pPr>
            <a:endParaRPr lang="en-US" altLang="ko-KR" dirty="0"/>
          </a:p>
          <a:p>
            <a:pPr lvl="1" fontAlgn="auto">
              <a:spcAft>
                <a:spcPts val="0"/>
              </a:spcAft>
              <a:buFont typeface="Arial"/>
              <a:buNone/>
            </a:pPr>
            <a:endParaRPr lang="en-US" altLang="ko-KR" dirty="0"/>
          </a:p>
          <a:p>
            <a:pPr lvl="1" fontAlgn="auto">
              <a:spcAft>
                <a:spcPts val="0"/>
              </a:spcAft>
              <a:buFont typeface="Arial"/>
              <a:buNone/>
            </a:pPr>
            <a:endParaRPr lang="en-US" altLang="ko-KR" dirty="0"/>
          </a:p>
          <a:p>
            <a:pPr lvl="1" fontAlgn="auto">
              <a:spcAft>
                <a:spcPts val="0"/>
              </a:spcAft>
              <a:buFont typeface="Arial"/>
              <a:buNone/>
            </a:pPr>
            <a:endParaRPr lang="en-US" altLang="ko-KR" dirty="0"/>
          </a:p>
          <a:p>
            <a:pPr lvl="1" fontAlgn="auto">
              <a:spcAft>
                <a:spcPts val="0"/>
              </a:spcAft>
              <a:buFont typeface="Arial"/>
              <a:buNone/>
            </a:pPr>
            <a:endParaRPr lang="en-US" altLang="ko-KR" dirty="0"/>
          </a:p>
          <a:p>
            <a:pPr fontAlgn="auto">
              <a:spcAft>
                <a:spcPts val="0"/>
              </a:spcAft>
            </a:pPr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4B9DCC7-72A6-4646-83E8-EFF4BC9E80B3}"/>
              </a:ext>
            </a:extLst>
          </p:cNvPr>
          <p:cNvGrpSpPr/>
          <p:nvPr/>
        </p:nvGrpSpPr>
        <p:grpSpPr>
          <a:xfrm>
            <a:off x="974755" y="3748601"/>
            <a:ext cx="3143272" cy="2069650"/>
            <a:chOff x="1123933" y="1857364"/>
            <a:chExt cx="5234017" cy="3446276"/>
          </a:xfrm>
        </p:grpSpPr>
        <p:sp>
          <p:nvSpPr>
            <p:cNvPr id="8" name="모서리가 둥근 직사각형 7">
              <a:extLst>
                <a:ext uri="{FF2B5EF4-FFF2-40B4-BE49-F238E27FC236}">
                  <a16:creationId xmlns:a16="http://schemas.microsoft.com/office/drawing/2014/main" id="{FA3E80BA-423B-9B4C-B816-503C3C435990}"/>
                </a:ext>
              </a:extLst>
            </p:cNvPr>
            <p:cNvSpPr/>
            <p:nvPr/>
          </p:nvSpPr>
          <p:spPr>
            <a:xfrm>
              <a:off x="1123933" y="3667060"/>
              <a:ext cx="3000396" cy="1636580"/>
            </a:xfrm>
            <a:prstGeom prst="round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9" name="모서리가 둥근 직사각형 8">
              <a:extLst>
                <a:ext uri="{FF2B5EF4-FFF2-40B4-BE49-F238E27FC236}">
                  <a16:creationId xmlns:a16="http://schemas.microsoft.com/office/drawing/2014/main" id="{D5D447B7-AE6E-DE41-B1FB-91C750D199D9}"/>
                </a:ext>
              </a:extLst>
            </p:cNvPr>
            <p:cNvSpPr/>
            <p:nvPr/>
          </p:nvSpPr>
          <p:spPr>
            <a:xfrm>
              <a:off x="1409685" y="1928802"/>
              <a:ext cx="2375312" cy="785818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atin typeface="Tahoma" pitchFamily="34" charset="0"/>
                  <a:ea typeface="Tahoma" pitchFamily="34" charset="0"/>
                  <a:cs typeface="Tahoma" pitchFamily="34" charset="0"/>
                </a:rPr>
                <a:t>Interface</a:t>
              </a:r>
              <a:endParaRPr lang="ko-KR" altLang="en-US" sz="1400" dirty="0"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0" name="모서리가 둥근 직사각형 9">
              <a:extLst>
                <a:ext uri="{FF2B5EF4-FFF2-40B4-BE49-F238E27FC236}">
                  <a16:creationId xmlns:a16="http://schemas.microsoft.com/office/drawing/2014/main" id="{F2735BBA-E398-5E43-BB58-0B8480C198B6}"/>
                </a:ext>
              </a:extLst>
            </p:cNvPr>
            <p:cNvSpPr/>
            <p:nvPr/>
          </p:nvSpPr>
          <p:spPr>
            <a:xfrm>
              <a:off x="1338247" y="3857628"/>
              <a:ext cx="2571768" cy="1285884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atin typeface="Tahoma" pitchFamily="34" charset="0"/>
                  <a:ea typeface="Tahoma" pitchFamily="34" charset="0"/>
                  <a:cs typeface="Tahoma" pitchFamily="34" charset="0"/>
                </a:rPr>
                <a:t>Implementation</a:t>
              </a:r>
              <a:endParaRPr lang="ko-KR" altLang="en-US" sz="1400" dirty="0"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1" name="위쪽 화살표 7">
              <a:extLst>
                <a:ext uri="{FF2B5EF4-FFF2-40B4-BE49-F238E27FC236}">
                  <a16:creationId xmlns:a16="http://schemas.microsoft.com/office/drawing/2014/main" id="{F4F67A46-EDE9-604D-8975-5BD62F6341D9}"/>
                </a:ext>
              </a:extLst>
            </p:cNvPr>
            <p:cNvSpPr/>
            <p:nvPr/>
          </p:nvSpPr>
          <p:spPr>
            <a:xfrm flipV="1">
              <a:off x="2481255" y="2848870"/>
              <a:ext cx="285752" cy="614634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64745C61-839B-074F-8ABA-0534CAFE2F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338775" y="1857364"/>
              <a:ext cx="1019175" cy="99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7031B50D-9C4A-A94C-929B-96E32DD45A8F}"/>
                </a:ext>
              </a:extLst>
            </p:cNvPr>
            <p:cNvCxnSpPr/>
            <p:nvPr/>
          </p:nvCxnSpPr>
          <p:spPr>
            <a:xfrm rot="10800000">
              <a:off x="3981453" y="2285992"/>
              <a:ext cx="1143008" cy="1588"/>
            </a:xfrm>
            <a:prstGeom prst="straightConnector1">
              <a:avLst/>
            </a:prstGeom>
            <a:ln w="762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E3569B9A-33DB-134E-ABAF-949E3B75CC78}"/>
                </a:ext>
              </a:extLst>
            </p:cNvPr>
            <p:cNvCxnSpPr/>
            <p:nvPr/>
          </p:nvCxnSpPr>
          <p:spPr>
            <a:xfrm rot="10800000" flipV="1">
              <a:off x="4286248" y="2786058"/>
              <a:ext cx="1071570" cy="857256"/>
            </a:xfrm>
            <a:prstGeom prst="straightConnector1">
              <a:avLst/>
            </a:prstGeom>
            <a:ln w="762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C01ACD3-6B09-7D47-8A28-156A4EE21AF2}"/>
              </a:ext>
            </a:extLst>
          </p:cNvPr>
          <p:cNvGrpSpPr/>
          <p:nvPr/>
        </p:nvGrpSpPr>
        <p:grpSpPr>
          <a:xfrm>
            <a:off x="3131292" y="4254389"/>
            <a:ext cx="404538" cy="449487"/>
            <a:chOff x="5429256" y="3071810"/>
            <a:chExt cx="642942" cy="714380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45A49B0F-9DA5-BA4F-B38F-F0DAFDEBB805}"/>
                </a:ext>
              </a:extLst>
            </p:cNvPr>
            <p:cNvCxnSpPr/>
            <p:nvPr/>
          </p:nvCxnSpPr>
          <p:spPr>
            <a:xfrm rot="16200000" flipH="1">
              <a:off x="5393537" y="3107529"/>
              <a:ext cx="714380" cy="642942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AC55CE-8F4B-194E-8A67-E1F9FEE482F9}"/>
                </a:ext>
              </a:extLst>
            </p:cNvPr>
            <p:cNvCxnSpPr/>
            <p:nvPr/>
          </p:nvCxnSpPr>
          <p:spPr>
            <a:xfrm rot="5400000">
              <a:off x="5393537" y="3107529"/>
              <a:ext cx="714380" cy="642942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타원 17">
            <a:extLst>
              <a:ext uri="{FF2B5EF4-FFF2-40B4-BE49-F238E27FC236}">
                <a16:creationId xmlns:a16="http://schemas.microsoft.com/office/drawing/2014/main" id="{0029D627-CFC1-1A40-A2B8-7BB9259E8B9F}"/>
              </a:ext>
            </a:extLst>
          </p:cNvPr>
          <p:cNvSpPr/>
          <p:nvPr/>
        </p:nvSpPr>
        <p:spPr>
          <a:xfrm>
            <a:off x="3064279" y="3805999"/>
            <a:ext cx="423257" cy="4030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A60292-1BD6-8B44-8609-48F091051D1B}"/>
              </a:ext>
            </a:extLst>
          </p:cNvPr>
          <p:cNvSpPr txBox="1"/>
          <p:nvPr/>
        </p:nvSpPr>
        <p:spPr>
          <a:xfrm>
            <a:off x="4631566" y="3860771"/>
            <a:ext cx="4301724" cy="175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285750" indent="-285750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FF0000"/>
                </a:solidFill>
                <a:latin typeface="Gill Sans MT" panose="020B0502020104020203" pitchFamily="34" charset="0"/>
              </a:rPr>
              <a:t>The users of a class need to know only its </a:t>
            </a:r>
            <a:r>
              <a:rPr lang="en-US" altLang="ko-KR" b="1" dirty="0">
                <a:solidFill>
                  <a:srgbClr val="FF0000"/>
                </a:solidFill>
                <a:latin typeface="Gill Sans MT" panose="020B0502020104020203" pitchFamily="34" charset="0"/>
              </a:rPr>
              <a:t>interface</a:t>
            </a:r>
            <a:r>
              <a:rPr lang="en-US" altLang="ko-KR" dirty="0">
                <a:solidFill>
                  <a:srgbClr val="FF0000"/>
                </a:solidFill>
                <a:latin typeface="Gill Sans MT" panose="020B0502020104020203" pitchFamily="34" charset="0"/>
              </a:rPr>
              <a:t>.</a:t>
            </a:r>
            <a:br>
              <a:rPr lang="en-US" altLang="ko-KR" dirty="0">
                <a:solidFill>
                  <a:srgbClr val="FF0000"/>
                </a:solidFill>
                <a:latin typeface="Gill Sans MT" panose="020B0502020104020203" pitchFamily="34" charset="0"/>
              </a:rPr>
            </a:br>
            <a:br>
              <a:rPr lang="en-US" altLang="ko-KR" dirty="0">
                <a:solidFill>
                  <a:srgbClr val="FF0000"/>
                </a:solidFill>
                <a:latin typeface="Gill Sans MT" panose="020B0502020104020203" pitchFamily="34" charset="0"/>
              </a:rPr>
            </a:br>
            <a:r>
              <a:rPr lang="en-US" altLang="ko-KR" dirty="0">
                <a:solidFill>
                  <a:srgbClr val="FF0000"/>
                </a:solidFill>
                <a:latin typeface="Gill Sans MT" panose="020B0502020104020203" pitchFamily="34" charset="0"/>
                <a:sym typeface="Wingdings" pitchFamily="2" charset="2"/>
              </a:rPr>
              <a:t></a:t>
            </a:r>
            <a:r>
              <a:rPr lang="en-US" altLang="ko-KR" dirty="0">
                <a:solidFill>
                  <a:srgbClr val="FF0000"/>
                </a:solidFill>
                <a:latin typeface="Gill Sans MT" panose="020B0502020104020203" pitchFamily="34" charset="0"/>
              </a:rPr>
              <a:t> Only need to know </a:t>
            </a:r>
            <a:r>
              <a:rPr lang="en-US" altLang="ko-KR" b="1" dirty="0">
                <a:solidFill>
                  <a:srgbClr val="FF0000"/>
                </a:solidFill>
                <a:latin typeface="Gill Sans MT" panose="020B0502020104020203" pitchFamily="34" charset="0"/>
              </a:rPr>
              <a:t>what the class does</a:t>
            </a:r>
            <a:r>
              <a:rPr lang="en-US" altLang="ko-KR" dirty="0">
                <a:solidFill>
                  <a:srgbClr val="FF0000"/>
                </a:solidFill>
                <a:latin typeface="Gill Sans MT" panose="020B0502020104020203" pitchFamily="34" charset="0"/>
              </a:rPr>
              <a:t> rather than </a:t>
            </a:r>
            <a:r>
              <a:rPr lang="en-US" altLang="ko-KR" b="1" dirty="0">
                <a:solidFill>
                  <a:srgbClr val="FF0000"/>
                </a:solidFill>
                <a:latin typeface="Gill Sans MT" panose="020B0502020104020203" pitchFamily="34" charset="0"/>
              </a:rPr>
              <a:t>how the class is implemented!</a:t>
            </a:r>
            <a:endParaRPr lang="ko-KR" altLang="en-US" dirty="0">
              <a:solidFill>
                <a:srgbClr val="FF0000"/>
              </a:solidFill>
              <a:latin typeface="Gill Sans MT" panose="020B05020201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6B7929-CE4A-0645-B154-678AD314C9D5}"/>
              </a:ext>
            </a:extLst>
          </p:cNvPr>
          <p:cNvSpPr txBox="1"/>
          <p:nvPr/>
        </p:nvSpPr>
        <p:spPr>
          <a:xfrm>
            <a:off x="5153263" y="5767480"/>
            <a:ext cx="3428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Gill Sans MT" panose="020B0502020104020203" pitchFamily="34" charset="0"/>
              </a:rPr>
              <a:t>An important feature of OOP!</a:t>
            </a:r>
            <a:endParaRPr lang="ko-KR" altLang="en-US" b="1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51E6981-AA04-BBE1-CF51-916FB78D8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34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697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bldLvl="5"/>
      <p:bldP spid="1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Public and Private Members</a:t>
            </a:r>
          </a:p>
        </p:txBody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471" y="1394655"/>
            <a:ext cx="9020529" cy="4739065"/>
          </a:xfrm>
        </p:spPr>
        <p:txBody>
          <a:bodyPr/>
          <a:lstStyle/>
          <a:p>
            <a:pPr eaLnBrk="1" hangingPunct="1"/>
            <a:r>
              <a:rPr lang="en-US" dirty="0"/>
              <a:t>In Display 6.3, you need to know the class has two </a:t>
            </a:r>
            <a:r>
              <a:rPr lang="en-US" dirty="0" err="1"/>
              <a:t>ints</a:t>
            </a:r>
            <a:endParaRPr lang="en-US" dirty="0"/>
          </a:p>
          <a:p>
            <a:pPr lvl="1"/>
            <a:r>
              <a:rPr lang="en-US" dirty="0">
                <a:sym typeface="Wingdings" pitchFamily="2" charset="2"/>
              </a:rPr>
              <a:t>Violates encapsulation!</a:t>
            </a:r>
          </a:p>
          <a:p>
            <a:pPr lvl="1" eaLnBrk="1" hangingPunct="1"/>
            <a:r>
              <a:rPr lang="en-US" dirty="0">
                <a:sym typeface="Wingdings" pitchFamily="2" charset="2"/>
              </a:rPr>
              <a:t>No need to know whether a month is stored as a number or a string</a:t>
            </a:r>
          </a:p>
          <a:p>
            <a:r>
              <a:rPr lang="en-US" dirty="0"/>
              <a:t>We can utilize public/private</a:t>
            </a:r>
            <a:br>
              <a:rPr lang="en-US" dirty="0"/>
            </a:br>
            <a:r>
              <a:rPr lang="en-US" dirty="0"/>
              <a:t>members</a:t>
            </a:r>
          </a:p>
          <a:p>
            <a:pPr lvl="1"/>
            <a:r>
              <a:rPr lang="en-US" b="1" dirty="0"/>
              <a:t>Public: </a:t>
            </a:r>
          </a:p>
          <a:p>
            <a:pPr lvl="2"/>
            <a:r>
              <a:rPr lang="en-US" dirty="0"/>
              <a:t>“user-accessible”</a:t>
            </a:r>
          </a:p>
          <a:p>
            <a:pPr lvl="2"/>
            <a:r>
              <a:rPr lang="en-US" dirty="0"/>
              <a:t>Usually member functions</a:t>
            </a:r>
          </a:p>
          <a:p>
            <a:pPr lvl="1"/>
            <a:r>
              <a:rPr lang="en-US" b="1" dirty="0"/>
              <a:t>Private:</a:t>
            </a:r>
          </a:p>
          <a:p>
            <a:pPr lvl="2"/>
            <a:r>
              <a:rPr lang="en-US" dirty="0"/>
              <a:t>Not directly accessible to users</a:t>
            </a:r>
            <a:endParaRPr lang="en-US" dirty="0">
              <a:sym typeface="Wingdings" pitchFamily="2" charset="2"/>
            </a:endParaRPr>
          </a:p>
          <a:p>
            <a:pPr lvl="2"/>
            <a:r>
              <a:rPr lang="en-US" dirty="0"/>
              <a:t>Allow manipulation only via member functions!</a:t>
            </a:r>
          </a:p>
          <a:p>
            <a:pPr lvl="2"/>
            <a:endParaRPr 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1A586D0-808A-8747-97DA-7A0A78274721}"/>
              </a:ext>
            </a:extLst>
          </p:cNvPr>
          <p:cNvGrpSpPr/>
          <p:nvPr/>
        </p:nvGrpSpPr>
        <p:grpSpPr>
          <a:xfrm>
            <a:off x="5376134" y="2934910"/>
            <a:ext cx="3512372" cy="2328855"/>
            <a:chOff x="5376134" y="2534388"/>
            <a:chExt cx="3512372" cy="2328855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BE66FB1D-47E0-A84E-B4C2-598A197D97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76134" y="2534388"/>
              <a:ext cx="3512372" cy="2328855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34FAE3D5-54EC-D241-8392-FDD2F2E70BEE}"/>
                </a:ext>
              </a:extLst>
            </p:cNvPr>
            <p:cNvSpPr/>
            <p:nvPr/>
          </p:nvSpPr>
          <p:spPr>
            <a:xfrm>
              <a:off x="6208808" y="3450822"/>
              <a:ext cx="1082946" cy="203687"/>
            </a:xfrm>
            <a:prstGeom prst="rect">
              <a:avLst/>
            </a:prstGeom>
            <a:solidFill>
              <a:srgbClr val="FF0000">
                <a:alpha val="48000"/>
              </a:srgbClr>
            </a:solidFill>
            <a:ln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B681F15-242C-F548-B553-8FF10C402D20}"/>
                </a:ext>
              </a:extLst>
            </p:cNvPr>
            <p:cNvSpPr/>
            <p:nvPr/>
          </p:nvSpPr>
          <p:spPr>
            <a:xfrm>
              <a:off x="6208808" y="3798919"/>
              <a:ext cx="1082946" cy="203686"/>
            </a:xfrm>
            <a:prstGeom prst="rect">
              <a:avLst/>
            </a:prstGeom>
            <a:solidFill>
              <a:srgbClr val="FF0000">
                <a:alpha val="48000"/>
              </a:srgbClr>
            </a:solidFill>
            <a:ln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1FA06DA-6F7D-2E41-9BEA-51423E0084DD}"/>
                </a:ext>
              </a:extLst>
            </p:cNvPr>
            <p:cNvSpPr/>
            <p:nvPr/>
          </p:nvSpPr>
          <p:spPr>
            <a:xfrm>
              <a:off x="6208808" y="4291425"/>
              <a:ext cx="1331151" cy="203686"/>
            </a:xfrm>
            <a:prstGeom prst="rect">
              <a:avLst/>
            </a:prstGeom>
            <a:solidFill>
              <a:srgbClr val="FF0000">
                <a:alpha val="48000"/>
              </a:srgbClr>
            </a:solidFill>
            <a:ln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0A6E7D2-A427-5F4D-9266-4E08E4D08914}"/>
                </a:ext>
              </a:extLst>
            </p:cNvPr>
            <p:cNvSpPr/>
            <p:nvPr/>
          </p:nvSpPr>
          <p:spPr>
            <a:xfrm>
              <a:off x="6208809" y="4661985"/>
              <a:ext cx="1176730" cy="201258"/>
            </a:xfrm>
            <a:prstGeom prst="rect">
              <a:avLst/>
            </a:prstGeom>
            <a:solidFill>
              <a:srgbClr val="FF0000">
                <a:alpha val="48000"/>
              </a:srgbClr>
            </a:solidFill>
            <a:ln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553021-1B57-2D35-3724-290CFF8F2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35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1144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Public and Private Example</a:t>
            </a:r>
          </a:p>
        </p:txBody>
      </p:sp>
      <p:sp>
        <p:nvSpPr>
          <p:cNvPr id="757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Modify previous example:</a:t>
            </a:r>
            <a:br>
              <a:rPr lang="en-US" sz="2800" dirty="0"/>
            </a:br>
            <a:br>
              <a:rPr lang="en-US" sz="2800" dirty="0"/>
            </a:br>
            <a:r>
              <a:rPr lang="en-US" sz="2000" dirty="0">
                <a:latin typeface="Courier" pitchFamily="2" charset="0"/>
              </a:rPr>
              <a:t>class </a:t>
            </a:r>
            <a:r>
              <a:rPr lang="en-US" sz="2000" dirty="0" err="1">
                <a:latin typeface="Courier" pitchFamily="2" charset="0"/>
              </a:rPr>
              <a:t>DayOfYear</a:t>
            </a:r>
            <a:r>
              <a:rPr lang="en-US" sz="2000" dirty="0">
                <a:latin typeface="Courier" pitchFamily="2" charset="0"/>
              </a:rPr>
              <a:t>    </a:t>
            </a:r>
            <a:br>
              <a:rPr lang="en-US" sz="2000" dirty="0">
                <a:latin typeface="Courier" pitchFamily="2" charset="0"/>
              </a:rPr>
            </a:br>
            <a:r>
              <a:rPr lang="en-US" sz="2000" dirty="0">
                <a:latin typeface="Courier" pitchFamily="2" charset="0"/>
              </a:rPr>
              <a:t>{</a:t>
            </a:r>
            <a:br>
              <a:rPr lang="en-US" sz="2000" dirty="0">
                <a:latin typeface="Courier" pitchFamily="2" charset="0"/>
              </a:rPr>
            </a:br>
            <a:r>
              <a:rPr lang="en-US" sz="2000" dirty="0">
                <a:solidFill>
                  <a:srgbClr val="0000FF"/>
                </a:solidFill>
                <a:latin typeface="Courier" pitchFamily="2" charset="0"/>
              </a:rPr>
              <a:t>public:</a:t>
            </a:r>
            <a:br>
              <a:rPr lang="en-US" sz="2000" dirty="0">
                <a:latin typeface="Courier" pitchFamily="2" charset="0"/>
              </a:rPr>
            </a:br>
            <a:r>
              <a:rPr lang="en-US" sz="2000" dirty="0">
                <a:latin typeface="Courier" pitchFamily="2" charset="0"/>
              </a:rPr>
              <a:t>	void input();		</a:t>
            </a:r>
            <a:br>
              <a:rPr lang="en-US" sz="2000" dirty="0">
                <a:latin typeface="Courier" pitchFamily="2" charset="0"/>
              </a:rPr>
            </a:br>
            <a:r>
              <a:rPr lang="en-US" sz="2000" dirty="0">
                <a:latin typeface="Courier" pitchFamily="2" charset="0"/>
              </a:rPr>
              <a:t>	void output();</a:t>
            </a:r>
            <a:br>
              <a:rPr lang="en-US" sz="2000" dirty="0">
                <a:latin typeface="Courier" pitchFamily="2" charset="0"/>
              </a:rPr>
            </a:br>
            <a:r>
              <a:rPr lang="en-US" sz="2000" dirty="0">
                <a:solidFill>
                  <a:srgbClr val="0000FF"/>
                </a:solidFill>
                <a:latin typeface="Courier" pitchFamily="2" charset="0"/>
              </a:rPr>
              <a:t>private:</a:t>
            </a:r>
            <a:r>
              <a:rPr lang="en-US" sz="2000" dirty="0">
                <a:latin typeface="Courier" pitchFamily="2" charset="0"/>
              </a:rPr>
              <a:t>		</a:t>
            </a:r>
            <a:br>
              <a:rPr lang="en-US" sz="2000" dirty="0">
                <a:latin typeface="Courier" pitchFamily="2" charset="0"/>
              </a:rPr>
            </a:br>
            <a:r>
              <a:rPr lang="en-US" sz="2000" dirty="0">
                <a:latin typeface="Courier" pitchFamily="2" charset="0"/>
              </a:rPr>
              <a:t>	int month;</a:t>
            </a:r>
            <a:br>
              <a:rPr lang="en-US" sz="2000" dirty="0">
                <a:latin typeface="Courier" pitchFamily="2" charset="0"/>
              </a:rPr>
            </a:br>
            <a:r>
              <a:rPr lang="en-US" sz="2000" dirty="0">
                <a:latin typeface="Courier" pitchFamily="2" charset="0"/>
              </a:rPr>
              <a:t>	int day;</a:t>
            </a:r>
            <a:br>
              <a:rPr lang="en-US" sz="2000" dirty="0">
                <a:latin typeface="Courier" pitchFamily="2" charset="0"/>
              </a:rPr>
            </a:br>
            <a:r>
              <a:rPr lang="en-US" sz="2000" dirty="0">
                <a:latin typeface="Courier" pitchFamily="2" charset="0"/>
              </a:rPr>
              <a:t>};</a:t>
            </a:r>
            <a:endParaRPr lang="en-US" dirty="0">
              <a:latin typeface="Courier" pitchFamily="2" charset="0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dirty="0"/>
              <a:t>Data is now </a:t>
            </a:r>
            <a:r>
              <a:rPr lang="en-US" b="1" dirty="0"/>
              <a:t>private</a:t>
            </a:r>
            <a:endParaRPr lang="en-US" sz="2400" b="1" dirty="0"/>
          </a:p>
          <a:p>
            <a:pPr lvl="1">
              <a:lnSpc>
                <a:spcPct val="90000"/>
              </a:lnSpc>
              <a:spcBef>
                <a:spcPct val="40000"/>
              </a:spcBef>
            </a:pPr>
            <a:r>
              <a:rPr lang="en-US" dirty="0"/>
              <a:t>Must now call public member functions to access</a:t>
            </a:r>
            <a:br>
              <a:rPr lang="en-US" dirty="0"/>
            </a:br>
            <a:r>
              <a:rPr lang="en-US" dirty="0"/>
              <a:t>			</a:t>
            </a:r>
            <a:r>
              <a:rPr lang="en-US" sz="2000" dirty="0" err="1">
                <a:latin typeface="Courier" pitchFamily="2" charset="0"/>
              </a:rPr>
              <a:t>today.input</a:t>
            </a:r>
            <a:r>
              <a:rPr lang="en-US" sz="2000" dirty="0">
                <a:latin typeface="Courier" pitchFamily="2" charset="0"/>
              </a:rPr>
              <a:t>(), </a:t>
            </a:r>
            <a:r>
              <a:rPr lang="en-US" sz="2000" dirty="0" err="1">
                <a:latin typeface="Courier" pitchFamily="2" charset="0"/>
              </a:rPr>
              <a:t>today.output</a:t>
            </a:r>
            <a:r>
              <a:rPr lang="en-US" sz="2000" dirty="0">
                <a:latin typeface="Courier" pitchFamily="2" charset="0"/>
              </a:rPr>
              <a:t>()</a:t>
            </a:r>
          </a:p>
          <a:p>
            <a:pPr marL="0" indent="0" eaLnBrk="1" hangingPunct="1">
              <a:lnSpc>
                <a:spcPct val="90000"/>
              </a:lnSpc>
              <a:spcBef>
                <a:spcPct val="40000"/>
              </a:spcBef>
              <a:buNone/>
            </a:pPr>
            <a:endParaRPr lang="en-US" sz="24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3EB5865-0C69-D34F-BAD5-1F21AB681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373" y="2503254"/>
            <a:ext cx="4838700" cy="20828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5B93F7B-1923-AE3E-365C-51B5FCA37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36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6008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Why Encapsulation?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Example (Box class)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9160" y="2027587"/>
            <a:ext cx="7715304" cy="4293483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class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Box { </a:t>
            </a:r>
          </a:p>
          <a:p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public:</a:t>
            </a:r>
          </a:p>
          <a:p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  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Box() : height(0), width(0), length(0), area(0), volume(0){}</a:t>
            </a:r>
          </a:p>
          <a:p>
            <a:r>
              <a:rPr lang="ko-KR" altLang="en-US" sz="1050" dirty="0">
                <a:solidFill>
                  <a:srgbClr val="010001"/>
                </a:solidFill>
                <a:latin typeface="Lucida Console" pitchFamily="49" charset="0"/>
              </a:rPr>
              <a:t>	</a:t>
            </a:r>
          </a:p>
          <a:p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   void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set(</a:t>
            </a:r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double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h, </a:t>
            </a:r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double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w, </a:t>
            </a:r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double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l) {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   height = h; width = w; length = l;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   </a:t>
            </a:r>
            <a:r>
              <a:rPr lang="pl-PL" altLang="ko-KR" sz="1050" dirty="0">
                <a:solidFill>
                  <a:srgbClr val="010001"/>
                </a:solidFill>
                <a:latin typeface="Lucida Console" pitchFamily="49" charset="0"/>
              </a:rPr>
              <a:t>area = 2 * (h*w + w*l + l*h);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   volume = h*w*l;</a:t>
            </a:r>
          </a:p>
          <a:p>
            <a:r>
              <a:rPr lang="ko-KR" altLang="en-US" sz="1050" dirty="0">
                <a:solidFill>
                  <a:srgbClr val="010001"/>
                </a:solidFill>
                <a:latin typeface="Lucida Console" pitchFamily="49" charset="0"/>
              </a:rPr>
              <a:t>  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}</a:t>
            </a:r>
          </a:p>
          <a:p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   void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print() </a:t>
            </a:r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{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   </a:t>
            </a:r>
            <a:r>
              <a:rPr lang="en-US" altLang="ko-KR" sz="1050" dirty="0" err="1">
                <a:solidFill>
                  <a:srgbClr val="010001"/>
                </a:solidFill>
                <a:latin typeface="Lucida Console" pitchFamily="49" charset="0"/>
              </a:rPr>
              <a:t>cout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&lt;&lt; </a:t>
            </a:r>
            <a:r>
              <a:rPr lang="en-US" altLang="ko-KR" sz="1050" dirty="0">
                <a:solidFill>
                  <a:srgbClr val="A31515"/>
                </a:solidFill>
                <a:latin typeface="Lucida Console" pitchFamily="49" charset="0"/>
              </a:rPr>
              <a:t>"Box    : (" &lt;&lt;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height &lt;&lt; </a:t>
            </a:r>
            <a:r>
              <a:rPr lang="en-US" altLang="ko-KR" sz="1050" dirty="0">
                <a:solidFill>
                  <a:srgbClr val="A31515"/>
                </a:solidFill>
                <a:latin typeface="Lucida Console" pitchFamily="49" charset="0"/>
              </a:rPr>
              <a:t>", " &lt;&lt;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width &lt;&lt; </a:t>
            </a:r>
            <a:r>
              <a:rPr lang="en-US" altLang="ko-KR" sz="1050" dirty="0">
                <a:solidFill>
                  <a:srgbClr val="A31515"/>
                </a:solidFill>
                <a:latin typeface="Lucida Console" pitchFamily="49" charset="0"/>
              </a:rPr>
              <a:t>", " &lt;&lt;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length &lt;&lt; </a:t>
            </a:r>
            <a:r>
              <a:rPr lang="en-US" altLang="ko-KR" sz="1050" dirty="0">
                <a:solidFill>
                  <a:srgbClr val="A31515"/>
                </a:solidFill>
                <a:latin typeface="Lucida Console" pitchFamily="49" charset="0"/>
              </a:rPr>
              <a:t>")" &lt;&lt; </a:t>
            </a:r>
            <a:r>
              <a:rPr lang="en-US" altLang="ko-KR" sz="1050" dirty="0" err="1">
                <a:solidFill>
                  <a:srgbClr val="010001"/>
                </a:solidFill>
                <a:latin typeface="Lucida Console" pitchFamily="49" charset="0"/>
              </a:rPr>
              <a:t>endl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;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   </a:t>
            </a:r>
            <a:r>
              <a:rPr lang="en-US" altLang="ko-KR" sz="1050" dirty="0" err="1">
                <a:solidFill>
                  <a:srgbClr val="010001"/>
                </a:solidFill>
                <a:latin typeface="Lucida Console" pitchFamily="49" charset="0"/>
              </a:rPr>
              <a:t>cout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&lt;&lt; </a:t>
            </a:r>
            <a:r>
              <a:rPr lang="en-US" altLang="ko-KR" sz="1050" dirty="0">
                <a:solidFill>
                  <a:srgbClr val="A31515"/>
                </a:solidFill>
                <a:latin typeface="Lucida Console" pitchFamily="49" charset="0"/>
              </a:rPr>
              <a:t>"Area   : " &lt;&lt;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area &lt;&lt; </a:t>
            </a:r>
            <a:r>
              <a:rPr lang="en-US" altLang="ko-KR" sz="1050" dirty="0" err="1">
                <a:solidFill>
                  <a:srgbClr val="010001"/>
                </a:solidFill>
                <a:latin typeface="Lucida Console" pitchFamily="49" charset="0"/>
              </a:rPr>
              <a:t>endl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;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   </a:t>
            </a:r>
            <a:r>
              <a:rPr lang="en-US" altLang="ko-KR" sz="1050" dirty="0" err="1">
                <a:solidFill>
                  <a:srgbClr val="010001"/>
                </a:solidFill>
                <a:latin typeface="Lucida Console" pitchFamily="49" charset="0"/>
              </a:rPr>
              <a:t>cout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&lt;&lt; </a:t>
            </a:r>
            <a:r>
              <a:rPr lang="en-US" altLang="ko-KR" sz="1050" dirty="0">
                <a:solidFill>
                  <a:srgbClr val="A31515"/>
                </a:solidFill>
                <a:latin typeface="Lucida Console" pitchFamily="49" charset="0"/>
              </a:rPr>
              <a:t>"Volume : " &lt;&lt;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volume &lt;&lt; </a:t>
            </a:r>
            <a:r>
              <a:rPr lang="en-US" altLang="ko-KR" sz="1050" dirty="0" err="1">
                <a:solidFill>
                  <a:srgbClr val="010001"/>
                </a:solidFill>
                <a:latin typeface="Lucida Console" pitchFamily="49" charset="0"/>
              </a:rPr>
              <a:t>endl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;</a:t>
            </a:r>
          </a:p>
          <a:p>
            <a:r>
              <a:rPr lang="ko-KR" altLang="en-US" sz="1050" dirty="0">
                <a:solidFill>
                  <a:srgbClr val="010001"/>
                </a:solidFill>
                <a:latin typeface="Lucida Console" pitchFamily="49" charset="0"/>
              </a:rPr>
              <a:t>  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}</a:t>
            </a:r>
          </a:p>
          <a:p>
            <a:endParaRPr lang="ko-KR" altLang="en-US" sz="1050" dirty="0">
              <a:solidFill>
                <a:srgbClr val="010001"/>
              </a:solidFill>
              <a:latin typeface="Lucida Console" pitchFamily="49" charset="0"/>
            </a:endParaRPr>
          </a:p>
          <a:p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   double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height, width, length; </a:t>
            </a:r>
          </a:p>
          <a:p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   double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area, volume;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};</a:t>
            </a:r>
          </a:p>
          <a:p>
            <a:endParaRPr lang="ko-KR" altLang="en-US" sz="1050" dirty="0">
              <a:solidFill>
                <a:srgbClr val="010001"/>
              </a:solidFill>
              <a:latin typeface="Lucida Console" pitchFamily="49" charset="0"/>
            </a:endParaRPr>
          </a:p>
          <a:p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void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main() {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Box box1; 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box1.set(1,2,3);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box1.print();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box1.height = box1.width = box1.length = 30;  </a:t>
            </a:r>
            <a:r>
              <a:rPr lang="en-US" altLang="ko-KR" sz="1050" dirty="0">
                <a:solidFill>
                  <a:srgbClr val="008000"/>
                </a:solidFill>
                <a:latin typeface="Lucida Console" pitchFamily="49" charset="0"/>
              </a:rPr>
              <a:t>// ruins data consistency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box1.print();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}</a:t>
            </a:r>
            <a:endParaRPr lang="en-US" altLang="ko-KR" sz="1050" dirty="0">
              <a:solidFill>
                <a:srgbClr val="008000"/>
              </a:solidFill>
              <a:latin typeface="Lucida Console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536216" y="5693598"/>
            <a:ext cx="2279592" cy="27765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519981" y="1387098"/>
            <a:ext cx="244009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Box    : (1, 2, 3)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Area   : 22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Volume : 6</a:t>
            </a:r>
          </a:p>
          <a:p>
            <a:r>
              <a:rPr lang="en-US" altLang="ko-KR" sz="1400" dirty="0">
                <a:solidFill>
                  <a:srgbClr val="FF0000"/>
                </a:solidFill>
                <a:latin typeface="Lucida Console" pitchFamily="49" charset="0"/>
              </a:rPr>
              <a:t>Box    : (30, 30, 30)</a:t>
            </a:r>
          </a:p>
          <a:p>
            <a:r>
              <a:rPr lang="en-US" altLang="ko-KR" sz="1400" dirty="0">
                <a:solidFill>
                  <a:srgbClr val="FF0000"/>
                </a:solidFill>
                <a:latin typeface="Lucida Console" pitchFamily="49" charset="0"/>
              </a:rPr>
              <a:t>Area   : 22</a:t>
            </a:r>
          </a:p>
          <a:p>
            <a:r>
              <a:rPr lang="en-US" altLang="ko-KR" sz="1400" dirty="0">
                <a:solidFill>
                  <a:srgbClr val="FF0000"/>
                </a:solidFill>
                <a:latin typeface="Lucida Console" pitchFamily="49" charset="0"/>
              </a:rPr>
              <a:t>Volume : 6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193BA0-17F0-4506-EBF2-2EEB75093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37</a:t>
            </a:fld>
            <a:r>
              <a:rPr lang="en-US"/>
              <a:t> / 51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Prevent the Danger of Unintended Change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Example (Box class)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2067" y="2027587"/>
            <a:ext cx="7715304" cy="4293483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class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Box { </a:t>
            </a:r>
          </a:p>
          <a:p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public:</a:t>
            </a:r>
          </a:p>
          <a:p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  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Box() : height(0), width(0), length(0), area(0), volume(0){}</a:t>
            </a:r>
          </a:p>
          <a:p>
            <a:r>
              <a:rPr lang="ko-KR" altLang="en-US" sz="1050" dirty="0">
                <a:solidFill>
                  <a:srgbClr val="010001"/>
                </a:solidFill>
                <a:latin typeface="Lucida Console" pitchFamily="49" charset="0"/>
              </a:rPr>
              <a:t>	</a:t>
            </a:r>
          </a:p>
          <a:p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   void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set(</a:t>
            </a:r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double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h, </a:t>
            </a:r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double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w, </a:t>
            </a:r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double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l) {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   height = h; width = w; length = l;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   </a:t>
            </a:r>
            <a:r>
              <a:rPr lang="pl-PL" altLang="ko-KR" sz="1050" dirty="0">
                <a:solidFill>
                  <a:srgbClr val="010001"/>
                </a:solidFill>
                <a:latin typeface="Lucida Console" pitchFamily="49" charset="0"/>
              </a:rPr>
              <a:t>area = 2 * (h*w + w*l + l*h);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   volume = h*w*l;</a:t>
            </a:r>
          </a:p>
          <a:p>
            <a:r>
              <a:rPr lang="ko-KR" altLang="en-US" sz="1050" dirty="0">
                <a:solidFill>
                  <a:srgbClr val="010001"/>
                </a:solidFill>
                <a:latin typeface="Lucida Console" pitchFamily="49" charset="0"/>
              </a:rPr>
              <a:t>  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}</a:t>
            </a:r>
          </a:p>
          <a:p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   void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print() </a:t>
            </a:r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{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   </a:t>
            </a:r>
            <a:r>
              <a:rPr lang="en-US" altLang="ko-KR" sz="1050" dirty="0" err="1">
                <a:solidFill>
                  <a:srgbClr val="010001"/>
                </a:solidFill>
                <a:latin typeface="Lucida Console" pitchFamily="49" charset="0"/>
              </a:rPr>
              <a:t>cout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&lt;&lt; </a:t>
            </a:r>
            <a:r>
              <a:rPr lang="en-US" altLang="ko-KR" sz="1050" dirty="0">
                <a:solidFill>
                  <a:srgbClr val="A31515"/>
                </a:solidFill>
                <a:latin typeface="Lucida Console" pitchFamily="49" charset="0"/>
              </a:rPr>
              <a:t>"Box    : (" &lt;&lt;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height &lt;&lt; </a:t>
            </a:r>
            <a:r>
              <a:rPr lang="en-US" altLang="ko-KR" sz="1050" dirty="0">
                <a:solidFill>
                  <a:srgbClr val="A31515"/>
                </a:solidFill>
                <a:latin typeface="Lucida Console" pitchFamily="49" charset="0"/>
              </a:rPr>
              <a:t>", " &lt;&lt;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width &lt;&lt; </a:t>
            </a:r>
            <a:r>
              <a:rPr lang="en-US" altLang="ko-KR" sz="1050" dirty="0">
                <a:solidFill>
                  <a:srgbClr val="A31515"/>
                </a:solidFill>
                <a:latin typeface="Lucida Console" pitchFamily="49" charset="0"/>
              </a:rPr>
              <a:t>", " &lt;&lt;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length &lt;&lt; </a:t>
            </a:r>
            <a:r>
              <a:rPr lang="en-US" altLang="ko-KR" sz="1050" dirty="0">
                <a:solidFill>
                  <a:srgbClr val="A31515"/>
                </a:solidFill>
                <a:latin typeface="Lucida Console" pitchFamily="49" charset="0"/>
              </a:rPr>
              <a:t>")" &lt;&lt; </a:t>
            </a:r>
            <a:r>
              <a:rPr lang="en-US" altLang="ko-KR" sz="1050" dirty="0" err="1">
                <a:solidFill>
                  <a:srgbClr val="010001"/>
                </a:solidFill>
                <a:latin typeface="Lucida Console" pitchFamily="49" charset="0"/>
              </a:rPr>
              <a:t>endl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;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   </a:t>
            </a:r>
            <a:r>
              <a:rPr lang="en-US" altLang="ko-KR" sz="1050" dirty="0" err="1">
                <a:solidFill>
                  <a:srgbClr val="010001"/>
                </a:solidFill>
                <a:latin typeface="Lucida Console" pitchFamily="49" charset="0"/>
              </a:rPr>
              <a:t>cout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&lt;&lt; </a:t>
            </a:r>
            <a:r>
              <a:rPr lang="en-US" altLang="ko-KR" sz="1050" dirty="0">
                <a:solidFill>
                  <a:srgbClr val="A31515"/>
                </a:solidFill>
                <a:latin typeface="Lucida Console" pitchFamily="49" charset="0"/>
              </a:rPr>
              <a:t>"Area   : " &lt;&lt;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area &lt;&lt; </a:t>
            </a:r>
            <a:r>
              <a:rPr lang="en-US" altLang="ko-KR" sz="1050" dirty="0" err="1">
                <a:solidFill>
                  <a:srgbClr val="010001"/>
                </a:solidFill>
                <a:latin typeface="Lucida Console" pitchFamily="49" charset="0"/>
              </a:rPr>
              <a:t>endl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;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   </a:t>
            </a:r>
            <a:r>
              <a:rPr lang="en-US" altLang="ko-KR" sz="1050" dirty="0" err="1">
                <a:solidFill>
                  <a:srgbClr val="010001"/>
                </a:solidFill>
                <a:latin typeface="Lucida Console" pitchFamily="49" charset="0"/>
              </a:rPr>
              <a:t>cout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&lt;&lt; </a:t>
            </a:r>
            <a:r>
              <a:rPr lang="en-US" altLang="ko-KR" sz="1050" dirty="0">
                <a:solidFill>
                  <a:srgbClr val="A31515"/>
                </a:solidFill>
                <a:latin typeface="Lucida Console" pitchFamily="49" charset="0"/>
              </a:rPr>
              <a:t>"Volume : " &lt;&lt;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volume &lt;&lt; </a:t>
            </a:r>
            <a:r>
              <a:rPr lang="en-US" altLang="ko-KR" sz="1050" dirty="0" err="1">
                <a:solidFill>
                  <a:srgbClr val="010001"/>
                </a:solidFill>
                <a:latin typeface="Lucida Console" pitchFamily="49" charset="0"/>
              </a:rPr>
              <a:t>endl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;</a:t>
            </a:r>
          </a:p>
          <a:p>
            <a:r>
              <a:rPr lang="ko-KR" altLang="en-US" sz="1050" dirty="0">
                <a:solidFill>
                  <a:srgbClr val="010001"/>
                </a:solidFill>
                <a:latin typeface="Lucida Console" pitchFamily="49" charset="0"/>
              </a:rPr>
              <a:t>  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}</a:t>
            </a:r>
          </a:p>
          <a:p>
            <a:endParaRPr lang="en-US" altLang="ko-KR" sz="1050" dirty="0">
              <a:solidFill>
                <a:srgbClr val="0000FF"/>
              </a:solidFill>
              <a:latin typeface="Lucida Console" pitchFamily="49" charset="0"/>
            </a:endParaRPr>
          </a:p>
          <a:p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   double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height, width, length; </a:t>
            </a:r>
          </a:p>
          <a:p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   double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area, volume;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};</a:t>
            </a:r>
          </a:p>
          <a:p>
            <a:endParaRPr lang="ko-KR" altLang="en-US" sz="1050" dirty="0">
              <a:solidFill>
                <a:srgbClr val="010001"/>
              </a:solidFill>
              <a:latin typeface="Lucida Console" pitchFamily="49" charset="0"/>
            </a:endParaRPr>
          </a:p>
          <a:p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void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main() {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Box box1; 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box1.set(1,2,3);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box1.print();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</a:t>
            </a:r>
            <a:r>
              <a:rPr lang="en-US" altLang="ko-KR" sz="1050" dirty="0">
                <a:solidFill>
                  <a:srgbClr val="FF0000"/>
                </a:solidFill>
                <a:latin typeface="Lucida Console" pitchFamily="49" charset="0"/>
              </a:rPr>
              <a:t>box1.set(30,30,30);   </a:t>
            </a:r>
            <a:r>
              <a:rPr lang="en-US" altLang="ko-KR" sz="1050" dirty="0">
                <a:solidFill>
                  <a:srgbClr val="008000"/>
                </a:solidFill>
                <a:latin typeface="Lucida Console" pitchFamily="49" charset="0"/>
              </a:rPr>
              <a:t>// data are now consistent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box1.print();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}</a:t>
            </a:r>
            <a:endParaRPr lang="en-US" altLang="ko-KR" sz="1050" dirty="0">
              <a:solidFill>
                <a:srgbClr val="008000"/>
              </a:solidFill>
              <a:latin typeface="Lucida Console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19981" y="1387098"/>
            <a:ext cx="244009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Box    : (1, 2, 3)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Area   : 22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Volume : 6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Box    : (30, 30, 30)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Area   : 5400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Volume : 27000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52370D-A6A2-EA9F-21E8-11979E900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38</a:t>
            </a:fld>
            <a:r>
              <a:rPr lang="en-US"/>
              <a:t> / 51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Enforcing Encapsulation</a:t>
            </a:r>
            <a:br>
              <a:rPr lang="en-US" altLang="ko-KR" dirty="0"/>
            </a:br>
            <a:r>
              <a:rPr lang="en-US" altLang="ko-KR" dirty="0"/>
              <a:t>: Data as Private Members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Example (Box class)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30795" y="1987539"/>
            <a:ext cx="7715304" cy="445506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class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Box { </a:t>
            </a:r>
          </a:p>
          <a:p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public:</a:t>
            </a:r>
          </a:p>
          <a:p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  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Box() : height(0), width(0), length(0), area(0), volume(0){}</a:t>
            </a:r>
          </a:p>
          <a:p>
            <a:r>
              <a:rPr lang="ko-KR" altLang="en-US" sz="1050" dirty="0">
                <a:solidFill>
                  <a:srgbClr val="010001"/>
                </a:solidFill>
                <a:latin typeface="Lucida Console" pitchFamily="49" charset="0"/>
              </a:rPr>
              <a:t>	</a:t>
            </a:r>
          </a:p>
          <a:p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   void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set(</a:t>
            </a:r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double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h, </a:t>
            </a:r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double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w, </a:t>
            </a:r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double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l) {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   height = h; width = w; length = l;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   </a:t>
            </a:r>
            <a:r>
              <a:rPr lang="pl-PL" altLang="ko-KR" sz="1050" dirty="0">
                <a:solidFill>
                  <a:srgbClr val="010001"/>
                </a:solidFill>
                <a:latin typeface="Lucida Console" pitchFamily="49" charset="0"/>
              </a:rPr>
              <a:t>area = 2 * (h*w + w*l + l*h);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   volume = h*w*l;</a:t>
            </a:r>
          </a:p>
          <a:p>
            <a:r>
              <a:rPr lang="ko-KR" altLang="en-US" sz="1050" dirty="0">
                <a:solidFill>
                  <a:srgbClr val="010001"/>
                </a:solidFill>
                <a:latin typeface="Lucida Console" pitchFamily="49" charset="0"/>
              </a:rPr>
              <a:t>  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}</a:t>
            </a:r>
          </a:p>
          <a:p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   void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print() </a:t>
            </a:r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{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   </a:t>
            </a:r>
            <a:r>
              <a:rPr lang="en-US" altLang="ko-KR" sz="1050" dirty="0" err="1">
                <a:solidFill>
                  <a:srgbClr val="010001"/>
                </a:solidFill>
                <a:latin typeface="Lucida Console" pitchFamily="49" charset="0"/>
              </a:rPr>
              <a:t>cout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&lt;&lt; </a:t>
            </a:r>
            <a:r>
              <a:rPr lang="en-US" altLang="ko-KR" sz="1050" dirty="0">
                <a:solidFill>
                  <a:srgbClr val="A31515"/>
                </a:solidFill>
                <a:latin typeface="Lucida Console" pitchFamily="49" charset="0"/>
              </a:rPr>
              <a:t>"Box    : (" &lt;&lt;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height &lt;&lt; </a:t>
            </a:r>
            <a:r>
              <a:rPr lang="en-US" altLang="ko-KR" sz="1050" dirty="0">
                <a:solidFill>
                  <a:srgbClr val="A31515"/>
                </a:solidFill>
                <a:latin typeface="Lucida Console" pitchFamily="49" charset="0"/>
              </a:rPr>
              <a:t>", " &lt;&lt;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width &lt;&lt; </a:t>
            </a:r>
            <a:r>
              <a:rPr lang="en-US" altLang="ko-KR" sz="1050" dirty="0">
                <a:solidFill>
                  <a:srgbClr val="A31515"/>
                </a:solidFill>
                <a:latin typeface="Lucida Console" pitchFamily="49" charset="0"/>
              </a:rPr>
              <a:t>", " &lt;&lt;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length &lt;&lt; </a:t>
            </a:r>
            <a:r>
              <a:rPr lang="en-US" altLang="ko-KR" sz="1050" dirty="0">
                <a:solidFill>
                  <a:srgbClr val="A31515"/>
                </a:solidFill>
                <a:latin typeface="Lucida Console" pitchFamily="49" charset="0"/>
              </a:rPr>
              <a:t>")" &lt;&lt; </a:t>
            </a:r>
            <a:r>
              <a:rPr lang="en-US" altLang="ko-KR" sz="1050" dirty="0" err="1">
                <a:solidFill>
                  <a:srgbClr val="010001"/>
                </a:solidFill>
                <a:latin typeface="Lucida Console" pitchFamily="49" charset="0"/>
              </a:rPr>
              <a:t>endl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;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   </a:t>
            </a:r>
            <a:r>
              <a:rPr lang="en-US" altLang="ko-KR" sz="1050" dirty="0" err="1">
                <a:solidFill>
                  <a:srgbClr val="010001"/>
                </a:solidFill>
                <a:latin typeface="Lucida Console" pitchFamily="49" charset="0"/>
              </a:rPr>
              <a:t>cout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&lt;&lt; </a:t>
            </a:r>
            <a:r>
              <a:rPr lang="en-US" altLang="ko-KR" sz="1050" dirty="0">
                <a:solidFill>
                  <a:srgbClr val="A31515"/>
                </a:solidFill>
                <a:latin typeface="Lucida Console" pitchFamily="49" charset="0"/>
              </a:rPr>
              <a:t>"Area   : " &lt;&lt;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area &lt;&lt; </a:t>
            </a:r>
            <a:r>
              <a:rPr lang="en-US" altLang="ko-KR" sz="1050" dirty="0" err="1">
                <a:solidFill>
                  <a:srgbClr val="010001"/>
                </a:solidFill>
                <a:latin typeface="Lucida Console" pitchFamily="49" charset="0"/>
              </a:rPr>
              <a:t>endl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;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   </a:t>
            </a:r>
            <a:r>
              <a:rPr lang="en-US" altLang="ko-KR" sz="1050" dirty="0" err="1">
                <a:solidFill>
                  <a:srgbClr val="010001"/>
                </a:solidFill>
                <a:latin typeface="Lucida Console" pitchFamily="49" charset="0"/>
              </a:rPr>
              <a:t>cout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&lt;&lt; </a:t>
            </a:r>
            <a:r>
              <a:rPr lang="en-US" altLang="ko-KR" sz="1050" dirty="0">
                <a:solidFill>
                  <a:srgbClr val="A31515"/>
                </a:solidFill>
                <a:latin typeface="Lucida Console" pitchFamily="49" charset="0"/>
              </a:rPr>
              <a:t>"Volume : " &lt;&lt;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volume &lt;&lt; </a:t>
            </a:r>
            <a:r>
              <a:rPr lang="en-US" altLang="ko-KR" sz="1050" dirty="0" err="1">
                <a:solidFill>
                  <a:srgbClr val="010001"/>
                </a:solidFill>
                <a:latin typeface="Lucida Console" pitchFamily="49" charset="0"/>
              </a:rPr>
              <a:t>endl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;</a:t>
            </a:r>
          </a:p>
          <a:p>
            <a:r>
              <a:rPr lang="ko-KR" altLang="en-US" sz="1050" dirty="0">
                <a:solidFill>
                  <a:srgbClr val="010001"/>
                </a:solidFill>
                <a:latin typeface="Lucida Console" pitchFamily="49" charset="0"/>
              </a:rPr>
              <a:t>  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}</a:t>
            </a:r>
          </a:p>
          <a:p>
            <a:r>
              <a:rPr lang="en-US" altLang="ko-KR" sz="1050" dirty="0">
                <a:solidFill>
                  <a:srgbClr val="FF0000"/>
                </a:solidFill>
                <a:latin typeface="Lucida Console" pitchFamily="49" charset="0"/>
              </a:rPr>
              <a:t>private:</a:t>
            </a:r>
            <a:endParaRPr lang="ko-KR" altLang="en-US" sz="1050" dirty="0">
              <a:solidFill>
                <a:srgbClr val="FF0000"/>
              </a:solidFill>
              <a:latin typeface="Lucida Console" pitchFamily="49" charset="0"/>
            </a:endParaRPr>
          </a:p>
          <a:p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   double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height, width, length; </a:t>
            </a:r>
          </a:p>
          <a:p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   double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area, volume;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};</a:t>
            </a:r>
          </a:p>
          <a:p>
            <a:endParaRPr lang="ko-KR" altLang="en-US" sz="1050" dirty="0">
              <a:solidFill>
                <a:srgbClr val="010001"/>
              </a:solidFill>
              <a:latin typeface="Lucida Console" pitchFamily="49" charset="0"/>
            </a:endParaRPr>
          </a:p>
          <a:p>
            <a:r>
              <a:rPr lang="en-US" altLang="ko-KR" sz="1050" dirty="0">
                <a:solidFill>
                  <a:srgbClr val="0000FF"/>
                </a:solidFill>
                <a:latin typeface="Lucida Console" pitchFamily="49" charset="0"/>
              </a:rPr>
              <a:t>void 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main() {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Box box1; 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box1.set(1,2,3);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box1.print();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</a:t>
            </a:r>
            <a:r>
              <a:rPr lang="en-US" altLang="ko-KR" sz="1050" dirty="0">
                <a:solidFill>
                  <a:srgbClr val="FF0000"/>
                </a:solidFill>
                <a:latin typeface="Lucida Console" pitchFamily="49" charset="0"/>
              </a:rPr>
              <a:t>box1.set(30,30,30);</a:t>
            </a:r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</a:t>
            </a:r>
            <a:r>
              <a:rPr lang="en-US" altLang="ko-KR" sz="1050" dirty="0">
                <a:solidFill>
                  <a:srgbClr val="008000"/>
                </a:solidFill>
                <a:latin typeface="Lucida Console" pitchFamily="49" charset="0"/>
              </a:rPr>
              <a:t>// box1.height=box1.width=box1.length=30; produces an error</a:t>
            </a:r>
            <a:endParaRPr lang="en-US" altLang="ko-KR" sz="1050" dirty="0">
              <a:solidFill>
                <a:srgbClr val="92D050"/>
              </a:solidFill>
              <a:latin typeface="Lucida Console" pitchFamily="49" charset="0"/>
            </a:endParaRP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   box1.print();</a:t>
            </a:r>
          </a:p>
          <a:p>
            <a:r>
              <a:rPr lang="en-US" altLang="ko-KR" sz="1050" dirty="0">
                <a:solidFill>
                  <a:srgbClr val="010001"/>
                </a:solidFill>
                <a:latin typeface="Lucida Console" pitchFamily="49" charset="0"/>
              </a:rPr>
              <a:t>}</a:t>
            </a:r>
            <a:endParaRPr lang="en-US" altLang="ko-KR" sz="1050" dirty="0">
              <a:solidFill>
                <a:srgbClr val="008000"/>
              </a:solidFill>
              <a:latin typeface="Lucida Console" pitchFamily="49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3414099" y="4128714"/>
            <a:ext cx="4572352" cy="907257"/>
            <a:chOff x="3414099" y="4128714"/>
            <a:chExt cx="4572352" cy="907257"/>
          </a:xfrm>
        </p:grpSpPr>
        <p:sp>
          <p:nvSpPr>
            <p:cNvPr id="10" name="TextBox 9"/>
            <p:cNvSpPr txBox="1"/>
            <p:nvPr/>
          </p:nvSpPr>
          <p:spPr>
            <a:xfrm>
              <a:off x="3813962" y="4666639"/>
              <a:ext cx="4172489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Gill Sans MT" panose="020B0502020104020203" pitchFamily="34" charset="0"/>
                  <a:ea typeface="휴먼편지체" pitchFamily="18" charset="-127"/>
                  <a:cs typeface="Tahoma" pitchFamily="34" charset="0"/>
                </a:rPr>
                <a:t>cannot access directly in </a:t>
              </a:r>
              <a:r>
                <a:rPr lang="en-US" altLang="ko-KR" dirty="0">
                  <a:latin typeface="Courier" pitchFamily="2" charset="0"/>
                  <a:ea typeface="휴먼편지체" pitchFamily="18" charset="-127"/>
                  <a:cs typeface="Tahoma" pitchFamily="34" charset="0"/>
                </a:rPr>
                <a:t>main()</a:t>
              </a:r>
              <a:r>
                <a:rPr lang="en-US" altLang="ko-KR" dirty="0">
                  <a:latin typeface="Gill Sans MT" panose="020B0502020104020203" pitchFamily="34" charset="0"/>
                  <a:ea typeface="휴먼편지체" pitchFamily="18" charset="-127"/>
                  <a:cs typeface="Tahoma" pitchFamily="34" charset="0"/>
                </a:rPr>
                <a:t> function</a:t>
              </a:r>
              <a:endParaRPr lang="ko-KR" altLang="en-US" dirty="0">
                <a:latin typeface="Gill Sans MT" panose="020B0502020104020203" pitchFamily="34" charset="0"/>
                <a:ea typeface="휴먼편지체" pitchFamily="18" charset="-127"/>
                <a:cs typeface="Tahoma" pitchFamily="34" charset="0"/>
              </a:endParaRPr>
            </a:p>
          </p:txBody>
        </p:sp>
        <p:sp>
          <p:nvSpPr>
            <p:cNvPr id="11" name="자유형 10"/>
            <p:cNvSpPr/>
            <p:nvPr/>
          </p:nvSpPr>
          <p:spPr>
            <a:xfrm rot="20149417">
              <a:off x="3414099" y="4128714"/>
              <a:ext cx="235494" cy="843930"/>
            </a:xfrm>
            <a:custGeom>
              <a:avLst/>
              <a:gdLst>
                <a:gd name="connsiteX0" fmla="*/ 204039 w 204039"/>
                <a:gd name="connsiteY0" fmla="*/ 687689 h 687689"/>
                <a:gd name="connsiteX1" fmla="*/ 7557 w 204039"/>
                <a:gd name="connsiteY1" fmla="*/ 536549 h 687689"/>
                <a:gd name="connsiteX2" fmla="*/ 158697 w 204039"/>
                <a:gd name="connsiteY2" fmla="*/ 324952 h 687689"/>
                <a:gd name="connsiteX3" fmla="*/ 45342 w 204039"/>
                <a:gd name="connsiteY3" fmla="*/ 0 h 687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039" h="687689">
                  <a:moveTo>
                    <a:pt x="204039" y="687689"/>
                  </a:moveTo>
                  <a:cubicBezTo>
                    <a:pt x="109576" y="642347"/>
                    <a:pt x="15114" y="597005"/>
                    <a:pt x="7557" y="536549"/>
                  </a:cubicBezTo>
                  <a:cubicBezTo>
                    <a:pt x="0" y="476093"/>
                    <a:pt x="152400" y="414377"/>
                    <a:pt x="158697" y="324952"/>
                  </a:cubicBezTo>
                  <a:cubicBezTo>
                    <a:pt x="164994" y="235527"/>
                    <a:pt x="105168" y="117763"/>
                    <a:pt x="45342" y="0"/>
                  </a:cubicBezTo>
                </a:path>
              </a:pathLst>
            </a:cu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6445679" y="1387098"/>
            <a:ext cx="244009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Box    : (1, 2, 3)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Area   : 22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Volume : 6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Box    : (30, 30, 30)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Area   : 5400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Volume : 27000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E2E576-83CB-7B50-C380-06757B6D3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39</a:t>
            </a:fld>
            <a:r>
              <a:rPr lang="en-US"/>
              <a:t> / 51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/>
          </p:cNvSpPr>
          <p:nvPr>
            <p:ph type="title" idx="4294967295"/>
          </p:nvPr>
        </p:nvSpPr>
        <p:spPr>
          <a:xfrm>
            <a:off x="0" y="13911"/>
            <a:ext cx="9144000" cy="841874"/>
          </a:xfrm>
        </p:spPr>
        <p:txBody>
          <a:bodyPr/>
          <a:lstStyle/>
          <a:p>
            <a:r>
              <a:rPr lang="en-US" altLang="zh-TW" sz="2400" dirty="0"/>
              <a:t>Class with Private Members Example</a:t>
            </a:r>
            <a:br>
              <a:rPr lang="en-US" altLang="zh-TW" sz="2400" dirty="0"/>
            </a:br>
            <a:r>
              <a:rPr lang="en-US" altLang="zh-TW" sz="2400" dirty="0"/>
              <a:t>: Display 6.4 (1/4)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C853175-EEEB-6745-B1DB-427E45CD4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15" y="1281304"/>
            <a:ext cx="7807570" cy="328304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A6E7F80-6846-CC46-9DF1-E30DCA6F67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15" y="4480823"/>
            <a:ext cx="7479324" cy="1816912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F159EF3-1DD0-7545-A0C5-5FAFD1B4A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40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8345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/>
          </p:cNvSpPr>
          <p:nvPr>
            <p:ph type="title" idx="4294967295"/>
          </p:nvPr>
        </p:nvSpPr>
        <p:spPr>
          <a:xfrm>
            <a:off x="0" y="13912"/>
            <a:ext cx="9144000" cy="865320"/>
          </a:xfrm>
        </p:spPr>
        <p:txBody>
          <a:bodyPr/>
          <a:lstStyle/>
          <a:p>
            <a:r>
              <a:rPr lang="en-US" altLang="zh-TW" sz="2400" dirty="0"/>
              <a:t>Class with Private Members Example</a:t>
            </a:r>
            <a:br>
              <a:rPr lang="en-US" altLang="zh-TW" sz="2400" dirty="0"/>
            </a:br>
            <a:r>
              <a:rPr lang="en-US" altLang="zh-TW" sz="2400" dirty="0"/>
              <a:t>: Display 6.4 (2/4)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BD1173B-9A04-8B4F-ADDC-6EA050687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85" y="1208925"/>
            <a:ext cx="7584830" cy="4644643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CA09D8C-05B4-DD5D-9419-CE4E7079D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41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2651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/>
          </p:cNvSpPr>
          <p:nvPr>
            <p:ph type="title" idx="4294967295"/>
          </p:nvPr>
        </p:nvSpPr>
        <p:spPr>
          <a:xfrm>
            <a:off x="0" y="13910"/>
            <a:ext cx="9144000" cy="794981"/>
          </a:xfrm>
        </p:spPr>
        <p:txBody>
          <a:bodyPr/>
          <a:lstStyle/>
          <a:p>
            <a:r>
              <a:rPr lang="en-US" altLang="zh-TW" sz="2400" dirty="0"/>
              <a:t>Class with Private Members Example</a:t>
            </a:r>
            <a:br>
              <a:rPr lang="en-US" altLang="zh-TW" sz="2400" dirty="0"/>
            </a:br>
            <a:r>
              <a:rPr lang="en-US" altLang="zh-TW" sz="2400" dirty="0"/>
              <a:t>: Display 6.4 (3/4)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4209C85-5B12-784D-A871-CB601A468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677" y="808891"/>
            <a:ext cx="6576646" cy="342967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773632E-2635-A54F-BB1F-B5A1D74AC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677" y="4210881"/>
            <a:ext cx="5914292" cy="240336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950B160-D4BE-A377-F367-6F1953F20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42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6455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/>
          </p:cNvSpPr>
          <p:nvPr>
            <p:ph type="title" idx="4294967295"/>
          </p:nvPr>
        </p:nvSpPr>
        <p:spPr>
          <a:xfrm>
            <a:off x="0" y="13910"/>
            <a:ext cx="9144000" cy="806578"/>
          </a:xfrm>
        </p:spPr>
        <p:txBody>
          <a:bodyPr/>
          <a:lstStyle/>
          <a:p>
            <a:r>
              <a:rPr lang="en-US" altLang="zh-TW" sz="2400" dirty="0"/>
              <a:t>Class with Private Members Example</a:t>
            </a:r>
            <a:br>
              <a:rPr lang="en-US" altLang="zh-TW" sz="2400" dirty="0"/>
            </a:br>
            <a:r>
              <a:rPr lang="en-US" altLang="zh-TW" sz="2400" dirty="0"/>
              <a:t>: Display 6.4 (4/4)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A4E483B-26A7-4B45-9A44-F385EB1BA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962513"/>
            <a:ext cx="6471138" cy="525181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D930057-3684-0144-9CCA-8C2DDBB070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3536" y="1513752"/>
            <a:ext cx="3410889" cy="158701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270E350-E08B-9317-618B-D8F17E31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43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5429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Public and Private Style</a:t>
            </a:r>
          </a:p>
        </p:txBody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Can place </a:t>
            </a:r>
            <a:r>
              <a:rPr lang="en-US" sz="2800" dirty="0">
                <a:latin typeface="Courier" pitchFamily="2" charset="0"/>
              </a:rPr>
              <a:t>public</a:t>
            </a:r>
            <a:r>
              <a:rPr lang="en-US" sz="2800" dirty="0"/>
              <a:t> &amp; </a:t>
            </a:r>
            <a:r>
              <a:rPr lang="en-US" sz="2800" dirty="0">
                <a:latin typeface="Courier" pitchFamily="2" charset="0"/>
              </a:rPr>
              <a:t>private</a:t>
            </a:r>
            <a:r>
              <a:rPr lang="en-US" sz="2800" dirty="0"/>
              <a:t> in any order </a:t>
            </a:r>
          </a:p>
          <a:p>
            <a:pPr lvl="1"/>
            <a:r>
              <a:rPr lang="en-US" dirty="0"/>
              <a:t>In fact,  public, private, and then public again is possible</a:t>
            </a:r>
          </a:p>
          <a:p>
            <a:pPr lvl="1"/>
            <a:r>
              <a:rPr lang="en-US" dirty="0"/>
              <a:t>But, commonly have one public and one private section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dirty="0"/>
              <a:t>More typically place public first</a:t>
            </a:r>
          </a:p>
          <a:p>
            <a:pPr lvl="1" eaLnBrk="1" hangingPunct="1"/>
            <a:r>
              <a:rPr lang="en-US" sz="2400" dirty="0"/>
              <a:t>Allows easy viewing of portions that can be USED by programmers using the class</a:t>
            </a:r>
          </a:p>
          <a:p>
            <a:pPr lvl="1" eaLnBrk="1" hangingPunct="1"/>
            <a:r>
              <a:rPr lang="en-US" sz="2400" dirty="0"/>
              <a:t>Private data is "hidden", so irrelevant to users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AD7CF8A-B99E-8B57-6D82-96D7EB344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44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7781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Accessor and Mutator Functions</a:t>
            </a:r>
          </a:p>
        </p:txBody>
      </p:sp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Object may need to "do something" with its private data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dirty="0"/>
              <a:t>Call </a:t>
            </a:r>
            <a:r>
              <a:rPr lang="en-US" sz="2800" dirty="0" err="1">
                <a:solidFill>
                  <a:srgbClr val="FF0000"/>
                </a:solidFill>
              </a:rPr>
              <a:t>accessor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member functions</a:t>
            </a:r>
          </a:p>
          <a:p>
            <a:pPr lvl="1" eaLnBrk="1" hangingPunct="1"/>
            <a:r>
              <a:rPr lang="en-US" sz="2400" dirty="0"/>
              <a:t>Allow object to read data</a:t>
            </a:r>
          </a:p>
          <a:p>
            <a:pPr lvl="1" eaLnBrk="1" hangingPunct="1"/>
            <a:r>
              <a:rPr lang="en-US" sz="2400" dirty="0"/>
              <a:t>Also called "get member functions"</a:t>
            </a:r>
          </a:p>
          <a:p>
            <a:pPr lvl="1" eaLnBrk="1" hangingPunct="1"/>
            <a:r>
              <a:rPr lang="en-US" sz="2400" dirty="0"/>
              <a:t>Simple retrieval of member data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dirty="0" err="1">
                <a:solidFill>
                  <a:srgbClr val="FF0000"/>
                </a:solidFill>
              </a:rPr>
              <a:t>Mutator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member functions</a:t>
            </a:r>
          </a:p>
          <a:p>
            <a:pPr lvl="1" eaLnBrk="1" hangingPunct="1"/>
            <a:r>
              <a:rPr lang="en-US" sz="2400" dirty="0"/>
              <a:t>Allow object to change data</a:t>
            </a:r>
          </a:p>
          <a:p>
            <a:pPr lvl="1"/>
            <a:r>
              <a:rPr lang="en-US" altLang="ko-KR" dirty="0"/>
              <a:t>Also called ”set member functions"</a:t>
            </a:r>
            <a:endParaRPr lang="en-US" sz="2400" dirty="0"/>
          </a:p>
          <a:p>
            <a:pPr lvl="1" eaLnBrk="1" hangingPunct="1"/>
            <a:r>
              <a:rPr lang="en-US" sz="2400" dirty="0"/>
              <a:t>Manipulated based on application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894669F-10A5-07C2-29A9-651BC15F0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45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3176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 Test for Encapsulation</a:t>
            </a:r>
          </a:p>
        </p:txBody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A different class definition will do the same job</a:t>
            </a:r>
          </a:p>
          <a:p>
            <a:pPr lvl="1"/>
            <a:r>
              <a:rPr lang="en-US" sz="2000" dirty="0"/>
              <a:t>The detail on how the data is stored is </a:t>
            </a:r>
            <a:r>
              <a:rPr lang="en-US" sz="2000" b="1" dirty="0"/>
              <a:t>NOT</a:t>
            </a:r>
            <a:r>
              <a:rPr lang="en-US" sz="2000" dirty="0"/>
              <a:t> important for a user!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293D87C-1302-B18E-D2E0-029647FDB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394" y="2370068"/>
            <a:ext cx="5159935" cy="237689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9F702F5-0B6D-9C14-580B-8AB72FDED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627" y="4823460"/>
            <a:ext cx="5400629" cy="158067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09E0B2C-5E5A-2024-B920-DB51439111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8793" y="3780755"/>
            <a:ext cx="3327249" cy="122638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39E68FC-E6E4-1925-E4D9-D4A0BCC618FB}"/>
              </a:ext>
            </a:extLst>
          </p:cNvPr>
          <p:cNvSpPr/>
          <p:nvPr/>
        </p:nvSpPr>
        <p:spPr>
          <a:xfrm>
            <a:off x="792480" y="5516880"/>
            <a:ext cx="2423160" cy="51816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406F91-E04B-FEB4-A954-21F1EAD0A5F1}"/>
              </a:ext>
            </a:extLst>
          </p:cNvPr>
          <p:cNvSpPr txBox="1"/>
          <p:nvPr/>
        </p:nvSpPr>
        <p:spPr>
          <a:xfrm>
            <a:off x="3668493" y="5587101"/>
            <a:ext cx="394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>
                <a:solidFill>
                  <a:srgbClr val="FF0000"/>
                </a:solidFill>
              </a:rPr>
              <a:t>Note the different </a:t>
            </a:r>
            <a:r>
              <a:rPr kumimoji="1" lang="en-US" altLang="ko-Kore-KR" b="1" dirty="0">
                <a:solidFill>
                  <a:srgbClr val="FF0000"/>
                </a:solidFill>
              </a:rPr>
              <a:t>private</a:t>
            </a:r>
            <a:r>
              <a:rPr kumimoji="1" lang="en-US" altLang="ko-Kore-KR" dirty="0">
                <a:solidFill>
                  <a:srgbClr val="FF0000"/>
                </a:solidFill>
              </a:rPr>
              <a:t> variables!</a:t>
            </a:r>
            <a:endParaRPr kumimoji="1" lang="ko-Kore-KR" altLang="en-US" dirty="0">
              <a:solidFill>
                <a:srgbClr val="FF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BA9A91D-04BF-D328-480E-815ECF820FFE}"/>
              </a:ext>
            </a:extLst>
          </p:cNvPr>
          <p:cNvSpPr/>
          <p:nvPr/>
        </p:nvSpPr>
        <p:spPr>
          <a:xfrm>
            <a:off x="616780" y="3322285"/>
            <a:ext cx="4747699" cy="2039386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EB59AB-1A85-5C3A-AFF3-12B11FB259B7}"/>
              </a:ext>
            </a:extLst>
          </p:cNvPr>
          <p:cNvSpPr txBox="1"/>
          <p:nvPr/>
        </p:nvSpPr>
        <p:spPr>
          <a:xfrm>
            <a:off x="4379179" y="2629990"/>
            <a:ext cx="27792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>
                <a:solidFill>
                  <a:srgbClr val="FF0000"/>
                </a:solidFill>
              </a:rPr>
              <a:t>Exactly the same accessors and mutators! </a:t>
            </a:r>
            <a:endParaRPr kumimoji="1" lang="ko-Kore-KR" altLang="en-US" dirty="0">
              <a:solidFill>
                <a:srgbClr val="FF0000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E8533A9-1304-A603-4A01-2933EB4E4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46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3409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Thinking Objects</a:t>
            </a:r>
          </a:p>
        </p:txBody>
      </p:sp>
      <p:sp>
        <p:nvSpPr>
          <p:cNvPr id="880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Focus for programming changes</a:t>
            </a:r>
          </a:p>
          <a:p>
            <a:pPr lvl="1" eaLnBrk="1" hangingPunct="1"/>
            <a:r>
              <a:rPr lang="en-US" sz="2400" dirty="0"/>
              <a:t>Before </a:t>
            </a:r>
            <a:r>
              <a:rPr lang="en-US" sz="2400" dirty="0">
                <a:sym typeface="Wingdings" pitchFamily="2" charset="2"/>
              </a:rPr>
              <a:t></a:t>
            </a:r>
            <a:r>
              <a:rPr lang="en-US" sz="2400" dirty="0"/>
              <a:t> algorithms take the center stage</a:t>
            </a:r>
          </a:p>
          <a:p>
            <a:pPr lvl="1" eaLnBrk="1" hangingPunct="1"/>
            <a:r>
              <a:rPr lang="en-US" sz="2400" dirty="0">
                <a:solidFill>
                  <a:srgbClr val="FF0000"/>
                </a:solidFill>
              </a:rPr>
              <a:t>OOP </a:t>
            </a:r>
            <a:r>
              <a:rPr lang="en-US" sz="2400" dirty="0">
                <a:solidFill>
                  <a:srgbClr val="FF0000"/>
                </a:solidFill>
                <a:sym typeface="Wingdings" pitchFamily="2" charset="2"/>
              </a:rPr>
              <a:t></a:t>
            </a:r>
            <a:r>
              <a:rPr lang="en-US" sz="2400" dirty="0">
                <a:solidFill>
                  <a:srgbClr val="FF0000"/>
                </a:solidFill>
              </a:rPr>
              <a:t> data is the focus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dirty="0"/>
              <a:t>Algorithms are still important</a:t>
            </a:r>
          </a:p>
          <a:p>
            <a:pPr lvl="1" eaLnBrk="1" hangingPunct="1"/>
            <a:r>
              <a:rPr lang="en-US" sz="2400" dirty="0"/>
              <a:t>They simply focus on their data</a:t>
            </a:r>
          </a:p>
          <a:p>
            <a:pPr lvl="1" eaLnBrk="1" hangingPunct="1"/>
            <a:r>
              <a:rPr lang="en-US" sz="2400" dirty="0"/>
              <a:t>Are "made" to "fit" the data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dirty="0"/>
              <a:t>Designing software solution</a:t>
            </a:r>
          </a:p>
          <a:p>
            <a:pPr lvl="1" eaLnBrk="1" hangingPunct="1"/>
            <a:r>
              <a:rPr lang="en-US" sz="2400" dirty="0"/>
              <a:t>Define variety of objects and define how they interact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0B7BC57-364D-7E0B-E02D-A2A2710F1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47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6202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Structure vs. Class</a:t>
            </a:r>
          </a:p>
        </p:txBody>
      </p:sp>
      <p:sp>
        <p:nvSpPr>
          <p:cNvPr id="880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In fact, Class in C++ is an extension of Structure in C</a:t>
            </a:r>
          </a:p>
          <a:p>
            <a:pPr eaLnBrk="1" hangingPunct="1"/>
            <a:r>
              <a:rPr lang="en-US" dirty="0"/>
              <a:t>Structures</a:t>
            </a:r>
          </a:p>
          <a:p>
            <a:pPr lvl="1"/>
            <a:r>
              <a:rPr lang="en-US" dirty="0"/>
              <a:t>Normally used with all member variables public &amp; no member functions</a:t>
            </a:r>
          </a:p>
          <a:p>
            <a:pPr lvl="1"/>
            <a:r>
              <a:rPr lang="en-US" dirty="0"/>
              <a:t>However, in C++, structure can also have public/private variables/functions</a:t>
            </a:r>
          </a:p>
          <a:p>
            <a:pPr lvl="1"/>
            <a:r>
              <a:rPr lang="en-US" dirty="0"/>
              <a:t>Still encouraged to use structure as before</a:t>
            </a:r>
          </a:p>
          <a:p>
            <a:pPr lvl="1"/>
            <a:endParaRPr lang="en-US" dirty="0"/>
          </a:p>
          <a:p>
            <a:r>
              <a:rPr lang="en-US" dirty="0"/>
              <a:t>One clear difference</a:t>
            </a:r>
          </a:p>
          <a:p>
            <a:pPr lvl="1"/>
            <a:r>
              <a:rPr lang="en-US" dirty="0"/>
              <a:t>For Structure, default is </a:t>
            </a:r>
            <a:r>
              <a:rPr lang="en-US" b="1" dirty="0"/>
              <a:t>public</a:t>
            </a:r>
            <a:r>
              <a:rPr lang="en-US" dirty="0"/>
              <a:t>, and for Class, default is </a:t>
            </a:r>
            <a:r>
              <a:rPr lang="en-US" b="1" dirty="0"/>
              <a:t>private</a:t>
            </a:r>
            <a:endParaRPr lang="en-US" sz="2000" b="1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1C85C0F-D8D8-E493-21BB-8BDD6DCEE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48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9822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Summary 1</a:t>
            </a:r>
          </a:p>
        </p:txBody>
      </p:sp>
      <p:sp>
        <p:nvSpPr>
          <p:cNvPr id="901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Structure is collection of different types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dirty="0"/>
              <a:t>Class used to combine data and functions into single unit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sz="2800" dirty="0"/>
              <a:t> object</a:t>
            </a:r>
            <a:endParaRPr lang="en-US" sz="2400" dirty="0"/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dirty="0"/>
              <a:t>Class and structure types can be formal parameters to functions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ko-KR" dirty="0"/>
              <a:t>Member variables and member functions</a:t>
            </a:r>
          </a:p>
          <a:p>
            <a:pPr lvl="1">
              <a:lnSpc>
                <a:spcPct val="90000"/>
              </a:lnSpc>
            </a:pPr>
            <a:r>
              <a:rPr lang="en-US" altLang="ko-KR" dirty="0"/>
              <a:t>Can be public </a:t>
            </a:r>
            <a:r>
              <a:rPr lang="en-US" altLang="ko-KR" dirty="0">
                <a:sym typeface="Wingdings" pitchFamily="2" charset="2"/>
              </a:rPr>
              <a:t></a:t>
            </a:r>
            <a:r>
              <a:rPr lang="en-US" altLang="ko-KR" dirty="0"/>
              <a:t> accessed outside class</a:t>
            </a:r>
          </a:p>
          <a:p>
            <a:pPr lvl="1">
              <a:lnSpc>
                <a:spcPct val="90000"/>
              </a:lnSpc>
            </a:pPr>
            <a:r>
              <a:rPr lang="en-US" altLang="ko-KR" dirty="0"/>
              <a:t>Can be private </a:t>
            </a:r>
            <a:r>
              <a:rPr lang="en-US" altLang="ko-KR" dirty="0">
                <a:sym typeface="Wingdings" pitchFamily="2" charset="2"/>
              </a:rPr>
              <a:t></a:t>
            </a:r>
            <a:r>
              <a:rPr lang="en-US" altLang="ko-KR" dirty="0"/>
              <a:t> accessed only in a member</a:t>
            </a:r>
            <a:br>
              <a:rPr lang="en-US" altLang="ko-KR" dirty="0"/>
            </a:br>
            <a:r>
              <a:rPr lang="en-US" altLang="ko-KR" dirty="0"/>
              <a:t>function’s definition</a:t>
            </a:r>
            <a:endParaRPr lang="en-US" sz="28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A7A6598-CB06-6558-D0F3-EB93C51DA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49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8820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Summary 2</a:t>
            </a:r>
          </a:p>
        </p:txBody>
      </p:sp>
      <p:sp>
        <p:nvSpPr>
          <p:cNvPr id="921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480"/>
              </a:spcBef>
            </a:pPr>
            <a:r>
              <a:rPr lang="en-US" dirty="0"/>
              <a:t>Encapsulation is the key for OOP</a:t>
            </a:r>
          </a:p>
          <a:p>
            <a:pPr lvl="1">
              <a:spcBef>
                <a:spcPts val="480"/>
              </a:spcBef>
            </a:pPr>
            <a:r>
              <a:rPr lang="en-US" dirty="0"/>
              <a:t>Separate interface and implementation!</a:t>
            </a:r>
          </a:p>
          <a:p>
            <a:pPr lvl="1">
              <a:spcBef>
                <a:spcPts val="480"/>
              </a:spcBef>
            </a:pPr>
            <a:r>
              <a:rPr lang="en-US" dirty="0"/>
              <a:t>Build your own ADT with classes!</a:t>
            </a:r>
          </a:p>
          <a:p>
            <a:pPr lvl="1">
              <a:spcBef>
                <a:spcPts val="480"/>
              </a:spcBef>
            </a:pPr>
            <a:r>
              <a:rPr lang="en-US" dirty="0"/>
              <a:t>Using private members can realize the encapsulation</a:t>
            </a:r>
          </a:p>
          <a:p>
            <a:pPr marL="457200" lvl="1" indent="0">
              <a:spcBef>
                <a:spcPts val="480"/>
              </a:spcBef>
              <a:buNone/>
            </a:pPr>
            <a:endParaRPr lang="en-US" dirty="0"/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US" dirty="0"/>
          </a:p>
          <a:p>
            <a:pPr lvl="1">
              <a:spcBef>
                <a:spcPts val="480"/>
              </a:spcBef>
            </a:pPr>
            <a:endParaRPr lang="en-US" dirty="0"/>
          </a:p>
          <a:p>
            <a:pPr lvl="1">
              <a:spcBef>
                <a:spcPct val="50000"/>
              </a:spcBef>
            </a:pPr>
            <a:endParaRPr lang="en-US" dirty="0"/>
          </a:p>
          <a:p>
            <a:pPr eaLnBrk="1" hangingPunct="1">
              <a:spcBef>
                <a:spcPct val="50000"/>
              </a:spcBef>
            </a:pPr>
            <a:endParaRPr 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21BE49B-33C7-4716-5075-48588EFC3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50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7969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9976" y="2632259"/>
            <a:ext cx="8704579" cy="1139125"/>
          </a:xfrm>
        </p:spPr>
        <p:txBody>
          <a:bodyPr/>
          <a:lstStyle/>
          <a:p>
            <a:r>
              <a:rPr kumimoji="1" lang="en-US" altLang="ko-KR" dirty="0"/>
              <a:t>Thank you!</a:t>
            </a:r>
            <a:endParaRPr kumimoji="1" lang="ko-KR" altLang="en-US" dirty="0"/>
          </a:p>
        </p:txBody>
      </p:sp>
      <p:sp>
        <p:nvSpPr>
          <p:cNvPr id="5" name="텍스트 상자 4"/>
          <p:cNvSpPr txBox="1"/>
          <p:nvPr/>
        </p:nvSpPr>
        <p:spPr>
          <a:xfrm>
            <a:off x="2190492" y="4067948"/>
            <a:ext cx="47848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400" dirty="0">
                <a:latin typeface="Gill Sans MT" charset="0"/>
                <a:ea typeface="Gill Sans MT" charset="0"/>
                <a:cs typeface="Gill Sans MT" charset="0"/>
              </a:rPr>
              <a:t>Web: </a:t>
            </a:r>
            <a:r>
              <a:rPr kumimoji="1" lang="en-US" altLang="ko-KR" sz="2400" dirty="0">
                <a:latin typeface="Gill Sans MT" charset="0"/>
                <a:ea typeface="Gill Sans MT" charset="0"/>
                <a:cs typeface="Gill Sans MT" charset="0"/>
                <a:hlinkClick r:id="rId3"/>
              </a:rPr>
              <a:t>http://</a:t>
            </a:r>
            <a:r>
              <a:rPr kumimoji="1" lang="en-US" altLang="ko-KR" sz="2400" dirty="0" err="1">
                <a:latin typeface="Gill Sans MT" charset="0"/>
                <a:ea typeface="Gill Sans MT" charset="0"/>
                <a:cs typeface="Gill Sans MT" charset="0"/>
                <a:hlinkClick r:id="rId3"/>
              </a:rPr>
              <a:t>mindlab-snu.github.io</a:t>
            </a:r>
            <a:endParaRPr kumimoji="1" lang="en-US" altLang="ko-KR" sz="2400" dirty="0">
              <a:latin typeface="Gill Sans MT" charset="0"/>
              <a:ea typeface="Gill Sans MT" charset="0"/>
              <a:cs typeface="Gill Sans MT" charset="0"/>
            </a:endParaRPr>
          </a:p>
          <a:p>
            <a:pPr algn="ctr"/>
            <a:r>
              <a:rPr kumimoji="1" lang="en-US" altLang="ko-KR" sz="2400" dirty="0">
                <a:latin typeface="Gill Sans MT" charset="0"/>
                <a:ea typeface="Gill Sans MT" charset="0"/>
                <a:cs typeface="Gill Sans MT" charset="0"/>
              </a:rPr>
              <a:t>E-mail: </a:t>
            </a:r>
            <a:r>
              <a:rPr kumimoji="1" lang="en-US" altLang="ko-KR" sz="2400" dirty="0" err="1">
                <a:latin typeface="Gill Sans MT" charset="0"/>
                <a:ea typeface="Gill Sans MT" charset="0"/>
                <a:cs typeface="Gill Sans MT" charset="0"/>
                <a:hlinkClick r:id="rId4"/>
              </a:rPr>
              <a:t>tsmoon@snu.ac.kr</a:t>
            </a:r>
            <a:endParaRPr kumimoji="1" lang="ko-KR" altLang="en-US" sz="2400" dirty="0">
              <a:latin typeface="Gill Sans MT" charset="0"/>
              <a:ea typeface="Gill Sans MT" charset="0"/>
              <a:cs typeface="Gill Sans MT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A8EDEE-C853-A041-6CD8-2EF3B74EE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51</a:t>
            </a:fld>
            <a:r>
              <a:rPr lang="en-US"/>
              <a:t> / 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53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363871</TotalTime>
  <Words>2915</Words>
  <Application>Microsoft Macintosh PowerPoint</Application>
  <PresentationFormat>화면 슬라이드 쇼(4:3)</PresentationFormat>
  <Paragraphs>475</Paragraphs>
  <Slides>51</Slides>
  <Notes>48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60" baseType="lpstr">
      <vt:lpstr>Arial</vt:lpstr>
      <vt:lpstr>Calibri</vt:lpstr>
      <vt:lpstr>Courier</vt:lpstr>
      <vt:lpstr>Courier New</vt:lpstr>
      <vt:lpstr>Gill Sans MT</vt:lpstr>
      <vt:lpstr>Lucida Console</vt:lpstr>
      <vt:lpstr>Tahoma</vt:lpstr>
      <vt:lpstr>Wingdings</vt:lpstr>
      <vt:lpstr>Office Theme</vt:lpstr>
      <vt:lpstr>430.211 Programming Methodology (프로그래밍 방법론)</vt:lpstr>
      <vt:lpstr>Outline</vt:lpstr>
      <vt:lpstr>Outline</vt:lpstr>
      <vt:lpstr>Ch 6. Structures and Classes Learning Objectives</vt:lpstr>
      <vt:lpstr>Structures</vt:lpstr>
      <vt:lpstr>Structure Types</vt:lpstr>
      <vt:lpstr>Declare Structure Variable</vt:lpstr>
      <vt:lpstr>Accessing Structure Members</vt:lpstr>
      <vt:lpstr>Structure Assignments</vt:lpstr>
      <vt:lpstr>Structures as Function Arguments</vt:lpstr>
      <vt:lpstr>Structures as Function Arguments : Example</vt:lpstr>
      <vt:lpstr>Structure Example:  Display 6.1  A Structure Definition (1 of 3)</vt:lpstr>
      <vt:lpstr>Structure Example:  Display 6.1  A Structure Definition (2 of 3)</vt:lpstr>
      <vt:lpstr>Structure Example:  Display 6.1  A Structure Definition (3 of 3)</vt:lpstr>
      <vt:lpstr>Structure Pitfall</vt:lpstr>
      <vt:lpstr>Hierarchical structures</vt:lpstr>
      <vt:lpstr>Hierarchical structures : Example (1/3)</vt:lpstr>
      <vt:lpstr>Hierarchical structures : Example (2/3)</vt:lpstr>
      <vt:lpstr>Hierarchical structures : Example (3/3)</vt:lpstr>
      <vt:lpstr>Initializing Structures</vt:lpstr>
      <vt:lpstr>Outline</vt:lpstr>
      <vt:lpstr>Class</vt:lpstr>
      <vt:lpstr>Class Definitions</vt:lpstr>
      <vt:lpstr>Declaring Objects</vt:lpstr>
      <vt:lpstr>Class Member Access</vt:lpstr>
      <vt:lpstr>Class Member Functions</vt:lpstr>
      <vt:lpstr>Class Member Functions Definition</vt:lpstr>
      <vt:lpstr>Complete Class Example:  Display 6.3  Class With a Member Function (1 of 3)</vt:lpstr>
      <vt:lpstr>Complete Class Example:  Display 6.3  Class With a Member Function (2 of 3)</vt:lpstr>
      <vt:lpstr>Complete Class Example:  Display 6.3  Class With a Member Function (3 of 3)</vt:lpstr>
      <vt:lpstr>A Class’s Place</vt:lpstr>
      <vt:lpstr>Encapsulation</vt:lpstr>
      <vt:lpstr>Abstract Data Types (ADT)</vt:lpstr>
      <vt:lpstr>Encapsulation –  Separation of Interface &amp; Implementation</vt:lpstr>
      <vt:lpstr>Public and Private Members</vt:lpstr>
      <vt:lpstr>Public and Private Example</vt:lpstr>
      <vt:lpstr>Why Encapsulation?</vt:lpstr>
      <vt:lpstr>Prevent the Danger of Unintended Change </vt:lpstr>
      <vt:lpstr>Enforcing Encapsulation : Data as Private Members</vt:lpstr>
      <vt:lpstr>Class with Private Members Example : Display 6.4 (1/4)</vt:lpstr>
      <vt:lpstr>Class with Private Members Example : Display 6.4 (2/4)</vt:lpstr>
      <vt:lpstr>Class with Private Members Example : Display 6.4 (3/4)</vt:lpstr>
      <vt:lpstr>Class with Private Members Example : Display 6.4 (4/4)</vt:lpstr>
      <vt:lpstr>Public and Private Style</vt:lpstr>
      <vt:lpstr>Accessor and Mutator Functions</vt:lpstr>
      <vt:lpstr>A Test for Encapsulation</vt:lpstr>
      <vt:lpstr>Thinking Objects</vt:lpstr>
      <vt:lpstr>Structure vs. Class</vt:lpstr>
      <vt:lpstr>Summary 1</vt:lpstr>
      <vt:lpstr>Summary 2</vt:lpstr>
      <vt:lpstr>Thank you!</vt:lpstr>
    </vt:vector>
  </TitlesOfParts>
  <Company>Yahoo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methods for computer science and software engineering</dc:title>
  <dc:creator>Yahoo</dc:creator>
  <cp:lastModifiedBy>문태섭</cp:lastModifiedBy>
  <cp:revision>2497</cp:revision>
  <cp:lastPrinted>2018-06-23T17:58:32Z</cp:lastPrinted>
  <dcterms:created xsi:type="dcterms:W3CDTF">2011-10-29T09:19:52Z</dcterms:created>
  <dcterms:modified xsi:type="dcterms:W3CDTF">2024-04-08T13:03:42Z</dcterms:modified>
</cp:coreProperties>
</file>