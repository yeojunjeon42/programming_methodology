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9" r:id="rId1"/>
  </p:sldMasterIdLst>
  <p:notesMasterIdLst>
    <p:notesMasterId r:id="rId54"/>
  </p:notesMasterIdLst>
  <p:handoutMasterIdLst>
    <p:handoutMasterId r:id="rId55"/>
  </p:handoutMasterIdLst>
  <p:sldIdLst>
    <p:sldId id="1556" r:id="rId2"/>
    <p:sldId id="1453" r:id="rId3"/>
    <p:sldId id="414" r:id="rId4"/>
    <p:sldId id="145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1455" r:id="rId14"/>
    <p:sldId id="424" r:id="rId15"/>
    <p:sldId id="1456" r:id="rId16"/>
    <p:sldId id="426" r:id="rId17"/>
    <p:sldId id="452" r:id="rId18"/>
    <p:sldId id="453" r:id="rId19"/>
    <p:sldId id="454" r:id="rId20"/>
    <p:sldId id="460" r:id="rId21"/>
    <p:sldId id="455" r:id="rId22"/>
    <p:sldId id="456" r:id="rId23"/>
    <p:sldId id="1431" r:id="rId24"/>
    <p:sldId id="457" r:id="rId25"/>
    <p:sldId id="1433" r:id="rId26"/>
    <p:sldId id="1435" r:id="rId27"/>
    <p:sldId id="1439" r:id="rId28"/>
    <p:sldId id="1440" r:id="rId29"/>
    <p:sldId id="1441" r:id="rId30"/>
    <p:sldId id="458" r:id="rId31"/>
    <p:sldId id="459" r:id="rId32"/>
    <p:sldId id="461" r:id="rId33"/>
    <p:sldId id="462" r:id="rId34"/>
    <p:sldId id="1443" r:id="rId35"/>
    <p:sldId id="1444" r:id="rId36"/>
    <p:sldId id="1445" r:id="rId37"/>
    <p:sldId id="1446" r:id="rId38"/>
    <p:sldId id="463" r:id="rId39"/>
    <p:sldId id="440" r:id="rId40"/>
    <p:sldId id="441" r:id="rId41"/>
    <p:sldId id="442" r:id="rId42"/>
    <p:sldId id="443" r:id="rId43"/>
    <p:sldId id="444" r:id="rId44"/>
    <p:sldId id="445" r:id="rId45"/>
    <p:sldId id="446" r:id="rId46"/>
    <p:sldId id="1447" r:id="rId47"/>
    <p:sldId id="447" r:id="rId48"/>
    <p:sldId id="448" r:id="rId49"/>
    <p:sldId id="449" r:id="rId50"/>
    <p:sldId id="450" r:id="rId51"/>
    <p:sldId id="451" r:id="rId52"/>
    <p:sldId id="1599" r:id="rId5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9A0201"/>
    <a:srgbClr val="C9DDFB"/>
    <a:srgbClr val="D6DCE5"/>
    <a:srgbClr val="DBEFF2"/>
    <a:srgbClr val="BED7EE"/>
    <a:srgbClr val="EFEDE1"/>
    <a:srgbClr val="C9DCFA"/>
    <a:srgbClr val="B10000"/>
    <a:srgbClr val="000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1"/>
    <p:restoredTop sz="95423" autoAdjust="0"/>
  </p:normalViewPr>
  <p:slideViewPr>
    <p:cSldViewPr snapToGrid="0" snapToObjects="1">
      <p:cViewPr varScale="1">
        <p:scale>
          <a:sx n="170" d="100"/>
          <a:sy n="170" d="100"/>
        </p:scale>
        <p:origin x="8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4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40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F55E73-1F85-FF4B-84BB-0F26D23E3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617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3B4573-DC42-814A-AA19-DDDB4F35D741}" type="datetime1">
              <a:rPr lang="en-US" smtClean="0"/>
              <a:t>3/19/24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502AA77-C507-8DFB-4048-9AEF6B218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138A0-E337-BE4F-93FC-743A1316561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8080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59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87F113-A1FA-43D6-93FF-06CA5EB77A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884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87F113-A1FA-43D6-93FF-06CA5EB77A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311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5A01C2-2DF1-4422-A652-7B6A403043B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788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AC11A2-95B9-4E22-8315-CFB46116F2D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55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65AC8C-9F02-4D0A-982C-251A0EF507B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1001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06B6A4-7C4B-4092-806A-EAAB3DAEC47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8106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AA73A1-7A8F-4B9F-A90E-8FD09BC5CE4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901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934129-1129-4939-B1D0-CA84335165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276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CAA529-6CA5-481D-B57C-C39AB461DC0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6588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B5B79D-8EC0-4F84-ABE9-60F3F45DE4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9550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B5B79D-8EC0-4F84-ABE9-60F3F45DE4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6021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1A3B04-CD57-4F70-A2D5-CA852E874D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712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1A3B04-CD57-4F70-A2D5-CA852E874D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7946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540543-1E7B-4ED6-95EF-887ED8A5D2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97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33FED-2BFF-4A36-BB9E-2B675A75673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7222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648F28-FEF9-4C52-BF9F-FD9AAB68CAE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790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F12277-EB9F-4EB8-80E6-5E1C7018CC2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6007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3EF85C-8DC9-4157-A64F-F3FE65D9C93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4650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CA5EE9-4ED1-4877-B061-0522AF3602B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6432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D438C-A08D-42CC-AD11-DE4F028024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994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D438C-A08D-42CC-AD11-DE4F028024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8817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2920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4743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8879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5764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8602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620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EE0672-91BC-4033-8E22-354674147C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23753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0E5AFE-AB3B-4614-8F02-CC5F24F744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550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BF8005-EC25-4B3A-B613-EDFCA40207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96190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912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39015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7540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6252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20800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6DFCE6-2F9C-41D1-B0BD-E5BF36437B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92679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C32903-1783-48FE-8DFD-CAE5DB39B2C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85689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8FEE40-E8D3-40B2-969D-9DB6B6E916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00778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A2C782-1C1B-4EFB-AC33-953218D0513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8557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F18A50-D6A6-48C6-A221-6F5F40441D1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8642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B1D2AE-9B2F-4459-9A69-B1FE004CB2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53179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6BC92-32B7-4A54-8202-259F8B842FB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37199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7B54B-B82D-404C-8936-1693DE1AAC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89491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7B54B-B82D-404C-8936-1693DE1AAC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00589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7104DE-4E63-48B1-A831-79237FEA75A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7584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BB5D5D-8C3C-43F8-A7C4-D7C4055564B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54907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B9899E-7978-474B-B9C2-91173E9C84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87994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BF3AB9-B694-4AA5-94BB-D48EFD9DAC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34374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73257B-0685-4255-B66D-1CB6FE01F5F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9900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CC2355E-BEA1-9643-A7F8-09D95B04909E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2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2133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7828"/>
            <a:ext cx="6400800" cy="1240971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6E2D5B-B408-7A89-06C0-51960A39F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1" y="6150997"/>
            <a:ext cx="1676400" cy="636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4CF284-BD79-E439-BEF7-156B5950C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31491" y="6150997"/>
            <a:ext cx="636308" cy="63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192191"/>
          </a:xfr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80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Gill Sans MT" charset="0"/>
                <a:ea typeface="Gill Sans MT" charset="0"/>
                <a:cs typeface="Gill Sans MT" charset="0"/>
              </a:defRPr>
            </a:lvl1pPr>
            <a:lvl2pPr>
              <a:defRPr sz="2400">
                <a:latin typeface="Gill Sans MT" charset="0"/>
                <a:ea typeface="Gill Sans MT" charset="0"/>
                <a:cs typeface="Gill Sans MT" charset="0"/>
              </a:defRPr>
            </a:lvl2pPr>
            <a:lvl3pPr marL="1143000" indent="-228600">
              <a:buFont typeface="Wingdings" pitchFamily="2" charset="2"/>
              <a:buChar char="§"/>
              <a:defRPr sz="2000">
                <a:latin typeface="Gill Sans MT" charset="0"/>
                <a:ea typeface="Gill Sans MT" charset="0"/>
                <a:cs typeface="Gill Sans MT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800">
                <a:latin typeface="Gill Sans MT" charset="0"/>
                <a:ea typeface="Gill Sans MT" charset="0"/>
                <a:cs typeface="Gill Sans MT" charset="0"/>
              </a:defRPr>
            </a:lvl4pPr>
            <a:lvl5pPr>
              <a:defRPr sz="1800">
                <a:latin typeface="Gill Sans MT" charset="0"/>
                <a:ea typeface="Gill Sans MT" charset="0"/>
                <a:cs typeface="Gill Sans M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B762F1-D8D6-093B-0CF5-AE191AD43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34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9058"/>
            <a:ext cx="4343400" cy="4593771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5472958-A9FB-3BD2-D1E4-7E6AC90A16EA}"/>
              </a:ext>
            </a:extLst>
          </p:cNvPr>
          <p:cNvSpPr/>
          <p:nvPr userDrawn="1"/>
        </p:nvSpPr>
        <p:spPr>
          <a:xfrm>
            <a:off x="500743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287BCF0-970A-D618-D1A3-805015060886}"/>
              </a:ext>
            </a:extLst>
          </p:cNvPr>
          <p:cNvSpPr/>
          <p:nvPr userDrawn="1"/>
        </p:nvSpPr>
        <p:spPr>
          <a:xfrm>
            <a:off x="4974772" y="1338941"/>
            <a:ext cx="3668485" cy="3918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2000" dirty="0">
                <a:solidFill>
                  <a:schemeClr val="tx1"/>
                </a:solidFill>
                <a:latin typeface="Gill Sans MT" panose="020B0502020104020203" pitchFamily="34" charset="0"/>
              </a:rPr>
              <a:t>Sub-Title</a:t>
            </a:r>
            <a:endParaRPr kumimoji="1" lang="ko-Kore-KR" altLang="en-US" sz="20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93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87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38AF0-7033-7594-3782-295E4B14DD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" y="6278925"/>
            <a:ext cx="1483360" cy="5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3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1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0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477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238491"/>
          </a:xfrm>
          <a:prstGeom prst="rect">
            <a:avLst/>
          </a:prstGeom>
          <a:solidFill>
            <a:srgbClr val="9A020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927" y="1387098"/>
            <a:ext cx="8704579" cy="4739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5314" y="648870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fld id="{06C8BE47-A309-A04A-8ACD-5472A992E3BA}" type="slidenum">
              <a:rPr lang="en-US" smtClean="0"/>
              <a:pPr/>
              <a:t>‹#›</a:t>
            </a:fld>
            <a:r>
              <a:rPr lang="en-US" dirty="0"/>
              <a:t> / 52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C1FA9-D088-05FB-E2A6-D45FC1627490}"/>
              </a:ext>
            </a:extLst>
          </p:cNvPr>
          <p:cNvSpPr txBox="1"/>
          <p:nvPr userDrawn="1"/>
        </p:nvSpPr>
        <p:spPr>
          <a:xfrm>
            <a:off x="3272011" y="6550223"/>
            <a:ext cx="2908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400" dirty="0">
                <a:solidFill>
                  <a:schemeClr val="bg1">
                    <a:lumMod val="65000"/>
                  </a:schemeClr>
                </a:solidFill>
              </a:rPr>
              <a:t>Programming Methodology</a:t>
            </a:r>
            <a:endParaRPr kumimoji="1" lang="ko-Kore-KR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46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7" r:id="rId7"/>
    <p:sldLayoutId id="2147483738" r:id="rId8"/>
    <p:sldLayoutId id="2147483739" r:id="rId9"/>
    <p:sldLayoutId id="2147483740" r:id="rId10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3800" kern="1200">
          <a:solidFill>
            <a:schemeClr val="bg1"/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MT" charset="0"/>
          <a:ea typeface="Gill Sans MT" charset="0"/>
          <a:cs typeface="Gill Sans M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mindlab-snu.github.io/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tsmoon@snu.ac.k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1085F-9BC2-80AE-01A6-7990CD4F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4143"/>
            <a:ext cx="9144000" cy="1918517"/>
          </a:xfrm>
        </p:spPr>
        <p:txBody>
          <a:bodyPr/>
          <a:lstStyle/>
          <a:p>
            <a:r>
              <a:rPr lang="en-US" altLang="ko-KR" dirty="0"/>
              <a:t>430.211 Programming Methodology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프로그래밍 방법론</a:t>
            </a:r>
            <a:r>
              <a:rPr lang="en-US" altLang="ko-KR" dirty="0"/>
              <a:t>)</a:t>
            </a:r>
            <a:endParaRPr kumimoji="1"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D90AE5-9547-4127-6505-3D8B59442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2595" y="3361507"/>
            <a:ext cx="7040880" cy="2673533"/>
          </a:xfrm>
        </p:spPr>
        <p:txBody>
          <a:bodyPr/>
          <a:lstStyle/>
          <a:p>
            <a:r>
              <a:rPr kumimoji="1" lang="en-US" altLang="ko-Kore-KR" b="1" dirty="0" err="1"/>
              <a:t>Taesup</a:t>
            </a:r>
            <a:r>
              <a:rPr kumimoji="1" lang="en-US" altLang="ko-Kore-KR" b="1" dirty="0"/>
              <a:t> Moon</a:t>
            </a:r>
            <a:br>
              <a:rPr kumimoji="1" lang="en-US" altLang="ko-Kore-KR" b="1" dirty="0"/>
            </a:br>
            <a:endParaRPr kumimoji="1" lang="en-US" altLang="ko-Kore-KR" b="1" dirty="0"/>
          </a:p>
          <a:p>
            <a:r>
              <a:rPr kumimoji="1" lang="en-US" altLang="ko-Kore-KR" sz="2000" dirty="0"/>
              <a:t>Department of Electrical and Computer Engineering</a:t>
            </a:r>
          </a:p>
          <a:p>
            <a:r>
              <a:rPr kumimoji="1" lang="en-US" altLang="ko-Kore-KR" sz="2000" dirty="0"/>
              <a:t>Seoul National University</a:t>
            </a:r>
          </a:p>
          <a:p>
            <a:endParaRPr kumimoji="1" lang="en-US" altLang="ko-Kore-KR" sz="1600" dirty="0"/>
          </a:p>
          <a:p>
            <a:endParaRPr kumimoji="1" lang="en-US" altLang="ko-Kore-KR" sz="2000" dirty="0"/>
          </a:p>
        </p:txBody>
      </p:sp>
    </p:spTree>
    <p:extLst>
      <p:ext uri="{BB962C8B-B14F-4D97-AF65-F5344CB8AC3E}">
        <p14:creationId xmlns:p14="http://schemas.microsoft.com/office/powerpoint/2010/main" val="2699297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" altLang="ko-KR" dirty="0"/>
              <a:t>Chapter 3: Functions</a:t>
            </a:r>
          </a:p>
          <a:p>
            <a:pPr lvl="1" fontAlgn="base"/>
            <a:endParaRPr lang="en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0" indent="0">
              <a:buNone/>
            </a:pPr>
            <a:br>
              <a:rPr kumimoji="1" lang="en-US" altLang="ko-KR" dirty="0"/>
            </a:br>
            <a:endParaRPr kumimoji="1" lang="en-US" altLang="ko-KR" sz="1600" dirty="0"/>
          </a:p>
          <a:p>
            <a:pPr marL="0" indent="0">
              <a:buNone/>
            </a:pP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07439-AB5E-F956-6CC7-749ACB9B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79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: Learning objectives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Predefined Functions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Functions that are already implemented in C++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Those that return a value and those that don’t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Programmer-defined Functions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Functions that can be defined by a programmer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Defining, Declaring, Calling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Recursive Functions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dirty="0"/>
              <a:t>Scope Rules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Local variables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Global constants and global variables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Blocks, nested scopes</a:t>
            </a:r>
            <a:endParaRPr 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6839F4-BE8F-5CDE-34A3-E8D53C01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50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 Introduction to Functions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Building Blocks of Programs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Other terminology in other languages:</a:t>
            </a:r>
          </a:p>
          <a:p>
            <a:pPr lvl="1" eaLnBrk="1" hangingPunct="1"/>
            <a:r>
              <a:rPr lang="en-US" sz="2400" dirty="0"/>
              <a:t>Procedures, subprograms, methods (Java)</a:t>
            </a:r>
          </a:p>
          <a:p>
            <a:pPr lvl="1" eaLnBrk="1" hangingPunct="1"/>
            <a:r>
              <a:rPr lang="en-US" sz="2400" dirty="0"/>
              <a:t>In C++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I-P-O</a:t>
            </a:r>
          </a:p>
          <a:p>
            <a:pPr lvl="1" eaLnBrk="1" hangingPunct="1"/>
            <a:r>
              <a:rPr lang="en-US" sz="2400" dirty="0">
                <a:solidFill>
                  <a:srgbClr val="0000FF"/>
                </a:solidFill>
              </a:rPr>
              <a:t>Input – Process – Output</a:t>
            </a:r>
          </a:p>
          <a:p>
            <a:pPr lvl="1" eaLnBrk="1" hangingPunct="1"/>
            <a:r>
              <a:rPr lang="en-US" sz="2400" dirty="0"/>
              <a:t>Basic subparts to any program</a:t>
            </a:r>
          </a:p>
          <a:p>
            <a:pPr lvl="1" eaLnBrk="1" hangingPunct="1"/>
            <a:r>
              <a:rPr lang="en-US" sz="2400" dirty="0"/>
              <a:t>Use functions for these "pieces"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250194-0C92-B1CF-E425-54C45C1D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0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Predefined Functions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184" y="1414445"/>
            <a:ext cx="8663353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000" dirty="0"/>
              <a:t>Library files contain many </a:t>
            </a:r>
            <a:r>
              <a:rPr lang="en-US" altLang="ko-KR" sz="3000" dirty="0"/>
              <a:t>predefined </a:t>
            </a:r>
            <a:r>
              <a:rPr lang="en-US" sz="3000" dirty="0"/>
              <a:t>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Two types: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Those that return a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Those that do not (void)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/>
              <a:t>To use a predefined function, you must </a:t>
            </a:r>
            <a:r>
              <a:rPr lang="en-US" dirty="0">
                <a:solidFill>
                  <a:srgbClr val="0000FF"/>
                </a:solidFill>
              </a:rPr>
              <a:t>"#include" appropriate library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E.g.,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&lt;</a:t>
            </a:r>
            <a:r>
              <a:rPr lang="en-US" dirty="0" err="1">
                <a:latin typeface="Courier" pitchFamily="2" charset="0"/>
              </a:rPr>
              <a:t>cmath</a:t>
            </a:r>
            <a:r>
              <a:rPr lang="en-US" dirty="0">
                <a:latin typeface="Courier" pitchFamily="2" charset="0"/>
              </a:rPr>
              <a:t>&gt;, &lt;</a:t>
            </a:r>
            <a:r>
              <a:rPr lang="en-US" dirty="0" err="1">
                <a:latin typeface="Courier" pitchFamily="2" charset="0"/>
              </a:rPr>
              <a:t>cstdlib</a:t>
            </a:r>
            <a:r>
              <a:rPr lang="en-US" dirty="0">
                <a:latin typeface="Courier" pitchFamily="2" charset="0"/>
              </a:rPr>
              <a:t>&gt;</a:t>
            </a:r>
            <a:r>
              <a:rPr lang="en-US" dirty="0"/>
              <a:t> (Original "C" libraries)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&lt;</a:t>
            </a:r>
            <a:r>
              <a:rPr lang="en-US" dirty="0" err="1">
                <a:latin typeface="Courier" pitchFamily="2" charset="0"/>
              </a:rPr>
              <a:t>iostream</a:t>
            </a:r>
            <a:r>
              <a:rPr lang="en-US" dirty="0">
                <a:latin typeface="Courier" pitchFamily="2" charset="0"/>
              </a:rPr>
              <a:t>&gt;</a:t>
            </a:r>
            <a:r>
              <a:rPr lang="en-US" dirty="0"/>
              <a:t> (for </a:t>
            </a:r>
            <a:r>
              <a:rPr lang="en-US" dirty="0" err="1"/>
              <a:t>cout</a:t>
            </a:r>
            <a:r>
              <a:rPr lang="en-US" dirty="0"/>
              <a:t>, </a:t>
            </a:r>
            <a:r>
              <a:rPr lang="en-US" dirty="0" err="1"/>
              <a:t>cin</a:t>
            </a:r>
            <a:r>
              <a:rPr lang="en-US" dirty="0"/>
              <a:t>)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4D7AB0C-745E-ECC1-342D-8F13829E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1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Using Predefined Functions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dirty="0"/>
              <a:t>M</a:t>
            </a:r>
            <a:r>
              <a:rPr lang="en-US" sz="2800" dirty="0"/>
              <a:t>ath functions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 dirty="0"/>
              <a:t>Found in library 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cmath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&gt;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 dirty="0"/>
              <a:t>Most return a value (the "answer")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800" dirty="0">
                <a:latin typeface="Gill Sans MT" panose="020B0502020104020203" pitchFamily="34" charset="0"/>
              </a:rPr>
              <a:t>E.g.,</a:t>
            </a:r>
            <a:r>
              <a:rPr lang="en-US" sz="2800" dirty="0">
                <a:latin typeface="Courier" pitchFamily="2" charset="0"/>
              </a:rPr>
              <a:t> </a:t>
            </a:r>
            <a:r>
              <a:rPr lang="en-US" sz="2800" dirty="0" err="1">
                <a:latin typeface="Courier" pitchFamily="2" charset="0"/>
              </a:rPr>
              <a:t>theRoot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ourier" pitchFamily="2" charset="0"/>
              </a:rPr>
              <a:t>sqrt(9.0)</a:t>
            </a:r>
            <a:r>
              <a:rPr lang="en-US" sz="2800" dirty="0">
                <a:latin typeface="Courier" pitchFamily="2" charset="0"/>
              </a:rPr>
              <a:t>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 dirty="0"/>
              <a:t>Components: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sqrt    =</a:t>
            </a:r>
            <a:r>
              <a:rPr lang="en-US" sz="2400" dirty="0"/>
              <a:t>	name of a library function</a:t>
            </a:r>
            <a:br>
              <a:rPr lang="en-US" sz="2400" dirty="0"/>
            </a:br>
            <a:r>
              <a:rPr lang="en-US" sz="2400" dirty="0" err="1">
                <a:latin typeface="Courier" pitchFamily="2" charset="0"/>
              </a:rPr>
              <a:t>theRoot</a:t>
            </a:r>
            <a:r>
              <a:rPr lang="en-US" sz="2400" dirty="0">
                <a:latin typeface="Courier" pitchFamily="2" charset="0"/>
              </a:rPr>
              <a:t> =</a:t>
            </a:r>
            <a:r>
              <a:rPr lang="en-US" sz="2400" dirty="0"/>
              <a:t>	variable used to assign "answer" to</a:t>
            </a:r>
            <a:br>
              <a:rPr lang="en-US" sz="2400" dirty="0"/>
            </a:br>
            <a:r>
              <a:rPr lang="en-US" sz="2400" dirty="0">
                <a:latin typeface="Courier" pitchFamily="2" charset="0"/>
              </a:rPr>
              <a:t>9.0     =</a:t>
            </a:r>
            <a:r>
              <a:rPr lang="en-US" sz="2400" dirty="0"/>
              <a:t>	argument or "starting input" for function</a:t>
            </a:r>
            <a:endParaRPr lang="en-US" sz="20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 dirty="0"/>
              <a:t>In I-P-O: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200" dirty="0"/>
              <a:t>I =	9.0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200" dirty="0"/>
              <a:t>P =	"compute the square root"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200" dirty="0"/>
              <a:t>O =	3, which is returned &amp; assigned to </a:t>
            </a:r>
            <a:r>
              <a:rPr lang="en-US" sz="2200" dirty="0" err="1">
                <a:latin typeface="Courier" pitchFamily="2" charset="0"/>
              </a:rPr>
              <a:t>theRoot</a:t>
            </a:r>
            <a:endParaRPr lang="en-US" sz="2200" dirty="0">
              <a:latin typeface="Courier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642FF8-8431-E815-24AB-4B435D84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6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4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Function Call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Back to this assignment: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 err="1">
                <a:latin typeface="Courier" pitchFamily="2" charset="0"/>
              </a:rPr>
              <a:t>theRoot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dirty="0" err="1">
                <a:latin typeface="Courier" pitchFamily="2" charset="0"/>
              </a:rPr>
              <a:t>sqrt</a:t>
            </a:r>
            <a:r>
              <a:rPr lang="en-US" sz="2800" dirty="0">
                <a:latin typeface="Courier" pitchFamily="2" charset="0"/>
              </a:rPr>
              <a:t>(9.0);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dirty="0"/>
              <a:t>The expression "</a:t>
            </a:r>
            <a:r>
              <a:rPr lang="en-US" sz="2400" dirty="0" err="1">
                <a:latin typeface="Courier" pitchFamily="2" charset="0"/>
              </a:rPr>
              <a:t>sqrt</a:t>
            </a:r>
            <a:r>
              <a:rPr lang="en-US" sz="2400" dirty="0">
                <a:latin typeface="Courier" pitchFamily="2" charset="0"/>
              </a:rPr>
              <a:t>(9.0)</a:t>
            </a:r>
            <a:r>
              <a:rPr lang="en-US" sz="2400" dirty="0"/>
              <a:t>" is known as a</a:t>
            </a:r>
            <a:br>
              <a:rPr lang="en-US" sz="2400" dirty="0"/>
            </a:br>
            <a:r>
              <a:rPr lang="en-US" sz="2400" dirty="0">
                <a:solidFill>
                  <a:srgbClr val="0000FF"/>
                </a:solidFill>
              </a:rPr>
              <a:t>function </a:t>
            </a:r>
            <a:r>
              <a:rPr lang="en-US" sz="2400" i="1" dirty="0">
                <a:solidFill>
                  <a:srgbClr val="0000FF"/>
                </a:solidFill>
              </a:rPr>
              <a:t>call</a:t>
            </a:r>
            <a:r>
              <a:rPr lang="en-US" sz="2400" dirty="0"/>
              <a:t>, or function </a:t>
            </a:r>
            <a:r>
              <a:rPr lang="en-US" sz="2400" i="1" dirty="0">
                <a:solidFill>
                  <a:srgbClr val="0000FF"/>
                </a:solidFill>
              </a:rPr>
              <a:t>invocation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dirty="0"/>
              <a:t>The argument in a function call </a:t>
            </a:r>
            <a:r>
              <a:rPr lang="en-US" sz="2400" dirty="0">
                <a:latin typeface="Courier" pitchFamily="2" charset="0"/>
              </a:rPr>
              <a:t>(9.0)</a:t>
            </a:r>
            <a:r>
              <a:rPr lang="en-US" sz="2400" dirty="0"/>
              <a:t> can be a</a:t>
            </a:r>
            <a:br>
              <a:rPr lang="en-US" sz="2400" dirty="0"/>
            </a:br>
            <a:r>
              <a:rPr lang="en-US" sz="2400" dirty="0"/>
              <a:t>literal, a variable, or an expression, i.e., followings all allowed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dirty="0">
                <a:latin typeface="Courier" pitchFamily="2" charset="0"/>
              </a:rPr>
              <a:t>sqrt(9.0), sqrt(a), sqrt(a*b)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dirty="0"/>
              <a:t>The call itself can be part of an expression:</a:t>
            </a:r>
          </a:p>
          <a:p>
            <a:pPr lvl="2" eaLnBrk="1" hangingPunct="1"/>
            <a:r>
              <a:rPr lang="en-US" sz="2200" dirty="0">
                <a:solidFill>
                  <a:srgbClr val="0000FF"/>
                </a:solidFill>
                <a:latin typeface="Courier" pitchFamily="2" charset="0"/>
              </a:rPr>
              <a:t>bonus = </a:t>
            </a:r>
            <a:r>
              <a:rPr lang="en-US" sz="2200" dirty="0" err="1">
                <a:solidFill>
                  <a:srgbClr val="0000FF"/>
                </a:solidFill>
                <a:latin typeface="Courier" pitchFamily="2" charset="0"/>
              </a:rPr>
              <a:t>sqrt</a:t>
            </a:r>
            <a:r>
              <a:rPr lang="en-US" sz="2200" dirty="0">
                <a:solidFill>
                  <a:srgbClr val="0000FF"/>
                </a:solidFill>
                <a:latin typeface="Courier" pitchFamily="2" charset="0"/>
              </a:rPr>
              <a:t>(sales)/10;</a:t>
            </a:r>
          </a:p>
          <a:p>
            <a:pPr lvl="2" eaLnBrk="1" hangingPunct="1"/>
            <a:r>
              <a:rPr lang="en-US" sz="2200" dirty="0"/>
              <a:t>A function call is allowed wherever it’s legal to use an expression of the function’s return type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634B5C-B10A-79F6-6DFF-C5496834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7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91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2" name="Rectangle 4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A Larger Example: </a:t>
            </a:r>
            <a:br>
              <a:rPr lang="en-US" sz="3200" dirty="0"/>
            </a:br>
            <a:r>
              <a:rPr lang="en-US" sz="3200" b="1" dirty="0"/>
              <a:t>Display 3.1  </a:t>
            </a:r>
            <a:r>
              <a:rPr lang="en-US" sz="3200" dirty="0"/>
              <a:t>A Predefined Function </a:t>
            </a:r>
            <a:br>
              <a:rPr lang="en-US" sz="3200" dirty="0"/>
            </a:br>
            <a:r>
              <a:rPr lang="en-US" sz="3200" dirty="0"/>
              <a:t>That Returns a Value (1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E33817-D0AF-4B43-B7AD-ED420F218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6" y="1595437"/>
            <a:ext cx="7819292" cy="44151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146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7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A Larger Example: </a:t>
            </a:r>
            <a:br>
              <a:rPr lang="en-US" sz="3200" dirty="0"/>
            </a:br>
            <a:r>
              <a:rPr lang="en-US" sz="3200" b="1" dirty="0"/>
              <a:t>Display 3.1  </a:t>
            </a:r>
            <a:r>
              <a:rPr lang="en-US" sz="3200" dirty="0"/>
              <a:t>A Predefined Function </a:t>
            </a:r>
            <a:br>
              <a:rPr lang="en-US" sz="3200" dirty="0"/>
            </a:br>
            <a:r>
              <a:rPr lang="en-US" sz="3200" dirty="0"/>
              <a:t>That Returns a Value (2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78904F8-9548-E745-890D-26270FCAB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03" y="1649538"/>
            <a:ext cx="7806594" cy="45138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F0D0E8A-CCE0-694D-B2AD-3B1A976639A3}"/>
              </a:ext>
            </a:extLst>
          </p:cNvPr>
          <p:cNvSpPr/>
          <p:nvPr/>
        </p:nvSpPr>
        <p:spPr>
          <a:xfrm>
            <a:off x="1664677" y="1649538"/>
            <a:ext cx="3130061" cy="847477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699DF-3B13-6448-8BC8-425A65CA5FA8}"/>
              </a:ext>
            </a:extLst>
          </p:cNvPr>
          <p:cNvSpPr txBox="1"/>
          <p:nvPr/>
        </p:nvSpPr>
        <p:spPr>
          <a:xfrm>
            <a:off x="5533292" y="1750110"/>
            <a:ext cx="2379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Sets options for printing decimal point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D4A6A01-588A-2644-A4BF-549F2FC44E8C}"/>
              </a:ext>
            </a:extLst>
          </p:cNvPr>
          <p:cNvCxnSpPr>
            <a:stCxn id="4" idx="1"/>
            <a:endCxn id="3" idx="3"/>
          </p:cNvCxnSpPr>
          <p:nvPr/>
        </p:nvCxnSpPr>
        <p:spPr>
          <a:xfrm flipH="1">
            <a:off x="4794738" y="2073276"/>
            <a:ext cx="7385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875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Predefined Functions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2347913" algn="l"/>
              </a:tabLst>
            </a:pPr>
            <a:r>
              <a:rPr lang="en-US" sz="2800" dirty="0">
                <a:latin typeface="Courier" pitchFamily="2" charset="0"/>
              </a:rPr>
              <a:t>#include &lt;</a:t>
            </a:r>
            <a:r>
              <a:rPr lang="en-US" sz="2800" dirty="0" err="1">
                <a:latin typeface="Courier" pitchFamily="2" charset="0"/>
              </a:rPr>
              <a:t>cstdlib</a:t>
            </a:r>
            <a:r>
              <a:rPr lang="en-US" sz="2800" dirty="0">
                <a:latin typeface="Courier" pitchFamily="2" charset="0"/>
              </a:rPr>
              <a:t>&gt;</a:t>
            </a:r>
          </a:p>
          <a:p>
            <a:pPr lvl="1" eaLnBrk="1" hangingPunct="1">
              <a:spcBef>
                <a:spcPct val="50000"/>
              </a:spcBef>
              <a:tabLst>
                <a:tab pos="2347913" algn="l"/>
              </a:tabLst>
            </a:pPr>
            <a:r>
              <a:rPr lang="en-US" sz="2400" dirty="0"/>
              <a:t>A library containing functions like: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dirty="0">
                <a:latin typeface="Courier" pitchFamily="2" charset="0"/>
              </a:rPr>
              <a:t>abs()</a:t>
            </a:r>
            <a:r>
              <a:rPr lang="en-US" sz="2000" dirty="0"/>
              <a:t>	// Returns absolute value of an int 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dirty="0">
                <a:latin typeface="Courier" pitchFamily="2" charset="0"/>
              </a:rPr>
              <a:t>fabs()</a:t>
            </a:r>
            <a:r>
              <a:rPr lang="en-US" sz="2000" dirty="0"/>
              <a:t>	// Returns absolute value of a float </a:t>
            </a:r>
          </a:p>
          <a:p>
            <a:pPr lvl="1" eaLnBrk="1" hangingPunct="1">
              <a:spcBef>
                <a:spcPct val="50000"/>
              </a:spcBef>
              <a:tabLst>
                <a:tab pos="2347913" algn="l"/>
              </a:tabLst>
            </a:pPr>
            <a:r>
              <a:rPr lang="en-US" sz="2400" dirty="0">
                <a:latin typeface="Courier" pitchFamily="2" charset="0"/>
              </a:rPr>
              <a:t>fabs() </a:t>
            </a:r>
            <a:r>
              <a:rPr lang="en-US" sz="2400" dirty="0"/>
              <a:t>is actually also in a library </a:t>
            </a:r>
            <a:r>
              <a:rPr lang="en-US" sz="2400" dirty="0">
                <a:latin typeface="Courier" pitchFamily="2" charset="0"/>
              </a:rPr>
              <a:t>&lt;</a:t>
            </a:r>
            <a:r>
              <a:rPr lang="en-US" sz="2400" dirty="0" err="1">
                <a:latin typeface="Courier" pitchFamily="2" charset="0"/>
              </a:rPr>
              <a:t>cmath</a:t>
            </a:r>
            <a:r>
              <a:rPr lang="en-US" sz="2400" dirty="0">
                <a:latin typeface="Courier" pitchFamily="2" charset="0"/>
              </a:rPr>
              <a:t>&gt;</a:t>
            </a:r>
          </a:p>
          <a:p>
            <a:pPr lvl="1" eaLnBrk="1" hangingPunct="1">
              <a:spcBef>
                <a:spcPct val="50000"/>
              </a:spcBef>
              <a:tabLst>
                <a:tab pos="2347913" algn="l"/>
              </a:tabLst>
            </a:pPr>
            <a:r>
              <a:rPr lang="en-US" sz="2400" dirty="0"/>
              <a:t>You must include at least one library containing the function. (It’s fine to include two or more such libraries) 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200" dirty="0">
                <a:solidFill>
                  <a:srgbClr val="0000FF"/>
                </a:solidFill>
              </a:rPr>
              <a:t>You can refer to manuals/help to find out a library containing a specific function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4A0268-ACDE-3F73-0126-00BB6C9E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10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Math Functions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Courier" pitchFamily="2" charset="0"/>
              </a:rPr>
              <a:t>pow(x, y)</a:t>
            </a:r>
          </a:p>
          <a:p>
            <a:pPr lvl="1" eaLnBrk="1" hangingPunct="1"/>
            <a:r>
              <a:rPr lang="en-US" sz="2400" dirty="0"/>
              <a:t>Returns </a:t>
            </a:r>
            <a:r>
              <a:rPr lang="en-US" sz="2400" dirty="0">
                <a:latin typeface="Courier" pitchFamily="2" charset="0"/>
              </a:rPr>
              <a:t>x</a:t>
            </a:r>
            <a:r>
              <a:rPr lang="en-US" sz="2400" dirty="0"/>
              <a:t> to the power </a:t>
            </a:r>
            <a:r>
              <a:rPr lang="en-US" sz="2400" dirty="0">
                <a:latin typeface="Courier" pitchFamily="2" charset="0"/>
              </a:rPr>
              <a:t>y</a:t>
            </a:r>
            <a:r>
              <a:rPr lang="en-US" sz="2400" dirty="0"/>
              <a:t> 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latin typeface="Courier" pitchFamily="2" charset="0"/>
              </a:rPr>
              <a:t>double answer,</a:t>
            </a:r>
            <a:r>
              <a:rPr lang="en-US" sz="2400" dirty="0"/>
              <a:t> </a:t>
            </a:r>
            <a:r>
              <a:rPr lang="en-US" sz="2400" dirty="0">
                <a:latin typeface="Courier" pitchFamily="2" charset="0"/>
              </a:rPr>
              <a:t>x = 3.0, y = 2.0;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altLang="ko-KR" sz="2400" dirty="0">
                <a:latin typeface="Courier" pitchFamily="2" charset="0"/>
              </a:rPr>
              <a:t>answer</a:t>
            </a:r>
            <a:r>
              <a:rPr lang="en-US" sz="2400" dirty="0">
                <a:latin typeface="Courier" pitchFamily="2" charset="0"/>
              </a:rPr>
              <a:t> = pow(x, y);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	</a:t>
            </a:r>
            <a:r>
              <a:rPr lang="en-US" sz="2400" dirty="0" err="1">
                <a:latin typeface="Courier" pitchFamily="2" charset="0"/>
              </a:rPr>
              <a:t>cout</a:t>
            </a:r>
            <a:r>
              <a:rPr lang="en-US" sz="2400" dirty="0">
                <a:latin typeface="Courier" pitchFamily="2" charset="0"/>
              </a:rPr>
              <a:t> &lt;&lt; </a:t>
            </a:r>
            <a:r>
              <a:rPr lang="en-US" altLang="ko-KR" sz="2400" dirty="0">
                <a:latin typeface="Courier" pitchFamily="2" charset="0"/>
              </a:rPr>
              <a:t>answer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pPr lvl="2" eaLnBrk="1" hangingPunct="1"/>
            <a:r>
              <a:rPr lang="en-US" sz="2200" dirty="0"/>
              <a:t>Here </a:t>
            </a:r>
            <a:r>
              <a:rPr lang="en-US" sz="2200" dirty="0">
                <a:latin typeface="Courier" pitchFamily="2" charset="0"/>
              </a:rPr>
              <a:t>9.0</a:t>
            </a:r>
            <a:r>
              <a:rPr lang="en-US" sz="2200" dirty="0"/>
              <a:t> is displayed since </a:t>
            </a:r>
            <a:r>
              <a:rPr lang="en-US" sz="2200" dirty="0">
                <a:latin typeface="Courier" pitchFamily="2" charset="0"/>
              </a:rPr>
              <a:t>3.0</a:t>
            </a:r>
            <a:r>
              <a:rPr lang="en-US" sz="2200" baseline="30000" dirty="0">
                <a:latin typeface="Courier" pitchFamily="2" charset="0"/>
              </a:rPr>
              <a:t>2.0</a:t>
            </a:r>
            <a:r>
              <a:rPr lang="en-US" sz="2200" dirty="0">
                <a:latin typeface="Courier" pitchFamily="2" charset="0"/>
              </a:rPr>
              <a:t> = 9.0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Notice this function receives </a:t>
            </a:r>
            <a:r>
              <a:rPr lang="en-US" sz="2800" b="1" dirty="0"/>
              <a:t>two</a:t>
            </a:r>
            <a:r>
              <a:rPr lang="en-US" sz="2800" dirty="0"/>
              <a:t> arguments</a:t>
            </a:r>
          </a:p>
          <a:p>
            <a:pPr lvl="1" eaLnBrk="1" hangingPunct="1"/>
            <a:r>
              <a:rPr lang="en-US" sz="2400" dirty="0"/>
              <a:t>In fact, a function can have </a:t>
            </a:r>
            <a:r>
              <a:rPr lang="en-US" sz="2400" b="1" dirty="0"/>
              <a:t>any finite</a:t>
            </a:r>
            <a:r>
              <a:rPr lang="en-US" sz="2400" dirty="0"/>
              <a:t> number of arguments</a:t>
            </a:r>
            <a:r>
              <a:rPr lang="en-US" dirty="0"/>
              <a:t> </a:t>
            </a:r>
            <a:r>
              <a:rPr lang="en-US" sz="2400" dirty="0"/>
              <a:t>of varying data types</a:t>
            </a:r>
          </a:p>
          <a:p>
            <a:pPr lvl="1" eaLnBrk="1" hangingPunct="1"/>
            <a:r>
              <a:rPr lang="en-US" dirty="0"/>
              <a:t>No function has more than one value returned! (different from Python)</a:t>
            </a:r>
            <a:endParaRPr lang="en-US" sz="2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5776924-5F4C-F3E9-5078-ADC07975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11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44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Even More Math Functions: </a:t>
            </a:r>
            <a:br>
              <a:rPr lang="en-US" sz="3200" dirty="0"/>
            </a:br>
            <a:r>
              <a:rPr lang="en-US" sz="3200" b="1" dirty="0"/>
              <a:t>Display 3.2  </a:t>
            </a:r>
            <a:r>
              <a:rPr lang="en-US" sz="3200" dirty="0"/>
              <a:t>Some Predefined Functions (1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3EAD1FB-36D0-3248-9130-16D996930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2" y="1424476"/>
            <a:ext cx="7598229" cy="46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2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Even More Math Functions: </a:t>
            </a:r>
            <a:br>
              <a:rPr lang="en-US" sz="3200" dirty="0"/>
            </a:br>
            <a:r>
              <a:rPr lang="en-US" sz="3200" b="1" dirty="0"/>
              <a:t>Display 3.2  </a:t>
            </a:r>
            <a:r>
              <a:rPr lang="en-US" sz="3200" dirty="0"/>
              <a:t>Some Predefined Functions (2 of 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AAD11A-02A9-1641-AA97-30490595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2216480"/>
            <a:ext cx="8686801" cy="310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4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Predefined Void Functions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 function with </a:t>
            </a:r>
            <a:r>
              <a:rPr lang="en-US" sz="2800" b="1" dirty="0"/>
              <a:t>no</a:t>
            </a:r>
            <a:r>
              <a:rPr lang="en-US" sz="2800" dirty="0"/>
              <a:t> returned value</a:t>
            </a:r>
          </a:p>
          <a:p>
            <a:pPr eaLnBrk="1" hangingPunct="1"/>
            <a:r>
              <a:rPr lang="en-US" sz="2800" dirty="0"/>
              <a:t>Performs an action, but sends no "answer"</a:t>
            </a:r>
          </a:p>
          <a:p>
            <a:pPr eaLnBrk="1" hangingPunct="1"/>
            <a:r>
              <a:rPr lang="en-US" sz="2800" dirty="0"/>
              <a:t>When called, it’s a statement itself</a:t>
            </a:r>
          </a:p>
          <a:p>
            <a:pPr lvl="1" eaLnBrk="1" hangingPunct="1"/>
            <a:r>
              <a:rPr lang="en-US" sz="2400" dirty="0"/>
              <a:t>Ex:  </a:t>
            </a:r>
            <a:r>
              <a:rPr lang="en-US" sz="2400" dirty="0">
                <a:latin typeface="Courier" pitchFamily="2" charset="0"/>
              </a:rPr>
              <a:t>exit(1);</a:t>
            </a:r>
            <a:r>
              <a:rPr lang="en-US" sz="2400" dirty="0"/>
              <a:t>	// No return value, so not assigned</a:t>
            </a:r>
          </a:p>
          <a:p>
            <a:pPr lvl="2" eaLnBrk="1" hangingPunct="1"/>
            <a:r>
              <a:rPr lang="en-US" sz="2200" dirty="0"/>
              <a:t>This call terminates program</a:t>
            </a:r>
          </a:p>
          <a:p>
            <a:pPr lvl="2" eaLnBrk="1" hangingPunct="1"/>
            <a:r>
              <a:rPr lang="en-US" sz="2200" dirty="0"/>
              <a:t>void functions can still have arguments</a:t>
            </a:r>
          </a:p>
          <a:p>
            <a:pPr eaLnBrk="1" hangingPunct="1"/>
            <a:r>
              <a:rPr lang="en-US" sz="2800" dirty="0"/>
              <a:t>All aspects are the same as functions that "return</a:t>
            </a:r>
            <a:br>
              <a:rPr lang="en-US" sz="2800" dirty="0"/>
            </a:br>
            <a:r>
              <a:rPr lang="en-US" sz="2800" dirty="0"/>
              <a:t>a value"</a:t>
            </a:r>
          </a:p>
          <a:p>
            <a:pPr lvl="1" eaLnBrk="1" hangingPunct="1"/>
            <a:r>
              <a:rPr lang="en-US" sz="2400" dirty="0"/>
              <a:t>They just don’t return a value!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2A7E8F-0B7E-57AF-2E8C-289A469B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14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3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Random Number Generator</a:t>
            </a:r>
            <a:endParaRPr 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/>
              <a:t>Returns a "randomly chosen" number</a:t>
            </a:r>
          </a:p>
          <a:p>
            <a:pPr>
              <a:lnSpc>
                <a:spcPct val="90000"/>
              </a:lnSpc>
            </a:pPr>
            <a:r>
              <a:rPr lang="en-US" altLang="ko-KR" dirty="0"/>
              <a:t>Used for simulations, games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solidFill>
                  <a:srgbClr val="0000FF"/>
                </a:solidFill>
                <a:latin typeface="Courier" pitchFamily="2" charset="0"/>
              </a:rPr>
              <a:t>rand()</a:t>
            </a:r>
          </a:p>
          <a:p>
            <a:pPr lvl="2">
              <a:lnSpc>
                <a:spcPct val="90000"/>
              </a:lnSpc>
            </a:pPr>
            <a:r>
              <a:rPr lang="en-US" altLang="ko-KR" dirty="0"/>
              <a:t>Takes no arguments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solidFill>
                  <a:srgbClr val="0000FF"/>
                </a:solidFill>
              </a:rPr>
              <a:t>Returns a uniform random integer value between 0 &amp; RAND_MAX  </a:t>
            </a:r>
            <a:r>
              <a:rPr lang="en-US" altLang="ko-KR" dirty="0"/>
              <a:t>(= a very large integer constant)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Scaling</a:t>
            </a:r>
          </a:p>
          <a:p>
            <a:pPr lvl="2">
              <a:lnSpc>
                <a:spcPct val="90000"/>
              </a:lnSpc>
            </a:pPr>
            <a:r>
              <a:rPr lang="en-US" altLang="ko-KR" dirty="0"/>
              <a:t>Squeezes random number into smaller range  </a:t>
            </a:r>
            <a:r>
              <a:rPr lang="en-US" altLang="ko-KR" dirty="0">
                <a:solidFill>
                  <a:srgbClr val="0000FF"/>
                </a:solidFill>
              </a:rPr>
              <a:t>Ex: </a:t>
            </a:r>
            <a:r>
              <a:rPr lang="en-US" altLang="ko-KR" dirty="0">
                <a:solidFill>
                  <a:srgbClr val="0000FF"/>
                </a:solidFill>
                <a:latin typeface="Courier" pitchFamily="2" charset="0"/>
              </a:rPr>
              <a:t>rand()%6</a:t>
            </a:r>
          </a:p>
          <a:p>
            <a:pPr lvl="2">
              <a:lnSpc>
                <a:spcPct val="90000"/>
              </a:lnSpc>
            </a:pPr>
            <a:r>
              <a:rPr lang="en-US" altLang="ko-KR" dirty="0"/>
              <a:t>Returns random value between 0 &amp; 5</a:t>
            </a:r>
          </a:p>
          <a:p>
            <a:pPr lvl="1">
              <a:lnSpc>
                <a:spcPct val="90000"/>
              </a:lnSpc>
            </a:pPr>
            <a:r>
              <a:rPr lang="en-US" altLang="ko-KR" dirty="0"/>
              <a:t>Shifting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solidFill>
                  <a:srgbClr val="0000FF"/>
                </a:solidFill>
              </a:rPr>
              <a:t>Ex: </a:t>
            </a:r>
            <a:r>
              <a:rPr lang="en-US" altLang="ko-KR" dirty="0">
                <a:solidFill>
                  <a:srgbClr val="0000FF"/>
                </a:solidFill>
                <a:latin typeface="Courier" pitchFamily="2" charset="0"/>
              </a:rPr>
              <a:t>rand()%6 + 1</a:t>
            </a:r>
          </a:p>
          <a:p>
            <a:pPr lvl="2">
              <a:lnSpc>
                <a:spcPct val="90000"/>
              </a:lnSpc>
            </a:pPr>
            <a:r>
              <a:rPr lang="en-US" altLang="ko-KR" dirty="0"/>
              <a:t>Shifts range between 1 &amp; 6 (e.g., die roll)</a:t>
            </a:r>
            <a:endParaRPr lang="en-US" altLang="ko-KR" sz="2400" dirty="0"/>
          </a:p>
          <a:p>
            <a:pPr lvl="1">
              <a:lnSpc>
                <a:spcPct val="90000"/>
              </a:lnSpc>
            </a:pPr>
            <a:r>
              <a:rPr lang="en-US" altLang="ko-KR" dirty="0"/>
              <a:t>Real number in [0.0 1.0] (typecasting happening)</a:t>
            </a:r>
          </a:p>
          <a:p>
            <a:pPr lvl="2">
              <a:lnSpc>
                <a:spcPct val="90000"/>
              </a:lnSpc>
            </a:pPr>
            <a:r>
              <a:rPr lang="en-US" altLang="ko-KR" sz="2000" dirty="0">
                <a:solidFill>
                  <a:srgbClr val="0000FF"/>
                </a:solidFill>
                <a:latin typeface="Courier" pitchFamily="2" charset="0"/>
              </a:rPr>
              <a:t>(double)(RAND_MAX – rand())/ RAND_MAX</a:t>
            </a: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5CF807-59F5-2B19-3B83-D1D38D7F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15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871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Random Number Seed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Pseudorandom</a:t>
            </a:r>
            <a:r>
              <a:rPr lang="en-US" sz="2400" dirty="0"/>
              <a:t> numbers</a:t>
            </a:r>
          </a:p>
          <a:p>
            <a:pPr lvl="1" eaLnBrk="1" hangingPunct="1"/>
            <a:r>
              <a:rPr lang="en-US" dirty="0"/>
              <a:t>Calls to </a:t>
            </a:r>
            <a:r>
              <a:rPr lang="en-US" dirty="0">
                <a:latin typeface="Courier" pitchFamily="2" charset="0"/>
              </a:rPr>
              <a:t>rand()</a:t>
            </a:r>
            <a:r>
              <a:rPr lang="en-US" dirty="0"/>
              <a:t> produce a fixed "sequence" of random numbers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dirty="0"/>
              <a:t>Use "seed" to alter sequence 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srand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seed_value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)</a:t>
            </a:r>
            <a:r>
              <a:rPr lang="en-US" sz="2400" dirty="0">
                <a:latin typeface="Courier" pitchFamily="2" charset="0"/>
              </a:rPr>
              <a:t>;</a:t>
            </a:r>
          </a:p>
          <a:p>
            <a:pPr lvl="1" eaLnBrk="1" hangingPunct="1"/>
            <a:r>
              <a:rPr lang="en-US" sz="2000" dirty="0"/>
              <a:t>It is a void function</a:t>
            </a:r>
          </a:p>
          <a:p>
            <a:pPr lvl="1" eaLnBrk="1" hangingPunct="1"/>
            <a:r>
              <a:rPr lang="en-US" sz="2000" dirty="0"/>
              <a:t>Receives one argument, the "seed"</a:t>
            </a:r>
          </a:p>
          <a:p>
            <a:pPr lvl="1" eaLnBrk="1" hangingPunct="1"/>
            <a:r>
              <a:rPr lang="en-US" sz="2000" dirty="0"/>
              <a:t>Can use any seed value, including system time: 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srand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(time(0));</a:t>
            </a:r>
          </a:p>
          <a:p>
            <a:pPr lvl="1" eaLnBrk="1" hangingPunct="1"/>
            <a:r>
              <a:rPr lang="en-US" sz="2000" dirty="0">
                <a:latin typeface="Courier" pitchFamily="2" charset="0"/>
              </a:rPr>
              <a:t>time(0) </a:t>
            </a:r>
            <a:r>
              <a:rPr lang="en-US" sz="2000" dirty="0"/>
              <a:t>returns system time as numeric value</a:t>
            </a:r>
          </a:p>
          <a:p>
            <a:pPr lvl="1" eaLnBrk="1" hangingPunct="1"/>
            <a:r>
              <a:rPr lang="en-US" sz="2000" dirty="0"/>
              <a:t>Library </a:t>
            </a:r>
            <a:r>
              <a:rPr lang="en-US" sz="2000" dirty="0">
                <a:latin typeface="Courier" pitchFamily="2" charset="0"/>
              </a:rPr>
              <a:t>&lt;time&gt;</a:t>
            </a:r>
            <a:r>
              <a:rPr lang="en-US" sz="2000" dirty="0"/>
              <a:t> contains </a:t>
            </a:r>
            <a:r>
              <a:rPr lang="en-US" sz="2000" dirty="0">
                <a:latin typeface="Courier" pitchFamily="2" charset="0"/>
              </a:rPr>
              <a:t>time() </a:t>
            </a:r>
            <a:r>
              <a:rPr lang="en-US" sz="2000" dirty="0"/>
              <a:t>functions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02ABD2-B70C-1DA5-ACF3-D38A63E6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768" y="5244100"/>
            <a:ext cx="3028950" cy="1244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57185B-FA31-7709-D645-07839AF7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16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76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Programmer-Defined Functions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Write your own functions!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Building blocks of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Divide &amp; Conquer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Readability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Re-use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Your "definition" can go in either: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Same file as the main()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Separate file so others can use it, too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F790D7-0AD9-51C0-736B-F1E5E574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17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54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Components of Function Use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Three pieces for using functions: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Function Declaration/Prototype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Information for compiler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To properly interpret calls</a:t>
            </a:r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Function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Actual implementation/code for what a function does</a:t>
            </a:r>
            <a:br>
              <a:rPr lang="en-US" dirty="0"/>
            </a:b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Function Call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Transfer control to function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08C454-2EEF-D3EA-1CD9-955CD11F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18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47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Function Declaration/Prototype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442" y="1358095"/>
            <a:ext cx="8549420" cy="483235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 dirty="0">
                <a:solidFill>
                  <a:srgbClr val="0000FF"/>
                </a:solidFill>
              </a:rPr>
              <a:t>An "informational" declaration for compiler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 dirty="0"/>
              <a:t>Tells compiler how to interpret calls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 dirty="0"/>
              <a:t>Syntax:</a:t>
            </a:r>
            <a:br>
              <a:rPr lang="en-US" sz="2400" dirty="0"/>
            </a:br>
            <a:r>
              <a:rPr lang="en-US" sz="2000" dirty="0">
                <a:latin typeface="Courier" pitchFamily="2" charset="0"/>
              </a:rPr>
              <a:t>&lt;</a:t>
            </a:r>
            <a:r>
              <a:rPr lang="en-US" sz="2000" dirty="0" err="1">
                <a:latin typeface="Courier" pitchFamily="2" charset="0"/>
              </a:rPr>
              <a:t>return_type</a:t>
            </a:r>
            <a:r>
              <a:rPr lang="en-US" sz="2000" dirty="0">
                <a:latin typeface="Courier" pitchFamily="2" charset="0"/>
              </a:rPr>
              <a:t>&gt; </a:t>
            </a:r>
            <a:r>
              <a:rPr lang="en-US" sz="2000" dirty="0" err="1">
                <a:latin typeface="Courier" pitchFamily="2" charset="0"/>
              </a:rPr>
              <a:t>FcnName</a:t>
            </a:r>
            <a:r>
              <a:rPr lang="en-US" sz="2000" dirty="0">
                <a:latin typeface="Courier" pitchFamily="2" charset="0"/>
              </a:rPr>
              <a:t>(&lt;formal-parameter-list&gt;);</a:t>
            </a:r>
            <a:endParaRPr lang="en-US" sz="24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 dirty="0"/>
              <a:t>Example:</a:t>
            </a:r>
            <a:br>
              <a:rPr lang="en-US" sz="2400" dirty="0"/>
            </a:br>
            <a:br>
              <a:rPr lang="en-US" sz="2400" dirty="0"/>
            </a:br>
            <a:endParaRPr lang="en-US" sz="2000" dirty="0">
              <a:solidFill>
                <a:srgbClr val="FF0000"/>
              </a:solidFill>
              <a:latin typeface="Courier" pitchFamily="2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endParaRPr lang="en-US" sz="2000" dirty="0">
              <a:solidFill>
                <a:srgbClr val="FF0000"/>
              </a:solidFill>
              <a:latin typeface="Courier" pitchFamily="2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dirty="0">
                <a:latin typeface="Gill Sans MT" panose="020B0502020104020203" pitchFamily="34" charset="0"/>
              </a:rPr>
              <a:t>Designates the 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0"/>
              </a:rPr>
              <a:t>type of the return value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Gill Sans MT" panose="020B0502020104020203" pitchFamily="34" charset="0"/>
              </a:rPr>
              <a:t>name of the function</a:t>
            </a:r>
            <a:r>
              <a:rPr lang="en-US" dirty="0">
                <a:latin typeface="Gill Sans MT" panose="020B0502020104020203" pitchFamily="34" charset="0"/>
              </a:rPr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number of arguments, type of the formal parameters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Gill Sans MT" panose="020B0502020104020203" pitchFamily="34" charset="0"/>
            </a:endParaRP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endParaRPr lang="en-US" sz="1500" dirty="0">
              <a:solidFill>
                <a:srgbClr val="FF0000"/>
              </a:solidFill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 dirty="0"/>
              <a:t>Placed </a:t>
            </a:r>
            <a:r>
              <a:rPr lang="en-US" sz="2800" b="1" dirty="0"/>
              <a:t>before</a:t>
            </a:r>
            <a:r>
              <a:rPr lang="en-US" sz="2800" dirty="0"/>
              <a:t> any calls to the function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 b="1" dirty="0"/>
              <a:t>Above</a:t>
            </a:r>
            <a:r>
              <a:rPr lang="en-US" sz="2400" dirty="0"/>
              <a:t> the </a:t>
            </a:r>
            <a:r>
              <a:rPr lang="en-US" sz="2400" dirty="0">
                <a:latin typeface="Courier" pitchFamily="2" charset="0"/>
              </a:rPr>
              <a:t>main()</a:t>
            </a:r>
            <a:r>
              <a:rPr lang="en-US" sz="2400" dirty="0"/>
              <a:t> function in global space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89F754-A864-2848-9F05-EA6D286096B3}"/>
              </a:ext>
            </a:extLst>
          </p:cNvPr>
          <p:cNvSpPr txBox="1"/>
          <p:nvPr/>
        </p:nvSpPr>
        <p:spPr>
          <a:xfrm>
            <a:off x="7435727" y="2956489"/>
            <a:ext cx="1500554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Notice the semicolon!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F550F7-5DAC-FA4D-A2DF-EB6132A80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71" y="3686100"/>
            <a:ext cx="8322410" cy="3935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F228974-C9F3-9549-A8ED-E091357C8090}"/>
              </a:ext>
            </a:extLst>
          </p:cNvPr>
          <p:cNvSpPr/>
          <p:nvPr/>
        </p:nvSpPr>
        <p:spPr>
          <a:xfrm>
            <a:off x="684155" y="3686100"/>
            <a:ext cx="868351" cy="346470"/>
          </a:xfrm>
          <a:prstGeom prst="rect">
            <a:avLst/>
          </a:prstGeom>
          <a:solidFill>
            <a:srgbClr val="0000EA">
              <a:alpha val="17387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3D4CB2-50D6-624F-A5DA-02BBA5B15F6B}"/>
              </a:ext>
            </a:extLst>
          </p:cNvPr>
          <p:cNvSpPr/>
          <p:nvPr/>
        </p:nvSpPr>
        <p:spPr>
          <a:xfrm>
            <a:off x="1622790" y="3686100"/>
            <a:ext cx="1244163" cy="346470"/>
          </a:xfrm>
          <a:prstGeom prst="rect">
            <a:avLst/>
          </a:prstGeom>
          <a:solidFill>
            <a:srgbClr val="00B050">
              <a:alpha val="17387"/>
            </a:srgb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CB7A84-9947-1A47-ADE6-E3452F3D21C5}"/>
              </a:ext>
            </a:extLst>
          </p:cNvPr>
          <p:cNvSpPr/>
          <p:nvPr/>
        </p:nvSpPr>
        <p:spPr>
          <a:xfrm>
            <a:off x="2998974" y="3686100"/>
            <a:ext cx="5531155" cy="346470"/>
          </a:xfrm>
          <a:prstGeom prst="rect">
            <a:avLst/>
          </a:prstGeom>
          <a:solidFill>
            <a:schemeClr val="accent6">
              <a:alpha val="17387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B21C33-8727-434F-9C55-B36AB7CBDF6B}"/>
              </a:ext>
            </a:extLst>
          </p:cNvPr>
          <p:cNvSpPr/>
          <p:nvPr/>
        </p:nvSpPr>
        <p:spPr>
          <a:xfrm>
            <a:off x="8682189" y="3686100"/>
            <a:ext cx="152400" cy="346470"/>
          </a:xfrm>
          <a:prstGeom prst="rect">
            <a:avLst/>
          </a:prstGeom>
          <a:solidFill>
            <a:srgbClr val="FF0000">
              <a:alpha val="17387"/>
            </a:srgb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CB9E6D-D6FB-97FA-F28C-D684F66D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19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03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Alternative Function Declaration</a:t>
            </a:r>
            <a:r>
              <a:rPr lang="en-US" altLang="ko-KR" dirty="0"/>
              <a:t>/Prototype</a:t>
            </a:r>
            <a:endParaRPr lang="en-US" dirty="0"/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Compiler only needs to know: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Return type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Function name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Parameter list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Formal parameter names are not needed:</a:t>
            </a:r>
            <a:br>
              <a:rPr lang="en-US" sz="2800" dirty="0"/>
            </a:br>
            <a:r>
              <a:rPr lang="en-US" sz="2800" dirty="0"/>
              <a:t>			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double 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totalCost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(int, double);</a:t>
            </a:r>
            <a:endParaRPr lang="en-US" sz="2800" dirty="0">
              <a:solidFill>
                <a:srgbClr val="FF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Can only present the data types of the </a:t>
            </a:r>
            <a:r>
              <a:rPr lang="en-US" altLang="ko-KR" sz="2800" dirty="0"/>
              <a:t>parameters</a:t>
            </a:r>
            <a:r>
              <a:rPr lang="en-US" sz="2800" dirty="0"/>
              <a:t>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02A79C-4DA1-05D0-3E6C-51E74EEC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20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Definition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09" y="1404738"/>
            <a:ext cx="8704579" cy="47390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solidFill>
                  <a:srgbClr val="0000FF"/>
                </a:solidFill>
              </a:rPr>
              <a:t>Actual implementation of function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Just like implementing the function </a:t>
            </a:r>
            <a:r>
              <a:rPr lang="en-US" dirty="0">
                <a:latin typeface="Courier" pitchFamily="2" charset="0"/>
              </a:rPr>
              <a:t>main()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Notice proper indenting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C14D33-063A-7D46-87CB-E03AC85D5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30" y="2940345"/>
            <a:ext cx="8344757" cy="20771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407E70D-DFDD-6C1E-9F42-3B93B8E6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21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306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Definition Placement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27" y="1387098"/>
            <a:ext cx="8854565" cy="47390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Can be placed </a:t>
            </a:r>
            <a:r>
              <a:rPr lang="en-US" sz="2800" b="1" i="1" dirty="0"/>
              <a:t>after</a:t>
            </a:r>
            <a:r>
              <a:rPr lang="en-US" sz="2800" dirty="0"/>
              <a:t> or </a:t>
            </a:r>
            <a:r>
              <a:rPr lang="en-US" sz="2800" b="1" i="1" dirty="0"/>
              <a:t>before</a:t>
            </a:r>
            <a:r>
              <a:rPr lang="en-US" sz="2800" dirty="0"/>
              <a:t> the function </a:t>
            </a:r>
            <a:r>
              <a:rPr lang="en-US" sz="2800" dirty="0">
                <a:latin typeface="Courier" pitchFamily="2" charset="0"/>
              </a:rPr>
              <a:t>main()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case of </a:t>
            </a:r>
            <a:r>
              <a:rPr lang="en-US" sz="2400" b="1" dirty="0"/>
              <a:t>before</a:t>
            </a:r>
            <a:r>
              <a:rPr lang="en-US" sz="2400" dirty="0"/>
              <a:t>, function declaration can be omitted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/>
              <a:t>NOT</a:t>
            </a:r>
            <a:r>
              <a:rPr lang="en-US" sz="2400" dirty="0"/>
              <a:t> "inside" </a:t>
            </a:r>
            <a:r>
              <a:rPr lang="en-US" dirty="0"/>
              <a:t>the </a:t>
            </a:r>
            <a:r>
              <a:rPr lang="en-US" sz="2400" dirty="0">
                <a:latin typeface="Courier" pitchFamily="2" charset="0"/>
              </a:rPr>
              <a:t>main()</a:t>
            </a:r>
            <a:r>
              <a:rPr lang="en-US" sz="2400" dirty="0"/>
              <a:t> function!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Can also be placed in a separate file</a:t>
            </a:r>
          </a:p>
          <a:p>
            <a:pPr lvl="1">
              <a:spcBef>
                <a:spcPts val="240"/>
              </a:spcBef>
            </a:pPr>
            <a:r>
              <a:rPr lang="en-US" dirty="0"/>
              <a:t>The separate file can be named with </a:t>
            </a:r>
            <a:r>
              <a:rPr lang="en-US" b="1" dirty="0"/>
              <a:t>.</a:t>
            </a:r>
            <a:r>
              <a:rPr lang="en-US" b="1" dirty="0" err="1"/>
              <a:t>cpp</a:t>
            </a:r>
            <a:r>
              <a:rPr lang="en-US" dirty="0"/>
              <a:t> extension</a:t>
            </a:r>
          </a:p>
          <a:p>
            <a:pPr lvl="1">
              <a:spcBef>
                <a:spcPts val="240"/>
              </a:spcBef>
            </a:pPr>
            <a:r>
              <a:rPr lang="en-US" dirty="0"/>
              <a:t>The function declaration can be placed in another header file</a:t>
            </a:r>
            <a:br>
              <a:rPr lang="en-US" dirty="0"/>
            </a:br>
            <a:r>
              <a:rPr lang="en-US" dirty="0"/>
              <a:t>				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#include “</a:t>
            </a:r>
            <a:r>
              <a:rPr lang="en-US" dirty="0" err="1">
                <a:solidFill>
                  <a:srgbClr val="0000FF"/>
                </a:solidFill>
                <a:latin typeface="Courier" pitchFamily="2" charset="0"/>
              </a:rPr>
              <a:t>XXX.h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” (or “</a:t>
            </a:r>
            <a:r>
              <a:rPr lang="en-US" dirty="0" err="1">
                <a:solidFill>
                  <a:srgbClr val="0000FF"/>
                </a:solidFill>
                <a:latin typeface="Courier" pitchFamily="2" charset="0"/>
              </a:rPr>
              <a:t>XXX.hpp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”)</a:t>
            </a:r>
          </a:p>
          <a:p>
            <a:pPr lvl="1">
              <a:spcBef>
                <a:spcPts val="240"/>
              </a:spcBef>
            </a:pPr>
            <a:r>
              <a:rPr lang="en-US" dirty="0">
                <a:latin typeface="Gill Sans MT" panose="020B0502020104020203" pitchFamily="34" charset="0"/>
              </a:rPr>
              <a:t>Examples are given later</a:t>
            </a:r>
          </a:p>
          <a:p>
            <a:pPr marL="457200" lvl="1" indent="0">
              <a:spcBef>
                <a:spcPts val="240"/>
              </a:spcBef>
              <a:buNone/>
            </a:pPr>
            <a:endParaRPr lang="en-US" dirty="0">
              <a:latin typeface="Gill Sans MT" panose="020B0502020104020203" pitchFamily="34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None/>
            </a:pPr>
            <a:endParaRPr lang="en-US" sz="24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F2AC8C-B47D-CA48-9652-71149D9F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22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8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Definition Placement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83927" y="1387098"/>
                <a:ext cx="8854565" cy="473906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2800" dirty="0"/>
                  <a:t>Functions are "equal"; no function is "part" of another</a:t>
                </a:r>
              </a:p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sz="2800" dirty="0"/>
                  <a:t>Parameters in the definition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sz="2400" dirty="0"/>
                  <a:t>Called as the </a:t>
                </a:r>
                <a:r>
                  <a:rPr lang="en-US" sz="2400" b="1" dirty="0"/>
                  <a:t>formal parameters </a:t>
                </a:r>
                <a:r>
                  <a:rPr lang="en-US" sz="2400" dirty="0"/>
                  <a:t>and must be included</a:t>
                </a:r>
                <a:br>
                  <a:rPr lang="en-US" sz="2400" b="1" dirty="0"/>
                </a:b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function declaration</a:t>
                </a:r>
                <a:endParaRPr lang="en-US" sz="2400" b="1" dirty="0"/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sz="2400" dirty="0"/>
                  <a:t>“</a:t>
                </a:r>
                <a:r>
                  <a:rPr lang="en-US" sz="2400" b="1" dirty="0"/>
                  <a:t>Memory Placeholders</a:t>
                </a:r>
                <a:r>
                  <a:rPr lang="en-US" sz="2400" dirty="0"/>
                  <a:t>" for data sent in</a:t>
                </a: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en-US" dirty="0"/>
                  <a:t>"Variable name" used to refer to the data in the definition part</a:t>
                </a:r>
              </a:p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/>
                  <a:t>R</a:t>
                </a:r>
                <a:r>
                  <a:rPr lang="en-US" sz="2800" dirty="0"/>
                  <a:t>eturn statement</a:t>
                </a: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en-US" sz="2400" dirty="0"/>
                  <a:t>Sends data back to the caller</a:t>
                </a:r>
              </a:p>
            </p:txBody>
          </p:sp>
        </mc:Choice>
        <mc:Fallback xmlns="">
          <p:sp>
            <p:nvSpPr>
              <p:cNvPr id="5529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3927" y="1387098"/>
                <a:ext cx="8854565" cy="4739065"/>
              </a:xfrm>
              <a:blipFill>
                <a:blip r:embed="rId3"/>
                <a:stretch>
                  <a:fillRect l="-1289" t="-21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E8ABBA-5E3F-D95F-D59B-42A183E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23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033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Call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0000EA"/>
                </a:solidFill>
              </a:rPr>
              <a:t>Just like calling a predefined function</a:t>
            </a:r>
            <a:br>
              <a:rPr lang="en-US" sz="2800" dirty="0">
                <a:solidFill>
                  <a:srgbClr val="0000FF"/>
                </a:solidFill>
              </a:rPr>
            </a:br>
            <a:r>
              <a:rPr lang="en-US" sz="2800" dirty="0">
                <a:solidFill>
                  <a:srgbClr val="0000FF"/>
                </a:solidFill>
              </a:rPr>
              <a:t>			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bill=</a:t>
            </a:r>
            <a:r>
              <a:rPr lang="en-US" sz="2400" dirty="0" err="1">
                <a:solidFill>
                  <a:srgbClr val="FF0000"/>
                </a:solidFill>
                <a:latin typeface="Courier" pitchFamily="2" charset="0"/>
              </a:rPr>
              <a:t>totalCost</a:t>
            </a:r>
            <a:r>
              <a:rPr lang="en-US" sz="2400" dirty="0">
                <a:solidFill>
                  <a:srgbClr val="FF0000"/>
                </a:solidFill>
                <a:latin typeface="Courier" pitchFamily="2" charset="0"/>
              </a:rPr>
              <a:t>(number, price);</a:t>
            </a:r>
            <a:endParaRPr lang="en-US" sz="2800" dirty="0">
              <a:solidFill>
                <a:srgbClr val="FF0000"/>
              </a:solidFill>
              <a:latin typeface="Courier" pitchFamily="2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Recall:  </a:t>
            </a:r>
            <a:r>
              <a:rPr lang="en-US" sz="2400" dirty="0" err="1">
                <a:latin typeface="Courier" pitchFamily="2" charset="0"/>
              </a:rPr>
              <a:t>totalCost</a:t>
            </a:r>
            <a:r>
              <a:rPr lang="en-US" sz="2800" dirty="0"/>
              <a:t> returns a double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Assigned to variable named "bill"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b="1" dirty="0"/>
              <a:t>Arguments</a:t>
            </a:r>
            <a:r>
              <a:rPr lang="en-US" sz="2800" dirty="0"/>
              <a:t> here:  </a:t>
            </a:r>
            <a:r>
              <a:rPr lang="en-US" sz="2800" dirty="0" err="1">
                <a:latin typeface="Courier" pitchFamily="2" charset="0"/>
              </a:rPr>
              <a:t>number,price</a:t>
            </a:r>
            <a:endParaRPr lang="en-US" sz="2800" dirty="0">
              <a:latin typeface="Courier" pitchFamily="2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A</a:t>
            </a:r>
            <a:r>
              <a:rPr lang="en-US" sz="2400" dirty="0"/>
              <a:t>rguments can be literals, variables, expressions, or their combination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a function call, arguments often called as "actual arguments"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Because they contain the "actual data" being sent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564B95-1122-0E22-250F-9088D252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24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37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simple example: Order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345B6-A1EC-2341-B95F-69215BFC41D9}"/>
              </a:ext>
            </a:extLst>
          </p:cNvPr>
          <p:cNvSpPr txBox="1"/>
          <p:nvPr/>
        </p:nvSpPr>
        <p:spPr>
          <a:xfrm>
            <a:off x="542868" y="3941222"/>
            <a:ext cx="814393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main() { 	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volume of box1 is “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box1 is " 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box2 is " </a:t>
            </a:r>
            <a:r>
              <a:rPr lang="en-US" altLang="ko-KR" sz="1400" dirty="0">
                <a:latin typeface="Lucida Console" pitchFamily="49" charset="0"/>
              </a:rPr>
              <a:t>&lt;&lt;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area(10,20,30)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box3 is " </a:t>
            </a:r>
            <a:r>
              <a:rPr lang="en-US" altLang="ko-KR" sz="1400" dirty="0">
                <a:latin typeface="Lucida Console" pitchFamily="49" charset="0"/>
              </a:rPr>
              <a:t>&lt;&lt; a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rea(15,25,35)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} </a:t>
            </a:r>
          </a:p>
          <a:p>
            <a:endParaRPr lang="en-US" altLang="ko-KR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h*w*l; }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2*(h*w + w*l + l*h); 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EBAF0-20B3-694F-A032-CFC79D8A641C}"/>
              </a:ext>
            </a:extLst>
          </p:cNvPr>
          <p:cNvSpPr txBox="1"/>
          <p:nvPr/>
        </p:nvSpPr>
        <p:spPr>
          <a:xfrm>
            <a:off x="542868" y="6048573"/>
            <a:ext cx="72167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error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938AB-B3FA-C042-A7A4-C63F238ABED6}"/>
              </a:ext>
            </a:extLst>
          </p:cNvPr>
          <p:cNvSpPr txBox="1"/>
          <p:nvPr/>
        </p:nvSpPr>
        <p:spPr>
          <a:xfrm>
            <a:off x="542868" y="1276300"/>
            <a:ext cx="814393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h*w*l; }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2*(h*w + w*l + l*h); } </a:t>
            </a:r>
          </a:p>
          <a:p>
            <a:endParaRPr lang="ko-KR" altLang="en-US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main() { 	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volume of box1 is “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box1 is " 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box2 is " </a:t>
            </a:r>
            <a:r>
              <a:rPr lang="en-US" altLang="ko-KR" sz="1400" dirty="0">
                <a:latin typeface="Lucida Console" pitchFamily="49" charset="0"/>
              </a:rPr>
              <a:t>&lt;&lt;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area(10,20,30)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box3 is " </a:t>
            </a:r>
            <a:r>
              <a:rPr lang="en-US" altLang="ko-KR" sz="1400" dirty="0">
                <a:latin typeface="Lucida Console" pitchFamily="49" charset="0"/>
              </a:rPr>
              <a:t>&lt;&lt; a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rea(15,25,35)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}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F241E-0794-584B-B06F-72ED1F88561F}"/>
              </a:ext>
            </a:extLst>
          </p:cNvPr>
          <p:cNvSpPr txBox="1"/>
          <p:nvPr/>
        </p:nvSpPr>
        <p:spPr>
          <a:xfrm>
            <a:off x="546083" y="3364532"/>
            <a:ext cx="4299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OK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390564-2558-46C7-E31C-AC874E41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25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97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simple example: </a:t>
            </a:r>
            <a:br>
              <a:rPr lang="en-US" dirty="0"/>
            </a:br>
            <a:r>
              <a:rPr lang="en-US" dirty="0"/>
              <a:t>Function declaration/prototypes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D4079-6206-384B-9F7E-59E1BD8BFD12}"/>
              </a:ext>
            </a:extLst>
          </p:cNvPr>
          <p:cNvSpPr txBox="1"/>
          <p:nvPr/>
        </p:nvSpPr>
        <p:spPr>
          <a:xfrm>
            <a:off x="500034" y="1874728"/>
            <a:ext cx="8143932" cy="31085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#include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&lt;</a:t>
            </a:r>
            <a:r>
              <a:rPr lang="en-US" altLang="ko-KR" sz="1400" dirty="0" err="1">
                <a:solidFill>
                  <a:srgbClr val="A31515"/>
                </a:solidFill>
                <a:latin typeface="Lucida Console" pitchFamily="49" charset="0"/>
              </a:rPr>
              <a:t>iostream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&gt; </a:t>
            </a:r>
          </a:p>
          <a:p>
            <a:endParaRPr lang="en-US" altLang="ko-KR" sz="1400" dirty="0">
              <a:solidFill>
                <a:srgbClr val="A31515"/>
              </a:solidFill>
              <a:latin typeface="Lucida Console" pitchFamily="49" charset="0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l);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l); </a:t>
            </a:r>
            <a:endParaRPr lang="en-US" altLang="ko-KR" sz="1400" dirty="0">
              <a:solidFill>
                <a:srgbClr val="A31515"/>
              </a:solidFill>
              <a:latin typeface="Lucida Console" pitchFamily="49" charset="0"/>
            </a:endParaRPr>
          </a:p>
          <a:p>
            <a:endParaRPr lang="ko-KR" altLang="en-US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main() { 	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volume of box1 is “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box1 is " 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box2 is " </a:t>
            </a:r>
            <a:r>
              <a:rPr lang="en-US" altLang="ko-KR" sz="1400" dirty="0">
                <a:latin typeface="Lucida Console" pitchFamily="49" charset="0"/>
              </a:rPr>
              <a:t>&lt;&lt;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area(10,20,30)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box3 is " </a:t>
            </a:r>
            <a:r>
              <a:rPr lang="en-US" altLang="ko-KR" sz="1400" dirty="0">
                <a:latin typeface="Lucida Console" pitchFamily="49" charset="0"/>
              </a:rPr>
              <a:t>&lt;&lt; a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rea(15,25,35)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} </a:t>
            </a:r>
          </a:p>
          <a:p>
            <a:endParaRPr lang="en-US" altLang="ko-KR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h*w*l; }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2*(h*w + w*l + l*h); }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688FD-19A5-7F45-B0E1-BEA072565F2E}"/>
              </a:ext>
            </a:extLst>
          </p:cNvPr>
          <p:cNvSpPr txBox="1"/>
          <p:nvPr/>
        </p:nvSpPr>
        <p:spPr>
          <a:xfrm>
            <a:off x="500034" y="5115088"/>
            <a:ext cx="4171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endParaRPr lang="en-US" altLang="ko-K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3649A33-125F-2542-A149-11A8FB3EF8FF}"/>
              </a:ext>
            </a:extLst>
          </p:cNvPr>
          <p:cNvGrpSpPr/>
          <p:nvPr/>
        </p:nvGrpSpPr>
        <p:grpSpPr>
          <a:xfrm>
            <a:off x="4326802" y="2378784"/>
            <a:ext cx="3480767" cy="360040"/>
            <a:chOff x="4283968" y="1916832"/>
            <a:chExt cx="2047533" cy="360040"/>
          </a:xfrm>
        </p:grpSpPr>
        <p:sp>
          <p:nvSpPr>
            <p:cNvPr id="13" name="오른쪽 중괄호 2">
              <a:extLst>
                <a:ext uri="{FF2B5EF4-FFF2-40B4-BE49-F238E27FC236}">
                  <a16:creationId xmlns:a16="http://schemas.microsoft.com/office/drawing/2014/main" id="{3EAA1A0F-9438-0A4B-8B91-0530BBA1C4BF}"/>
                </a:ext>
              </a:extLst>
            </p:cNvPr>
            <p:cNvSpPr/>
            <p:nvPr/>
          </p:nvSpPr>
          <p:spPr>
            <a:xfrm>
              <a:off x="4283968" y="1916832"/>
              <a:ext cx="216024" cy="36004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B0CFF1-25C4-6E45-B315-F81232FAE722}"/>
                </a:ext>
              </a:extLst>
            </p:cNvPr>
            <p:cNvSpPr txBox="1"/>
            <p:nvPr/>
          </p:nvSpPr>
          <p:spPr>
            <a:xfrm>
              <a:off x="4531302" y="1969095"/>
              <a:ext cx="18001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400" dirty="0">
                  <a:solidFill>
                    <a:srgbClr val="0070C0"/>
                  </a:solidFill>
                  <a:latin typeface="Ink Free" panose="03080402000500000000" pitchFamily="66" charset="0"/>
                </a:rPr>
                <a:t>function declarations/prototypes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0B8ABC-6743-D238-94D1-2C9F12FC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26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6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simple example: Function prototypes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D4079-6206-384B-9F7E-59E1BD8BFD12}"/>
              </a:ext>
            </a:extLst>
          </p:cNvPr>
          <p:cNvSpPr txBox="1"/>
          <p:nvPr/>
        </p:nvSpPr>
        <p:spPr>
          <a:xfrm>
            <a:off x="500034" y="1874728"/>
            <a:ext cx="8143932" cy="31085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#include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&lt;</a:t>
            </a:r>
            <a:r>
              <a:rPr lang="en-US" altLang="ko-KR" sz="1400" dirty="0" err="1">
                <a:solidFill>
                  <a:srgbClr val="A31515"/>
                </a:solidFill>
                <a:latin typeface="Lucida Console" pitchFamily="49" charset="0"/>
              </a:rPr>
              <a:t>iostream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&gt; </a:t>
            </a:r>
          </a:p>
          <a:p>
            <a:endParaRPr lang="en-US" altLang="ko-KR" sz="1400" dirty="0">
              <a:solidFill>
                <a:srgbClr val="A31515"/>
              </a:solidFill>
              <a:latin typeface="Lucida Console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);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int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); </a:t>
            </a:r>
            <a:endParaRPr lang="en-US" altLang="ko-KR" sz="1400" dirty="0">
              <a:solidFill>
                <a:srgbClr val="A31515"/>
              </a:solidFill>
              <a:latin typeface="Lucida Console" pitchFamily="49" charset="0"/>
            </a:endParaRPr>
          </a:p>
          <a:p>
            <a:endParaRPr lang="ko-KR" altLang="en-US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main() { 	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volume of box1 is “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box1 is " 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box2 is " </a:t>
            </a:r>
            <a:r>
              <a:rPr lang="en-US" altLang="ko-KR" sz="1400" dirty="0">
                <a:latin typeface="Lucida Console" pitchFamily="49" charset="0"/>
              </a:rPr>
              <a:t>&lt;&lt;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area(10,20,30)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box3 is " </a:t>
            </a:r>
            <a:r>
              <a:rPr lang="en-US" altLang="ko-KR" sz="1400" dirty="0">
                <a:latin typeface="Lucida Console" pitchFamily="49" charset="0"/>
              </a:rPr>
              <a:t>&lt;&lt; a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rea(15,25,35)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} </a:t>
            </a:r>
          </a:p>
          <a:p>
            <a:endParaRPr lang="en-US" altLang="ko-KR" sz="1400" dirty="0">
              <a:solidFill>
                <a:srgbClr val="010001"/>
              </a:solidFill>
              <a:latin typeface="Lucida Console" pitchFamily="49" charset="0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h*w*l; }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2*(h*w + w*l + l*h); }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688FD-19A5-7F45-B0E1-BEA072565F2E}"/>
              </a:ext>
            </a:extLst>
          </p:cNvPr>
          <p:cNvSpPr txBox="1"/>
          <p:nvPr/>
        </p:nvSpPr>
        <p:spPr>
          <a:xfrm>
            <a:off x="500034" y="5115088"/>
            <a:ext cx="4171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endParaRPr lang="en-US" altLang="ko-K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3649A33-125F-2542-A149-11A8FB3EF8FF}"/>
              </a:ext>
            </a:extLst>
          </p:cNvPr>
          <p:cNvGrpSpPr/>
          <p:nvPr/>
        </p:nvGrpSpPr>
        <p:grpSpPr>
          <a:xfrm>
            <a:off x="4326802" y="2328288"/>
            <a:ext cx="3125492" cy="523220"/>
            <a:chOff x="4283968" y="1866336"/>
            <a:chExt cx="2016223" cy="523220"/>
          </a:xfrm>
        </p:grpSpPr>
        <p:sp>
          <p:nvSpPr>
            <p:cNvPr id="13" name="오른쪽 중괄호 2">
              <a:extLst>
                <a:ext uri="{FF2B5EF4-FFF2-40B4-BE49-F238E27FC236}">
                  <a16:creationId xmlns:a16="http://schemas.microsoft.com/office/drawing/2014/main" id="{3EAA1A0F-9438-0A4B-8B91-0530BBA1C4BF}"/>
                </a:ext>
              </a:extLst>
            </p:cNvPr>
            <p:cNvSpPr/>
            <p:nvPr/>
          </p:nvSpPr>
          <p:spPr>
            <a:xfrm>
              <a:off x="4283968" y="1916832"/>
              <a:ext cx="216024" cy="36004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B0CFF1-25C4-6E45-B315-F81232FAE722}"/>
                </a:ext>
              </a:extLst>
            </p:cNvPr>
            <p:cNvSpPr txBox="1"/>
            <p:nvPr/>
          </p:nvSpPr>
          <p:spPr>
            <a:xfrm>
              <a:off x="4499992" y="1866336"/>
              <a:ext cx="18001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ko-KR" sz="1400" dirty="0">
                  <a:solidFill>
                    <a:srgbClr val="0070C0"/>
                  </a:solidFill>
                  <a:latin typeface="Ink Free" panose="03080402000500000000" pitchFamily="66" charset="0"/>
                </a:rPr>
                <a:t>function declarations/prototypes </a:t>
              </a:r>
              <a:br>
                <a:rPr lang="en-US" altLang="ko-KR" sz="1400" dirty="0">
                  <a:solidFill>
                    <a:srgbClr val="0070C0"/>
                  </a:solidFill>
                  <a:latin typeface="Ink Free" panose="03080402000500000000" pitchFamily="66" charset="0"/>
                </a:rPr>
              </a:br>
              <a:r>
                <a:rPr lang="en-US" altLang="ko-KR" sz="1400" dirty="0">
                  <a:solidFill>
                    <a:srgbClr val="0070C0"/>
                  </a:solidFill>
                  <a:latin typeface="Ink Free" panose="03080402000500000000" pitchFamily="66" charset="0"/>
                </a:rPr>
                <a:t>(parameter names can be omitted)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09A2B3-768F-E666-23CE-5EABE1C9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27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12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simple example: Function prototypes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4B965-BECA-DF44-8548-EA118061E43D}"/>
              </a:ext>
            </a:extLst>
          </p:cNvPr>
          <p:cNvSpPr txBox="1"/>
          <p:nvPr/>
        </p:nvSpPr>
        <p:spPr>
          <a:xfrm>
            <a:off x="525772" y="5840634"/>
            <a:ext cx="4171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1000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endParaRPr lang="en-US" altLang="ko-K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21F9E88-01F4-834C-87E2-D373C86028BB}"/>
              </a:ext>
            </a:extLst>
          </p:cNvPr>
          <p:cNvGrpSpPr/>
          <p:nvPr/>
        </p:nvGrpSpPr>
        <p:grpSpPr>
          <a:xfrm>
            <a:off x="500502" y="1400130"/>
            <a:ext cx="8169202" cy="2849472"/>
            <a:chOff x="431930" y="1025517"/>
            <a:chExt cx="8169202" cy="284947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919DDA-1535-8A46-8F4F-68CEA3C8A01B}"/>
                </a:ext>
              </a:extLst>
            </p:cNvPr>
            <p:cNvSpPr txBox="1"/>
            <p:nvPr/>
          </p:nvSpPr>
          <p:spPr>
            <a:xfrm>
              <a:off x="457200" y="1412776"/>
              <a:ext cx="8143932" cy="246221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#include 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&lt;</a:t>
              </a:r>
              <a:r>
                <a:rPr lang="en-US" altLang="ko-KR" sz="1400" dirty="0" err="1">
                  <a:solidFill>
                    <a:srgbClr val="A31515"/>
                  </a:solidFill>
                  <a:latin typeface="Lucida Console" pitchFamily="49" charset="0"/>
                </a:rPr>
                <a:t>iostream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&gt; </a:t>
              </a:r>
            </a:p>
            <a:p>
              <a:endParaRPr lang="en-US" altLang="ko-KR" sz="1400" dirty="0">
                <a:solidFill>
                  <a:srgbClr val="A31515"/>
                </a:solidFill>
                <a:latin typeface="Lucida Console" pitchFamily="49" charset="0"/>
              </a:endParaRPr>
            </a:p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volume(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l); </a:t>
              </a:r>
            </a:p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area(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l); </a:t>
              </a:r>
              <a:endParaRPr lang="en-US" altLang="ko-KR" sz="1400" dirty="0">
                <a:solidFill>
                  <a:srgbClr val="A31515"/>
                </a:solidFill>
                <a:latin typeface="Lucida Console" pitchFamily="49" charset="0"/>
              </a:endParaRPr>
            </a:p>
            <a:p>
              <a:endParaRPr lang="ko-KR" altLang="en-US" sz="1400" dirty="0">
                <a:solidFill>
                  <a:srgbClr val="010001"/>
                </a:solidFill>
                <a:latin typeface="Lucida Console" pitchFamily="49" charset="0"/>
              </a:endParaRPr>
            </a:p>
            <a:p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void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main() { 	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 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cout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&lt;&lt; 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"The volume of box1 is “</a:t>
              </a:r>
              <a:r>
                <a:rPr lang="en-US" altLang="ko-KR" sz="1400" dirty="0">
                  <a:latin typeface="Lucida Console" pitchFamily="49" charset="0"/>
                </a:rPr>
                <a:t>&lt;&lt;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volume(3,5,7) &lt;&lt;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endl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;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 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cout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&lt;&lt; 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"The area of box1 is " </a:t>
              </a:r>
              <a:r>
                <a:rPr lang="en-US" altLang="ko-KR" sz="1400" dirty="0">
                  <a:latin typeface="Lucida Console" pitchFamily="49" charset="0"/>
                </a:rPr>
                <a:t>&lt;&lt;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area(3,5,7) &lt;&lt;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endl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;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 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cout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&lt;&lt; 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"The area of box2 is " </a:t>
              </a:r>
              <a:r>
                <a:rPr lang="en-US" altLang="ko-KR" sz="1400" dirty="0">
                  <a:latin typeface="Lucida Console" pitchFamily="49" charset="0"/>
                </a:rPr>
                <a:t>&lt;&lt;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area(10,20,30) &lt;&lt;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endl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;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 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cout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 &lt;&lt; </a:t>
              </a:r>
              <a:r>
                <a:rPr lang="en-US" altLang="ko-KR" sz="1400" dirty="0">
                  <a:solidFill>
                    <a:srgbClr val="A31515"/>
                  </a:solidFill>
                  <a:latin typeface="Lucida Console" pitchFamily="49" charset="0"/>
                </a:rPr>
                <a:t>"The area of box3 is " </a:t>
              </a:r>
              <a:r>
                <a:rPr lang="en-US" altLang="ko-KR" sz="1400" dirty="0">
                  <a:latin typeface="Lucida Console" pitchFamily="49" charset="0"/>
                </a:rPr>
                <a:t>&lt;&lt; a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rea(15,25,35) &lt;&lt; std::</a:t>
              </a:r>
              <a:r>
                <a:rPr lang="en-US" altLang="ko-KR" sz="1400" dirty="0" err="1">
                  <a:solidFill>
                    <a:srgbClr val="010001"/>
                  </a:solidFill>
                  <a:latin typeface="Lucida Console" pitchFamily="49" charset="0"/>
                </a:rPr>
                <a:t>endl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;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}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DDB6F2-9A59-DC40-971A-3AA930525FEC}"/>
                </a:ext>
              </a:extLst>
            </p:cNvPr>
            <p:cNvSpPr txBox="1"/>
            <p:nvPr/>
          </p:nvSpPr>
          <p:spPr>
            <a:xfrm>
              <a:off x="431930" y="1025517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A.cpp</a:t>
              </a:r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98C5F4B-4F8F-9248-8B38-7CEAA626ACBF}"/>
              </a:ext>
            </a:extLst>
          </p:cNvPr>
          <p:cNvGrpSpPr/>
          <p:nvPr/>
        </p:nvGrpSpPr>
        <p:grpSpPr>
          <a:xfrm>
            <a:off x="483270" y="4523693"/>
            <a:ext cx="7107743" cy="892552"/>
            <a:chOff x="414698" y="3655585"/>
            <a:chExt cx="7107743" cy="89255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97A403-3680-1246-B0A6-9AC3E9F843F8}"/>
                </a:ext>
              </a:extLst>
            </p:cNvPr>
            <p:cNvSpPr txBox="1"/>
            <p:nvPr/>
          </p:nvSpPr>
          <p:spPr>
            <a:xfrm>
              <a:off x="457200" y="4024917"/>
              <a:ext cx="7065241" cy="52322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volume(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 { 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return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h*w*l; } </a:t>
              </a:r>
            </a:p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area(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 { 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return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2*(h*w + w*l + l*h); }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E45D33-C0B8-3F45-B7B6-D6E9A890A2C1}"/>
                </a:ext>
              </a:extLst>
            </p:cNvPr>
            <p:cNvSpPr txBox="1"/>
            <p:nvPr/>
          </p:nvSpPr>
          <p:spPr>
            <a:xfrm>
              <a:off x="414698" y="3655585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B.cpp</a:t>
              </a:r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C9AD486-A88D-9E4F-898E-57C97247720A}"/>
              </a:ext>
            </a:extLst>
          </p:cNvPr>
          <p:cNvSpPr txBox="1"/>
          <p:nvPr/>
        </p:nvSpPr>
        <p:spPr>
          <a:xfrm>
            <a:off x="6742584" y="1423465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400" dirty="0">
                <a:solidFill>
                  <a:srgbClr val="0070C0"/>
                </a:solidFill>
                <a:latin typeface="Ink Free" panose="03080402000500000000" pitchFamily="66" charset="0"/>
              </a:rPr>
              <a:t>modular programming!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59520-E3D1-5F4A-B1C3-82AF14C55BB4}"/>
              </a:ext>
            </a:extLst>
          </p:cNvPr>
          <p:cNvSpPr txBox="1"/>
          <p:nvPr/>
        </p:nvSpPr>
        <p:spPr>
          <a:xfrm>
            <a:off x="4847472" y="5840634"/>
            <a:ext cx="315654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altLang="ko-KR" sz="1400" dirty="0">
                <a:solidFill>
                  <a:srgbClr val="FF0000"/>
                </a:solidFill>
                <a:latin typeface="Ink Free" panose="03080402000500000000" pitchFamily="66" charset="0"/>
              </a:rPr>
              <a:t>Need to compile two files together!</a:t>
            </a:r>
          </a:p>
          <a:p>
            <a:pPr lvl="0"/>
            <a:r>
              <a:rPr lang="en-US" altLang="ko-KR" sz="1400" dirty="0">
                <a:solidFill>
                  <a:srgbClr val="FF0000"/>
                </a:solidFill>
                <a:latin typeface="Courier" pitchFamily="2" charset="0"/>
              </a:rPr>
              <a:t>g++ </a:t>
            </a:r>
            <a:r>
              <a:rPr lang="en-US" altLang="ko-KR" sz="1400" dirty="0" err="1">
                <a:solidFill>
                  <a:srgbClr val="FF0000"/>
                </a:solidFill>
                <a:latin typeface="Courier" pitchFamily="2" charset="0"/>
              </a:rPr>
              <a:t>A.cpp</a:t>
            </a:r>
            <a:r>
              <a:rPr lang="en-US" altLang="ko-KR" sz="1400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altLang="ko-KR" sz="1400" dirty="0" err="1">
                <a:solidFill>
                  <a:srgbClr val="FF0000"/>
                </a:solidFill>
                <a:latin typeface="Courier" pitchFamily="2" charset="0"/>
              </a:rPr>
              <a:t>B.cpp</a:t>
            </a:r>
            <a:r>
              <a:rPr lang="en-US" altLang="ko-KR" sz="1400" dirty="0">
                <a:solidFill>
                  <a:srgbClr val="FF0000"/>
                </a:solidFill>
                <a:latin typeface="Courier" pitchFamily="2" charset="0"/>
              </a:rPr>
              <a:t> –o sample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8C77A9-100C-6590-B080-C71F9E49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28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01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" grpId="0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 simple example: Most recommended 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B73821-E312-E247-858A-F3D86F85BCBD}"/>
              </a:ext>
            </a:extLst>
          </p:cNvPr>
          <p:cNvSpPr txBox="1"/>
          <p:nvPr/>
        </p:nvSpPr>
        <p:spPr>
          <a:xfrm>
            <a:off x="540174" y="5928706"/>
            <a:ext cx="41710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srgbClr val="01000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endParaRPr lang="en-US" altLang="ko-KR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0388A50-2790-CC46-BAB6-786DA6BE0CCB}"/>
              </a:ext>
            </a:extLst>
          </p:cNvPr>
          <p:cNvGrpSpPr/>
          <p:nvPr/>
        </p:nvGrpSpPr>
        <p:grpSpPr>
          <a:xfrm>
            <a:off x="497672" y="1192191"/>
            <a:ext cx="8163858" cy="1107996"/>
            <a:chOff x="416459" y="1183137"/>
            <a:chExt cx="8163858" cy="110799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13FF90-4EC3-7041-85A9-F96187AC7FA2}"/>
                </a:ext>
              </a:extLst>
            </p:cNvPr>
            <p:cNvSpPr txBox="1"/>
            <p:nvPr/>
          </p:nvSpPr>
          <p:spPr>
            <a:xfrm>
              <a:off x="436385" y="1552469"/>
              <a:ext cx="8143932" cy="7386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volume(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l); </a:t>
              </a:r>
            </a:p>
            <a:p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area(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h,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w, </a:t>
              </a:r>
              <a:r>
                <a:rPr lang="en-US" altLang="ko-KR" sz="1400" dirty="0" err="1">
                  <a:solidFill>
                    <a:srgbClr val="0000FF"/>
                  </a:solidFill>
                  <a:latin typeface="Lucida Console" pitchFamily="49" charset="0"/>
                </a:rPr>
                <a:t>int</a:t>
              </a:r>
              <a:r>
                <a:rPr lang="en-US" altLang="ko-KR" sz="1400" dirty="0">
                  <a:solidFill>
                    <a:srgbClr val="0000FF"/>
                  </a:solidFill>
                  <a:latin typeface="Lucida Console" pitchFamily="49" charset="0"/>
                </a:rPr>
                <a:t> </a:t>
              </a:r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l); </a:t>
              </a:r>
            </a:p>
            <a:p>
              <a:r>
                <a:rPr lang="en-US" altLang="ko-KR" sz="1400" dirty="0">
                  <a:solidFill>
                    <a:srgbClr val="010001"/>
                  </a:solidFill>
                  <a:latin typeface="Lucida Console" pitchFamily="49" charset="0"/>
                </a:rPr>
                <a:t>// and other function prototypes...</a:t>
              </a:r>
              <a:endParaRPr lang="en-US" altLang="ko-KR" sz="1400" dirty="0">
                <a:solidFill>
                  <a:srgbClr val="A31515"/>
                </a:solidFill>
                <a:latin typeface="Lucida Console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4A7EC72-9CD0-FE4C-B9F8-E2AC1E2A2DC3}"/>
                </a:ext>
              </a:extLst>
            </p:cNvPr>
            <p:cNvSpPr txBox="1"/>
            <p:nvPr/>
          </p:nvSpPr>
          <p:spPr>
            <a:xfrm>
              <a:off x="416459" y="1183137"/>
              <a:ext cx="1387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myheader.h</a:t>
              </a:r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AC81EF8-C308-CB47-BAD0-C5317C63DE9D}"/>
              </a:ext>
            </a:extLst>
          </p:cNvPr>
          <p:cNvSpPr txBox="1"/>
          <p:nvPr/>
        </p:nvSpPr>
        <p:spPr>
          <a:xfrm>
            <a:off x="542868" y="2669519"/>
            <a:ext cx="814393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#include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&lt;</a:t>
            </a:r>
            <a:r>
              <a:rPr lang="en-US" altLang="ko-KR" sz="1400" dirty="0" err="1">
                <a:solidFill>
                  <a:srgbClr val="A31515"/>
                </a:solidFill>
                <a:latin typeface="Lucida Console" pitchFamily="49" charset="0"/>
              </a:rPr>
              <a:t>iostream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&gt; 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#include "</a:t>
            </a:r>
            <a:r>
              <a:rPr lang="en-US" altLang="ko-KR" sz="1400" dirty="0" err="1">
                <a:solidFill>
                  <a:srgbClr val="FF0000"/>
                </a:solidFill>
                <a:latin typeface="Lucida Console" pitchFamily="49" charset="0"/>
              </a:rPr>
              <a:t>myheader.h</a:t>
            </a:r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”</a:t>
            </a:r>
          </a:p>
          <a:p>
            <a:endParaRPr lang="en-US" altLang="ko-KR" sz="1400" dirty="0">
              <a:solidFill>
                <a:srgbClr val="0000FF"/>
              </a:solidFill>
              <a:latin typeface="Lucida Console" pitchFamily="49" charset="0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void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main() { 	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volume of box1 is “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box1 is " </a:t>
            </a:r>
            <a:r>
              <a:rPr lang="en-US" altLang="ko-KR" sz="1400" dirty="0">
                <a:latin typeface="Lucida Console" pitchFamily="49" charset="0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area(3,5,7)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box2 is " </a:t>
            </a:r>
            <a:r>
              <a:rPr lang="en-US" altLang="ko-KR" sz="1400" dirty="0">
                <a:latin typeface="Lucida Console" pitchFamily="49" charset="0"/>
              </a:rPr>
              <a:t>&lt;&lt;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area(10,20,30)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 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cout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 &lt;&lt; </a:t>
            </a:r>
            <a:r>
              <a:rPr lang="en-US" altLang="ko-KR" sz="1400" dirty="0">
                <a:solidFill>
                  <a:srgbClr val="A31515"/>
                </a:solidFill>
                <a:latin typeface="Lucida Console" pitchFamily="49" charset="0"/>
              </a:rPr>
              <a:t>"The area of box3 is " </a:t>
            </a:r>
            <a:r>
              <a:rPr lang="en-US" altLang="ko-KR" sz="1400" dirty="0">
                <a:latin typeface="Lucida Console" pitchFamily="49" charset="0"/>
              </a:rPr>
              <a:t>&lt;&lt; a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rea(15,25,35) &lt;&lt; std::</a:t>
            </a:r>
            <a:r>
              <a:rPr lang="en-US" altLang="ko-KR" sz="1400" dirty="0" err="1">
                <a:solidFill>
                  <a:srgbClr val="010001"/>
                </a:solidFill>
                <a:latin typeface="Lucida Console" pitchFamily="49" charset="0"/>
              </a:rPr>
              <a:t>endl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;</a:t>
            </a:r>
          </a:p>
          <a:p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}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B36176-FD4A-9446-A69E-3A6A08F064DF}"/>
              </a:ext>
            </a:extLst>
          </p:cNvPr>
          <p:cNvSpPr txBox="1"/>
          <p:nvPr/>
        </p:nvSpPr>
        <p:spPr>
          <a:xfrm>
            <a:off x="517598" y="2282260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A.cpp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3CC837-6A5D-8849-AC37-C72865B2A400}"/>
              </a:ext>
            </a:extLst>
          </p:cNvPr>
          <p:cNvSpPr txBox="1"/>
          <p:nvPr/>
        </p:nvSpPr>
        <p:spPr>
          <a:xfrm>
            <a:off x="540174" y="5070176"/>
            <a:ext cx="7065241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#include "</a:t>
            </a:r>
            <a:r>
              <a:rPr lang="en-US" altLang="ko-KR" sz="1400" dirty="0" err="1">
                <a:solidFill>
                  <a:srgbClr val="FF0000"/>
                </a:solidFill>
                <a:latin typeface="Lucida Console" pitchFamily="49" charset="0"/>
              </a:rPr>
              <a:t>myheader.h</a:t>
            </a:r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</a:rPr>
              <a:t>” </a:t>
            </a:r>
            <a:r>
              <a:rPr lang="en-US" altLang="ko-KR" sz="1400" dirty="0">
                <a:solidFill>
                  <a:srgbClr val="FF0000"/>
                </a:solidFill>
                <a:latin typeface="Lucida Console" pitchFamily="49" charset="0"/>
                <a:sym typeface="Wingdings" pitchFamily="2" charset="2"/>
              </a:rPr>
              <a:t> Can omit. </a:t>
            </a:r>
            <a:endParaRPr lang="ko-KR" altLang="en-US" sz="1400" dirty="0">
              <a:solidFill>
                <a:srgbClr val="FF0000"/>
              </a:solidFill>
              <a:latin typeface="Lucida Console" pitchFamily="49" charset="0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volume(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h*w*l; } </a:t>
            </a:r>
          </a:p>
          <a:p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area(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h,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w, </a:t>
            </a:r>
            <a:r>
              <a:rPr lang="en-US" altLang="ko-KR" sz="14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l) { </a:t>
            </a:r>
            <a:r>
              <a:rPr lang="en-US" altLang="ko-KR" sz="1400" dirty="0">
                <a:solidFill>
                  <a:srgbClr val="0000FF"/>
                </a:solidFill>
                <a:latin typeface="Lucida Console" pitchFamily="49" charset="0"/>
              </a:rPr>
              <a:t>return </a:t>
            </a:r>
            <a:r>
              <a:rPr lang="en-US" altLang="ko-KR" sz="1400" dirty="0">
                <a:solidFill>
                  <a:srgbClr val="010001"/>
                </a:solidFill>
                <a:latin typeface="Lucida Console" pitchFamily="49" charset="0"/>
              </a:rPr>
              <a:t>2*(h*w + w*l + l*h); }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8EA7A-9429-B54A-BDF9-A9221EAEBD1B}"/>
              </a:ext>
            </a:extLst>
          </p:cNvPr>
          <p:cNvSpPr txBox="1"/>
          <p:nvPr/>
        </p:nvSpPr>
        <p:spPr>
          <a:xfrm>
            <a:off x="497672" y="4700844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B.cpp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027560-1543-13D4-E5E5-5EFFF7FB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29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More Function Example: </a:t>
            </a:r>
            <a:br>
              <a:rPr lang="en-US" sz="3200" dirty="0"/>
            </a:br>
            <a:r>
              <a:rPr lang="en-US" sz="3200" b="1" dirty="0"/>
              <a:t>Display 3.5</a:t>
            </a:r>
            <a:r>
              <a:rPr lang="en-US" sz="3200" dirty="0"/>
              <a:t>  A Function to Calculate Total Cost (1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ADE50C-33F0-0C42-AF17-1D0780F9B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61" y="1671556"/>
            <a:ext cx="7825155" cy="43299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5641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9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altLang="ko-KR" sz="3200" dirty="0"/>
              <a:t>More </a:t>
            </a:r>
            <a:r>
              <a:rPr lang="en-US" sz="3200" dirty="0"/>
              <a:t>Function Example: </a:t>
            </a:r>
            <a:br>
              <a:rPr lang="en-US" sz="3200" dirty="0"/>
            </a:br>
            <a:r>
              <a:rPr lang="en-US" sz="3200" b="1" dirty="0"/>
              <a:t>Display 3.5</a:t>
            </a:r>
            <a:r>
              <a:rPr lang="en-US" sz="3200" dirty="0"/>
              <a:t>  A Function to Calculate Total Cost (1 of 2)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1E5F6C-EF94-F14D-8EBA-EB0CF5A1A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60" y="1353460"/>
            <a:ext cx="7151077" cy="50028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987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Parameter vs.  Argument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Terms often used interchangeably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Formal 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function declaration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function definition’s header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Actual 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In function call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Technically, parameter is "formal" piece while argument is "actual" piece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4D7FED-883C-7F28-96EE-A2F74409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32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461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Functions Calling Functions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6991" y="1362697"/>
            <a:ext cx="8420466" cy="470095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We’re already doing this!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Courier" pitchFamily="2" charset="0"/>
              </a:rPr>
              <a:t>main()</a:t>
            </a:r>
            <a:r>
              <a:rPr lang="en-US" sz="2400" dirty="0"/>
              <a:t> IS a function!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Only requirement: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Function’s declaration must appear first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Function’s definition is typically elsewhere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After or before </a:t>
            </a:r>
            <a:r>
              <a:rPr lang="en-US" sz="2400" dirty="0">
                <a:latin typeface="Courier" pitchFamily="2" charset="0"/>
              </a:rPr>
              <a:t>main()</a:t>
            </a:r>
            <a:r>
              <a:rPr lang="en-US" sz="2400" dirty="0"/>
              <a:t>’s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Or in a separate file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</a:rPr>
              <a:t>Common for functions to call many other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Function can even call itself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"</a:t>
            </a:r>
            <a:r>
              <a:rPr lang="en-US" sz="2800" dirty="0">
                <a:solidFill>
                  <a:srgbClr val="0000FF"/>
                </a:solidFill>
              </a:rPr>
              <a:t>Recursion</a:t>
            </a:r>
            <a:r>
              <a:rPr lang="en-US" sz="2800" dirty="0"/>
              <a:t>"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B46584-AB69-22FE-7B9C-D073EB4A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33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47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Calling Functions</a:t>
            </a:r>
            <a:br>
              <a:rPr lang="en-US" dirty="0"/>
            </a:b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sz="3200" b="1" dirty="0"/>
              <a:t>Display 3.6 </a:t>
            </a:r>
            <a:r>
              <a:rPr lang="en-US" altLang="ko-KR" sz="3200" dirty="0">
                <a:latin typeface="Courier" pitchFamily="2" charset="0"/>
              </a:rPr>
              <a:t>round</a:t>
            </a:r>
            <a:r>
              <a:rPr lang="en-US" altLang="ko-KR" sz="3200" dirty="0"/>
              <a:t> function (1 of 2)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C4D048-CD61-1442-95A5-80C90B7A4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283" y="1637714"/>
            <a:ext cx="7163946" cy="30428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4A59AB-683E-A2E1-0488-14349523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34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328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Calling Functions</a:t>
            </a:r>
            <a:br>
              <a:rPr lang="en-US" dirty="0"/>
            </a:b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sz="3200" b="1" dirty="0"/>
              <a:t>Display 3.6 </a:t>
            </a:r>
            <a:r>
              <a:rPr lang="en-US" altLang="ko-KR" sz="3200" dirty="0">
                <a:latin typeface="Courier" pitchFamily="2" charset="0"/>
              </a:rPr>
              <a:t>round</a:t>
            </a:r>
            <a:r>
              <a:rPr lang="en-US" altLang="ko-KR" sz="3200" dirty="0"/>
              <a:t> function (2 of 2)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A06865-1D13-B940-B2C4-879C29590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221" y="1388808"/>
            <a:ext cx="5769793" cy="52205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39A179-294A-CE42-9535-48386AEF5691}"/>
              </a:ext>
            </a:extLst>
          </p:cNvPr>
          <p:cNvSpPr txBox="1"/>
          <p:nvPr/>
        </p:nvSpPr>
        <p:spPr>
          <a:xfrm>
            <a:off x="6223342" y="3578835"/>
            <a:ext cx="161437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solidFill>
                  <a:srgbClr val="FF0000"/>
                </a:solidFill>
              </a:rPr>
              <a:t>Function calling another function!</a:t>
            </a:r>
            <a:endParaRPr kumimoji="1"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6F99237-6F74-DD41-BA24-B4F091318393}"/>
              </a:ext>
            </a:extLst>
          </p:cNvPr>
          <p:cNvCxnSpPr/>
          <p:nvPr/>
        </p:nvCxnSpPr>
        <p:spPr>
          <a:xfrm flipH="1">
            <a:off x="5733907" y="3822605"/>
            <a:ext cx="481263" cy="433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AD6CAB-7E39-1CC2-E22B-21D01BA5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35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999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Calling Functions</a:t>
            </a:r>
            <a:br>
              <a:rPr lang="en-US" dirty="0"/>
            </a:b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sz="3200" dirty="0"/>
              <a:t>Recursive function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7AC8AE-9EA3-CE4D-AF94-A885C8DCA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87" y="1789825"/>
            <a:ext cx="6061099" cy="341330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7CCC44B-8D0F-5D4D-BFFC-033EB25E2087}"/>
              </a:ext>
            </a:extLst>
          </p:cNvPr>
          <p:cNvSpPr/>
          <p:nvPr/>
        </p:nvSpPr>
        <p:spPr>
          <a:xfrm>
            <a:off x="3348217" y="3306965"/>
            <a:ext cx="1801299" cy="323134"/>
          </a:xfrm>
          <a:prstGeom prst="rect">
            <a:avLst/>
          </a:prstGeom>
          <a:solidFill>
            <a:srgbClr val="0070C0">
              <a:alpha val="25934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62DFAE-2DBB-332E-C2AD-49E3E7D0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36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561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Calling Functions</a:t>
            </a:r>
            <a:br>
              <a:rPr lang="en-US" dirty="0"/>
            </a:b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sz="3200" dirty="0"/>
              <a:t>Recursive function</a:t>
            </a:r>
            <a:endParaRPr lang="en-US" dirty="0"/>
          </a:p>
        </p:txBody>
      </p:sp>
      <p:pic>
        <p:nvPicPr>
          <p:cNvPr id="7" name="Picture 4" descr="352">
            <a:extLst>
              <a:ext uri="{FF2B5EF4-FFF2-40B4-BE49-F238E27FC236}">
                <a16:creationId xmlns:a16="http://schemas.microsoft.com/office/drawing/2014/main" id="{62D46145-BE75-1643-8782-19D9FB75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795" t="5360" r="26685" b="4591"/>
          <a:stretch>
            <a:fillRect/>
          </a:stretch>
        </p:blipFill>
        <p:spPr bwMode="auto">
          <a:xfrm>
            <a:off x="2143590" y="1611869"/>
            <a:ext cx="4655972" cy="459773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3FD6B3-B7EF-A546-9ACF-4963A207A428}"/>
              </a:ext>
            </a:extLst>
          </p:cNvPr>
          <p:cNvSpPr txBox="1"/>
          <p:nvPr/>
        </p:nvSpPr>
        <p:spPr>
          <a:xfrm>
            <a:off x="7196827" y="5208254"/>
            <a:ext cx="161437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>
                <a:solidFill>
                  <a:srgbClr val="FF0000"/>
                </a:solidFill>
              </a:rPr>
              <a:t>More in Ch.13 and Project 1!</a:t>
            </a:r>
            <a:endParaRPr kumimoji="1"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8C1A71-EECC-1B3B-61E7-9CCB041F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37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98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Boolean Return-Type Functions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09" y="1192191"/>
            <a:ext cx="8704579" cy="473906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Return-type can be any valid type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including Boolean</a:t>
            </a:r>
            <a:endParaRPr lang="en-US" dirty="0"/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Consider the Boolean expression in</a:t>
            </a:r>
          </a:p>
          <a:p>
            <a:pPr lvl="1" eaLnBrk="1" hangingPunct="1">
              <a:spcBef>
                <a:spcPct val="50000"/>
              </a:spcBef>
            </a:pPr>
            <a:endParaRPr lang="en-US" dirty="0"/>
          </a:p>
          <a:p>
            <a:pPr lvl="1" eaLnBrk="1" hangingPunct="1">
              <a:spcBef>
                <a:spcPct val="50000"/>
              </a:spcBef>
            </a:pPr>
            <a:endParaRPr lang="en-US" dirty="0"/>
          </a:p>
          <a:p>
            <a:pPr lvl="1" eaLnBrk="1" hangingPunct="1">
              <a:spcBef>
                <a:spcPct val="50000"/>
              </a:spcBef>
            </a:pPr>
            <a:r>
              <a:rPr lang="en-US" dirty="0"/>
              <a:t>We can utilize function to make it look simpler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A333688-FD33-564B-BDDC-D0731E878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179" y="2384382"/>
            <a:ext cx="5466375" cy="10339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AEB834-2B17-EA48-AD40-BF22526EF532}"/>
              </a:ext>
            </a:extLst>
          </p:cNvPr>
          <p:cNvSpPr txBox="1"/>
          <p:nvPr/>
        </p:nvSpPr>
        <p:spPr>
          <a:xfrm>
            <a:off x="7102278" y="2384382"/>
            <a:ext cx="176149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Looks complicated &amp; hard to read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C634B0-88B5-9144-A207-08062DEB3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15" y="4216279"/>
            <a:ext cx="2505273" cy="10339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C9F665-E9E4-C84B-8B87-EBA585D2E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794" y="4216280"/>
            <a:ext cx="5819238" cy="10339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78D769-FA08-B03B-4ACE-227DC5AB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38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2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Void Functions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Similar to functions returning a value</a:t>
            </a:r>
          </a:p>
          <a:p>
            <a:pPr eaLnBrk="1" hangingPunct="1"/>
            <a:r>
              <a:rPr lang="en-US" dirty="0"/>
              <a:t>Return type specified as "void"</a:t>
            </a:r>
          </a:p>
          <a:p>
            <a:pPr eaLnBrk="1" hangingPunct="1"/>
            <a:r>
              <a:rPr lang="en-US" dirty="0"/>
              <a:t>Example:</a:t>
            </a:r>
          </a:p>
          <a:p>
            <a:pPr lvl="1" eaLnBrk="1" hangingPunct="1"/>
            <a:r>
              <a:rPr lang="en-US" dirty="0"/>
              <a:t>Function declaration/prototype:</a:t>
            </a:r>
            <a:br>
              <a:rPr lang="en-US" dirty="0"/>
            </a:b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void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 err="1">
                <a:latin typeface="Courier" pitchFamily="2" charset="0"/>
              </a:rPr>
              <a:t>showResults</a:t>
            </a:r>
            <a:r>
              <a:rPr lang="en-US" sz="2000" dirty="0">
                <a:latin typeface="Courier" pitchFamily="2" charset="0"/>
              </a:rPr>
              <a:t>(double </a:t>
            </a:r>
            <a:r>
              <a:rPr lang="en-US" sz="2000" dirty="0" err="1">
                <a:latin typeface="Courier" pitchFamily="2" charset="0"/>
              </a:rPr>
              <a:t>fDegrees</a:t>
            </a:r>
            <a:r>
              <a:rPr lang="en-US" sz="2000" dirty="0">
                <a:latin typeface="Courier" pitchFamily="2" charset="0"/>
              </a:rPr>
              <a:t>, double </a:t>
            </a:r>
            <a:r>
              <a:rPr lang="en-US" sz="2000" dirty="0" err="1">
                <a:latin typeface="Courier" pitchFamily="2" charset="0"/>
              </a:rPr>
              <a:t>cDegrees</a:t>
            </a:r>
            <a:r>
              <a:rPr lang="en-US" sz="2000" dirty="0">
                <a:latin typeface="Courier" pitchFamily="2" charset="0"/>
              </a:rPr>
              <a:t>);</a:t>
            </a:r>
            <a:endParaRPr lang="en-US" dirty="0">
              <a:latin typeface="Courier" pitchFamily="2" charset="0"/>
            </a:endParaRPr>
          </a:p>
          <a:p>
            <a:pPr lvl="2" eaLnBrk="1" hangingPunct="1"/>
            <a:r>
              <a:rPr lang="en-US" dirty="0"/>
              <a:t>Return-type is "void" </a:t>
            </a:r>
          </a:p>
          <a:p>
            <a:pPr lvl="2" eaLnBrk="1" hangingPunct="1"/>
            <a:r>
              <a:rPr lang="en-US" dirty="0"/>
              <a:t>Nothing is returned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260D0E-F314-65CF-27A8-50586A2C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39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808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Declaring Void Functions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842" y="1424354"/>
            <a:ext cx="7910512" cy="4437063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dirty="0"/>
              <a:t>Function definition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</a:pPr>
            <a:br>
              <a:rPr lang="en-US" sz="2400" dirty="0"/>
            </a:b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/>
              <a:t>Notice: </a:t>
            </a:r>
            <a:r>
              <a:rPr lang="en-US" b="1" dirty="0"/>
              <a:t>no</a:t>
            </a:r>
            <a:r>
              <a:rPr lang="en-US" dirty="0"/>
              <a:t> return statement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19ECF2-57C3-3B4D-85FE-3C8167F3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2019300"/>
            <a:ext cx="7569200" cy="2819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9A2CF7-369A-AC1B-6929-3125AC08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40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65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Calling Void Functions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Same as calling predefined void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From some other function, like main():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err="1">
                <a:latin typeface="Courier" pitchFamily="2" charset="0"/>
              </a:rPr>
              <a:t>showResults</a:t>
            </a:r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 err="1">
                <a:latin typeface="Courier" pitchFamily="2" charset="0"/>
              </a:rPr>
              <a:t>degreesF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 err="1">
                <a:latin typeface="Courier" pitchFamily="2" charset="0"/>
              </a:rPr>
              <a:t>degreesC</a:t>
            </a:r>
            <a:r>
              <a:rPr lang="en-US" sz="2400" dirty="0">
                <a:latin typeface="Courier" pitchFamily="2" charset="0"/>
              </a:rPr>
              <a:t>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err="1">
                <a:latin typeface="Courier" pitchFamily="2" charset="0"/>
              </a:rPr>
              <a:t>showResults</a:t>
            </a:r>
            <a:r>
              <a:rPr lang="en-US" sz="2400" dirty="0">
                <a:latin typeface="Courier" pitchFamily="2" charset="0"/>
              </a:rPr>
              <a:t>(32.5, 0.3);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Notice no assignment to other variable, since no value is returned</a:t>
            </a:r>
            <a:endParaRPr lang="en-US" sz="1000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Actual arguments (</a:t>
            </a:r>
            <a:r>
              <a:rPr lang="en-US" sz="2800" dirty="0" err="1">
                <a:latin typeface="Courier" pitchFamily="2" charset="0"/>
              </a:rPr>
              <a:t>degreesF</a:t>
            </a:r>
            <a:r>
              <a:rPr lang="en-US" sz="2800" dirty="0">
                <a:latin typeface="Courier" pitchFamily="2" charset="0"/>
              </a:rPr>
              <a:t>, </a:t>
            </a:r>
            <a:r>
              <a:rPr lang="en-US" sz="2800" dirty="0" err="1">
                <a:latin typeface="Courier" pitchFamily="2" charset="0"/>
              </a:rPr>
              <a:t>degreesC</a:t>
            </a:r>
            <a:r>
              <a:rPr lang="en-US" sz="28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Passed to the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Function is called to "do its job" with the data passed in</a:t>
            </a:r>
          </a:p>
          <a:p>
            <a:pPr>
              <a:lnSpc>
                <a:spcPct val="90000"/>
              </a:lnSpc>
            </a:pPr>
            <a:r>
              <a:rPr lang="en-US" dirty="0"/>
              <a:t>Void function with </a:t>
            </a:r>
            <a:r>
              <a:rPr lang="en-US" b="1" i="1" dirty="0"/>
              <a:t>no</a:t>
            </a:r>
            <a:r>
              <a:rPr lang="en-US" dirty="0"/>
              <a:t> </a:t>
            </a:r>
            <a:r>
              <a:rPr lang="en-US" b="1" i="1" dirty="0"/>
              <a:t>argument</a:t>
            </a:r>
            <a:r>
              <a:rPr lang="en-US" dirty="0"/>
              <a:t> is perfectly fine!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E7AFE62-DB60-F745-978A-CBB90138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999" y="5728509"/>
            <a:ext cx="2498970" cy="8814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25D2B3-4695-7CAF-6F0E-EAC5BA9D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41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551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on Return Statements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927" y="1387098"/>
            <a:ext cx="8807673" cy="4739065"/>
          </a:xfrm>
        </p:spPr>
        <p:txBody>
          <a:bodyPr/>
          <a:lstStyle/>
          <a:p>
            <a:pPr eaLnBrk="1" hangingPunct="1"/>
            <a:r>
              <a:rPr lang="en-US" sz="2800" dirty="0"/>
              <a:t>Transfers control back to the "calling" function</a:t>
            </a:r>
          </a:p>
          <a:p>
            <a:pPr lvl="1" eaLnBrk="1" hangingPunct="1"/>
            <a:r>
              <a:rPr lang="en-US" dirty="0"/>
              <a:t>R</a:t>
            </a:r>
            <a:r>
              <a:rPr lang="en-US" sz="2400" dirty="0"/>
              <a:t>eturn type other than </a:t>
            </a:r>
            <a:r>
              <a:rPr lang="en-US" sz="2400" dirty="0">
                <a:latin typeface="Courier" pitchFamily="2" charset="0"/>
              </a:rPr>
              <a:t>void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sz="2400" dirty="0"/>
              <a:t>MUST have return statement</a:t>
            </a:r>
          </a:p>
          <a:p>
            <a:pPr lvl="1" eaLnBrk="1" hangingPunct="1"/>
            <a:r>
              <a:rPr lang="en-US" sz="2400" dirty="0"/>
              <a:t>Typically</a:t>
            </a:r>
            <a:r>
              <a:rPr lang="en-US" altLang="ko-KR" sz="2400" dirty="0"/>
              <a:t>,</a:t>
            </a:r>
            <a:r>
              <a:rPr lang="en-US" sz="2400" dirty="0"/>
              <a:t> the LAST statement in </a:t>
            </a:r>
            <a:r>
              <a:rPr lang="en-US" dirty="0"/>
              <a:t>a </a:t>
            </a:r>
            <a:r>
              <a:rPr lang="en-US" sz="2400" dirty="0"/>
              <a:t>function definition</a:t>
            </a:r>
          </a:p>
          <a:p>
            <a:pPr lvl="1" eaLnBrk="1" hangingPunct="1"/>
            <a:endParaRPr lang="en-US" sz="1400" dirty="0"/>
          </a:p>
          <a:p>
            <a:pPr lvl="1" eaLnBrk="1" hangingPunct="1"/>
            <a:endParaRPr lang="en-US" sz="1400" dirty="0"/>
          </a:p>
          <a:p>
            <a:pPr lvl="1" eaLnBrk="1" hangingPunct="1"/>
            <a:endParaRPr lang="en-US" sz="1400" dirty="0"/>
          </a:p>
          <a:p>
            <a:pPr eaLnBrk="1" hangingPunct="1">
              <a:spcBef>
                <a:spcPct val="50000"/>
              </a:spcBef>
            </a:pPr>
            <a:r>
              <a:rPr lang="en-US" sz="2800" dirty="0">
                <a:latin typeface="Courier" pitchFamily="2" charset="0"/>
              </a:rPr>
              <a:t>return; </a:t>
            </a:r>
            <a:r>
              <a:rPr lang="en-US" sz="2800" dirty="0"/>
              <a:t>is an optional statement for void functions</a:t>
            </a:r>
          </a:p>
          <a:p>
            <a:pPr lvl="1" eaLnBrk="1" hangingPunct="1"/>
            <a:r>
              <a:rPr lang="en-US" sz="2400" dirty="0"/>
              <a:t>Closing } would implicitly return control from </a:t>
            </a:r>
            <a:r>
              <a:rPr lang="en-US" sz="2400" dirty="0">
                <a:latin typeface="Courier" pitchFamily="2" charset="0"/>
              </a:rPr>
              <a:t>void</a:t>
            </a:r>
            <a:r>
              <a:rPr lang="en-US" sz="2400" dirty="0"/>
              <a:t> function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41175D-B1AE-E966-CE40-EB37339A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42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336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Preconditions and Postconditions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 good way for </a:t>
            </a:r>
            <a:r>
              <a:rPr lang="en-US" sz="2800" b="1" i="1" dirty="0"/>
              <a:t>commenting</a:t>
            </a:r>
            <a:r>
              <a:rPr lang="en-US" sz="2800" dirty="0"/>
              <a:t> a function declaration</a:t>
            </a:r>
          </a:p>
          <a:p>
            <a:pPr eaLnBrk="1" hangingPunct="1"/>
            <a:r>
              <a:rPr lang="en-US" sz="2800" dirty="0"/>
              <a:t>Similar to "I-P-O" discussion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Comment function declaration 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to describe the input and output of the function</a:t>
            </a:r>
            <a:r>
              <a:rPr lang="en-US" sz="2800" dirty="0"/>
              <a:t> :</a:t>
            </a:r>
            <a:br>
              <a:rPr lang="en-US" sz="2800" dirty="0"/>
            </a:br>
            <a:endParaRPr lang="en-US" sz="2800" dirty="0"/>
          </a:p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endParaRPr lang="en-US" sz="2800" dirty="0"/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Often called Inputs &amp; Outputs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7CB0876-9904-CD44-8FDA-6D4CF67EA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3" y="3580232"/>
            <a:ext cx="7737231" cy="15989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6EB6B3-67FB-E4EC-6A11-87C43548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43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078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ourier" pitchFamily="2" charset="0"/>
              </a:rPr>
              <a:t>main()</a:t>
            </a:r>
            <a:r>
              <a:rPr lang="en-US" dirty="0"/>
              <a:t>: "Special"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Recall: </a:t>
            </a:r>
            <a:r>
              <a:rPr lang="en-US" sz="2800" dirty="0">
                <a:latin typeface="Courier" pitchFamily="2" charset="0"/>
              </a:rPr>
              <a:t>main()</a:t>
            </a:r>
            <a:r>
              <a:rPr lang="en-US" sz="2800" dirty="0"/>
              <a:t>IS a function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"Special" in that: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One and only one function called </a:t>
            </a:r>
            <a:r>
              <a:rPr lang="en-US" sz="2400" dirty="0">
                <a:latin typeface="Courier" pitchFamily="2" charset="0"/>
              </a:rPr>
              <a:t>main() </a:t>
            </a:r>
            <a:r>
              <a:rPr lang="en-US" sz="2400" dirty="0"/>
              <a:t>will exist in a program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Who calls </a:t>
            </a:r>
            <a:r>
              <a:rPr lang="en-US" sz="2800" dirty="0">
                <a:latin typeface="Courier" pitchFamily="2" charset="0"/>
              </a:rPr>
              <a:t>main()</a:t>
            </a:r>
            <a:r>
              <a:rPr lang="en-US" sz="2800" dirty="0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</a:rPr>
              <a:t>Operating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Tradition holds it should have return statement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Value returned to "caller"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Here: operating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00FF"/>
                </a:solidFill>
              </a:rPr>
              <a:t>Should return "</a:t>
            </a:r>
            <a:r>
              <a:rPr lang="en-US" sz="2400" dirty="0" err="1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-US" sz="2400" dirty="0">
                <a:solidFill>
                  <a:srgbClr val="0000FF"/>
                </a:solidFill>
              </a:rPr>
              <a:t>" or "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void</a:t>
            </a:r>
            <a:r>
              <a:rPr lang="en-US" sz="2400" dirty="0">
                <a:solidFill>
                  <a:srgbClr val="0000FF"/>
                </a:solidFill>
              </a:rPr>
              <a:t>"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2EDC7B-FA42-2D59-8A49-59D15D97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44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81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Scope Rules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Local variables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Declared inside the body of given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Available only within that function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Can have variables with same names declared in different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Scope is local: "that function is its scope"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dirty="0"/>
              <a:t>Local variables preferred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Maintain individual control over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Functions should declare whatever local data needed to "do their job"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52937D-CB26-0115-BA22-4472059E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45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44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Local variable example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709AE1-3BA3-AB40-BCD5-A8269166A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190" y="2203508"/>
            <a:ext cx="4242546" cy="9040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D77A1E-10BC-F645-A23E-D87664580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" y="1270844"/>
            <a:ext cx="4630518" cy="50979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204D6C-8EA8-684A-B46C-7C7934D21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638" y="3306965"/>
            <a:ext cx="4197394" cy="18081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61B6E9-D489-91F6-B05C-3D34E211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46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075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Procedural Abstraction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Need to know "what" function does, not "how" the function does it!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Think it as a "black box"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Device you know how to use, but not its method of operation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dirty="0"/>
              <a:t>Implement a function like a black box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User of a function only needs to know : declaration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Does NOT need to know function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Also called as </a:t>
            </a:r>
            <a:r>
              <a:rPr lang="en-US" sz="2000" b="1" i="1" dirty="0"/>
              <a:t>information </a:t>
            </a:r>
            <a:r>
              <a:rPr lang="en-US" b="1" i="1" dirty="0"/>
              <a:t>h</a:t>
            </a:r>
            <a:r>
              <a:rPr lang="en-US" sz="2000" b="1" i="1" dirty="0"/>
              <a:t>iding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Hide details of "how" function does its job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037314-1501-5E81-BC0A-51E8EC4D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47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88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Global Constants and Global Variables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709" y="1316760"/>
            <a:ext cx="8704579" cy="4739065"/>
          </a:xfrm>
        </p:spPr>
        <p:txBody>
          <a:bodyPr/>
          <a:lstStyle/>
          <a:p>
            <a:pPr eaLnBrk="1" hangingPunct="1"/>
            <a:r>
              <a:rPr lang="en-US" dirty="0"/>
              <a:t>If declared "outside" function body</a:t>
            </a:r>
          </a:p>
          <a:p>
            <a:pPr lvl="1" eaLnBrk="1" hangingPunct="1"/>
            <a:r>
              <a:rPr lang="en-US" dirty="0"/>
              <a:t>Global to all functions in that file</a:t>
            </a:r>
            <a:endParaRPr lang="en-US" sz="2800" dirty="0"/>
          </a:p>
          <a:p>
            <a:pPr eaLnBrk="1" hangingPunct="1">
              <a:spcBef>
                <a:spcPct val="50000"/>
              </a:spcBef>
            </a:pPr>
            <a:r>
              <a:rPr lang="en-US" dirty="0"/>
              <a:t>If declared "inside" function body</a:t>
            </a:r>
          </a:p>
          <a:p>
            <a:pPr lvl="1" eaLnBrk="1" hangingPunct="1"/>
            <a:r>
              <a:rPr lang="en-US" dirty="0"/>
              <a:t>Local to that function</a:t>
            </a:r>
            <a:endParaRPr lang="en-US" sz="2000" dirty="0"/>
          </a:p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Global declarations are typical for constants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const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 double TAXRATE = 0.05;</a:t>
            </a:r>
          </a:p>
          <a:p>
            <a:pPr lvl="1" eaLnBrk="1" hangingPunct="1"/>
            <a:r>
              <a:rPr lang="en-US" dirty="0"/>
              <a:t>Declare globally so all functions can use it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Global variables?</a:t>
            </a:r>
          </a:p>
          <a:p>
            <a:pPr lvl="1" eaLnBrk="1" hangingPunct="1"/>
            <a:r>
              <a:rPr lang="en-US" dirty="0"/>
              <a:t>Possible, but SELDOM-USED</a:t>
            </a:r>
          </a:p>
          <a:p>
            <a:pPr lvl="1" eaLnBrk="1" hangingPunct="1"/>
            <a:r>
              <a:rPr lang="en-US" dirty="0"/>
              <a:t>Dangerous: no control over usage!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3A7F1D-4FD7-1A3A-D7EC-11B7ADF7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48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6790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Blocks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302" y="1338972"/>
            <a:ext cx="8704579" cy="4739065"/>
          </a:xfrm>
        </p:spPr>
        <p:txBody>
          <a:bodyPr/>
          <a:lstStyle/>
          <a:p>
            <a:pPr eaLnBrk="1" hangingPunct="1"/>
            <a:r>
              <a:rPr lang="en-US" dirty="0"/>
              <a:t>Declare data inside compound statement {}</a:t>
            </a:r>
          </a:p>
          <a:p>
            <a:pPr lvl="1" eaLnBrk="1" hangingPunct="1"/>
            <a:r>
              <a:rPr lang="en-US" dirty="0"/>
              <a:t>Called a "block"</a:t>
            </a:r>
          </a:p>
          <a:p>
            <a:pPr lvl="1" eaLnBrk="1" hangingPunct="1"/>
            <a:r>
              <a:rPr lang="en-US" dirty="0"/>
              <a:t>Has "block-scope"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Note: all function definitions are blocks!</a:t>
            </a:r>
          </a:p>
          <a:p>
            <a:pPr lvl="1" eaLnBrk="1" hangingPunct="1"/>
            <a:r>
              <a:rPr lang="en-US" dirty="0"/>
              <a:t>This provides local "function-scope"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Loop block example:</a:t>
            </a:r>
            <a:br>
              <a:rPr lang="en-US" dirty="0"/>
            </a:br>
            <a:endParaRPr lang="en-US" dirty="0"/>
          </a:p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lvl="1" eaLnBrk="1" hangingPunct="1"/>
            <a:r>
              <a:rPr lang="en-US" sz="2800" dirty="0">
                <a:solidFill>
                  <a:srgbClr val="FF0000"/>
                </a:solidFill>
              </a:rPr>
              <a:t>Variable 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</a:rPr>
              <a:t>n</a:t>
            </a:r>
            <a:r>
              <a:rPr lang="en-US" sz="2800" dirty="0">
                <a:solidFill>
                  <a:srgbClr val="FF0000"/>
                </a:solidFill>
              </a:rPr>
              <a:t> has scope in loop body block only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E7EEDC7-980C-9349-960C-5329AD4A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00" y="4570046"/>
            <a:ext cx="4241800" cy="812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CF2C9A-D8D9-8691-CF4A-3463E122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49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5280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1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Two kinds of functions:</a:t>
            </a:r>
          </a:p>
          <a:p>
            <a:pPr lvl="1" eaLnBrk="1" hangingPunct="1"/>
            <a:r>
              <a:rPr lang="en-US" sz="2400" dirty="0"/>
              <a:t>"Return-a-value" and void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Functions should be "black boxes"</a:t>
            </a:r>
          </a:p>
          <a:p>
            <a:pPr lvl="1" eaLnBrk="1" hangingPunct="1"/>
            <a:r>
              <a:rPr lang="en-US" sz="2400" dirty="0"/>
              <a:t>Hide "how" details</a:t>
            </a:r>
          </a:p>
          <a:p>
            <a:pPr lvl="1" eaLnBrk="1" hangingPunct="1"/>
            <a:r>
              <a:rPr lang="en-US" sz="2400" dirty="0"/>
              <a:t>Declare own local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dirty="0"/>
              <a:t>Function declarations should self-document</a:t>
            </a:r>
          </a:p>
          <a:p>
            <a:pPr lvl="1" eaLnBrk="1" hangingPunct="1"/>
            <a:r>
              <a:rPr lang="en-US" sz="2400" dirty="0"/>
              <a:t>Provide pre- &amp; post-conditions in comments</a:t>
            </a:r>
          </a:p>
          <a:p>
            <a:pPr lvl="1" eaLnBrk="1" hangingPunct="1"/>
            <a:r>
              <a:rPr lang="en-US" sz="2400" dirty="0"/>
              <a:t>Provide all "caller’s" needs for use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5CECD8-0B36-1C64-B324-51A1296B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50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27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 2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Local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Declared in function definition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Global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Declared above function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OK for constants, not for variables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Formal: In function declaration and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Placeholder for incoming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Actual: In function call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/>
              <a:t>Actual data passed to function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423FD9-F49E-6956-3E28-B628C1B3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51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109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9976" y="2632259"/>
            <a:ext cx="8704579" cy="1139125"/>
          </a:xfrm>
        </p:spPr>
        <p:txBody>
          <a:bodyPr/>
          <a:lstStyle/>
          <a:p>
            <a:r>
              <a:rPr kumimoji="1" lang="en-US" altLang="ko-KR" dirty="0"/>
              <a:t>Thank you!</a:t>
            </a:r>
            <a:endParaRPr kumimoji="1" lang="ko-KR" altLang="en-US" dirty="0"/>
          </a:p>
        </p:txBody>
      </p:sp>
      <p:sp>
        <p:nvSpPr>
          <p:cNvPr id="5" name="텍스트 상자 4"/>
          <p:cNvSpPr txBox="1"/>
          <p:nvPr/>
        </p:nvSpPr>
        <p:spPr>
          <a:xfrm>
            <a:off x="2190492" y="4067948"/>
            <a:ext cx="4784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Web: </a:t>
            </a:r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  <a:hlinkClick r:id="rId3"/>
              </a:rPr>
              <a:t>http://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3"/>
              </a:rPr>
              <a:t>mindlab-snu.github.io</a:t>
            </a:r>
            <a:endParaRPr kumimoji="1" lang="en-US" altLang="ko-KR" sz="2400" dirty="0">
              <a:latin typeface="Gill Sans MT" charset="0"/>
              <a:ea typeface="Gill Sans MT" charset="0"/>
              <a:cs typeface="Gill Sans MT" charset="0"/>
            </a:endParaRPr>
          </a:p>
          <a:p>
            <a:pPr algn="ctr"/>
            <a:r>
              <a:rPr kumimoji="1" lang="en-US" altLang="ko-KR" sz="2400" dirty="0">
                <a:latin typeface="Gill Sans MT" charset="0"/>
                <a:ea typeface="Gill Sans MT" charset="0"/>
                <a:cs typeface="Gill Sans MT" charset="0"/>
              </a:rPr>
              <a:t>E-mail: </a:t>
            </a:r>
            <a:r>
              <a:rPr kumimoji="1" lang="en-US" altLang="ko-KR" sz="2400" dirty="0" err="1">
                <a:latin typeface="Gill Sans MT" charset="0"/>
                <a:ea typeface="Gill Sans MT" charset="0"/>
                <a:cs typeface="Gill Sans MT" charset="0"/>
                <a:hlinkClick r:id="rId4"/>
              </a:rPr>
              <a:t>tsmoon@snu.ac.kr</a:t>
            </a:r>
            <a:endParaRPr kumimoji="1" lang="ko-KR" altLang="en-US" sz="2400" dirty="0">
              <a:latin typeface="Gill Sans MT" charset="0"/>
              <a:ea typeface="Gill Sans MT" charset="0"/>
              <a:cs typeface="Gill Sans MT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C948BD-FCA6-E168-4F1A-94D5F270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8BE47-A309-A04A-8ACD-5472A992E3BA}" type="slidenum">
              <a:rPr lang="en-US" smtClean="0"/>
              <a:pPr/>
              <a:t>52</a:t>
            </a:fld>
            <a:r>
              <a:rPr lang="en-US"/>
              <a:t> / 52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3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362038</TotalTime>
  <Words>3470</Words>
  <Application>Microsoft Macintosh PowerPoint</Application>
  <PresentationFormat>화면 슬라이드 쇼(4:3)</PresentationFormat>
  <Paragraphs>525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3" baseType="lpstr">
      <vt:lpstr>Arial</vt:lpstr>
      <vt:lpstr>Calibri</vt:lpstr>
      <vt:lpstr>Cambria Math</vt:lpstr>
      <vt:lpstr>Courier</vt:lpstr>
      <vt:lpstr>Courier New</vt:lpstr>
      <vt:lpstr>Gill Sans MT</vt:lpstr>
      <vt:lpstr>Ink Free</vt:lpstr>
      <vt:lpstr>Lucida Console</vt:lpstr>
      <vt:lpstr>Tahoma</vt:lpstr>
      <vt:lpstr>Wingdings</vt:lpstr>
      <vt:lpstr>Office Theme</vt:lpstr>
      <vt:lpstr>430.211 Programming Methodology (프로그래밍 방법론)</vt:lpstr>
      <vt:lpstr>Outline</vt:lpstr>
      <vt:lpstr>Chapter 3 : Learning objectives</vt:lpstr>
      <vt:lpstr> Introduction to Functions</vt:lpstr>
      <vt:lpstr>Predefined Functions</vt:lpstr>
      <vt:lpstr>Using Predefined Functions</vt:lpstr>
      <vt:lpstr>The Function Call</vt:lpstr>
      <vt:lpstr>A Larger Example:  Display 3.1  A Predefined Function  That Returns a Value (1 of 2)</vt:lpstr>
      <vt:lpstr>A Larger Example:  Display 3.1  A Predefined Function  That Returns a Value (2 of 2)</vt:lpstr>
      <vt:lpstr>More Predefined Functions</vt:lpstr>
      <vt:lpstr>More Math Functions</vt:lpstr>
      <vt:lpstr>Even More Math Functions:  Display 3.2  Some Predefined Functions (1 of 2)</vt:lpstr>
      <vt:lpstr>Even More Math Functions:  Display 3.2  Some Predefined Functions (2 of 2)</vt:lpstr>
      <vt:lpstr>Predefined Void Functions</vt:lpstr>
      <vt:lpstr>Random Number Generator</vt:lpstr>
      <vt:lpstr>Random Number Seed</vt:lpstr>
      <vt:lpstr>Programmer-Defined Functions</vt:lpstr>
      <vt:lpstr>Components of Function Use</vt:lpstr>
      <vt:lpstr>Function Declaration/Prototype</vt:lpstr>
      <vt:lpstr>Alternative Function Declaration/Prototype</vt:lpstr>
      <vt:lpstr>Function Definition</vt:lpstr>
      <vt:lpstr>Function Definition Placement</vt:lpstr>
      <vt:lpstr>Function Definition Placement</vt:lpstr>
      <vt:lpstr>Function Call</vt:lpstr>
      <vt:lpstr>A simple example: Order matters</vt:lpstr>
      <vt:lpstr>A simple example:  Function declaration/prototypes</vt:lpstr>
      <vt:lpstr>A simple example: Function prototypes</vt:lpstr>
      <vt:lpstr>A simple example: Function prototypes</vt:lpstr>
      <vt:lpstr>A simple example: Most recommended way</vt:lpstr>
      <vt:lpstr>More Function Example:  Display 3.5  A Function to Calculate Total Cost (1 of 2)</vt:lpstr>
      <vt:lpstr>More Function Example:  Display 3.5  A Function to Calculate Total Cost (1 of 2)</vt:lpstr>
      <vt:lpstr>Parameter vs.  Argument</vt:lpstr>
      <vt:lpstr>Functions Calling Functions</vt:lpstr>
      <vt:lpstr>Functions Calling Functions : Display 3.6 round function (1 of 2)</vt:lpstr>
      <vt:lpstr>Functions Calling Functions : Display 3.6 round function (2 of 2)</vt:lpstr>
      <vt:lpstr>Functions Calling Functions : Recursive function</vt:lpstr>
      <vt:lpstr>Functions Calling Functions : Recursive function</vt:lpstr>
      <vt:lpstr>Boolean Return-Type Functions</vt:lpstr>
      <vt:lpstr>Declaring Void Functions</vt:lpstr>
      <vt:lpstr>Declaring Void Functions</vt:lpstr>
      <vt:lpstr>Calling Void Functions</vt:lpstr>
      <vt:lpstr>More on Return Statements</vt:lpstr>
      <vt:lpstr>Preconditions and Postconditions</vt:lpstr>
      <vt:lpstr>main(): "Special"</vt:lpstr>
      <vt:lpstr>Scope Rules</vt:lpstr>
      <vt:lpstr>Local variable example</vt:lpstr>
      <vt:lpstr>Procedural Abstraction</vt:lpstr>
      <vt:lpstr>Global Constants and Global Variables</vt:lpstr>
      <vt:lpstr>Blocks</vt:lpstr>
      <vt:lpstr>Summary 1</vt:lpstr>
      <vt:lpstr>Summary 2</vt:lpstr>
      <vt:lpstr>Thank you!</vt:lpstr>
    </vt:vector>
  </TitlesOfParts>
  <Company>Yahoo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methods for computer science and software engineering</dc:title>
  <dc:creator>Yahoo</dc:creator>
  <cp:lastModifiedBy>문태섭</cp:lastModifiedBy>
  <cp:revision>2488</cp:revision>
  <cp:lastPrinted>2018-06-23T17:58:32Z</cp:lastPrinted>
  <dcterms:created xsi:type="dcterms:W3CDTF">2011-10-29T09:19:52Z</dcterms:created>
  <dcterms:modified xsi:type="dcterms:W3CDTF">2024-03-19T00:59:24Z</dcterms:modified>
</cp:coreProperties>
</file>